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Breakdown</c:v>
                </c:pt>
              </c:strCache>
            </c:strRef>
          </c:tx>
          <c:spPr>
            <a:solidFill>
              <a:schemeClr val="accent1"/>
            </a:solidFill>
            <a:ln w="9525" cap="flat">
              <a:solidFill>
                <a:srgbClr val="F9F9F9"/>
              </a:solidFill>
              <a:prstDash val="solid"/>
              <a:round/>
            </a:ln>
            <a:effectLst/>
          </c:spPr>
          <c:dPt>
            <c:idx val="0"/>
            <c:bubble3D val="0"/>
            <c:spPr>
              <a:solidFill>
                <a:srgbClr val="137A7F"/>
              </a:solidFill>
              <a:ln w="25400" cap="flat">
                <a:solidFill>
                  <a:srgbClr val="FFFFFF"/>
                </a:solidFill>
                <a:prstDash val="solid"/>
                <a:round/>
              </a:ln>
              <a:effectLst/>
            </c:spPr>
          </c:dPt>
          <c:dPt>
            <c:idx val="1"/>
            <c:bubble3D val="0"/>
            <c:spPr>
              <a:solidFill>
                <a:srgbClr val="D9982B"/>
              </a:solidFill>
              <a:ln w="25400" cap="flat">
                <a:solidFill>
                  <a:srgbClr val="FFFFFF"/>
                </a:solidFill>
                <a:prstDash val="solid"/>
                <a:round/>
              </a:ln>
              <a:effectLst/>
            </c:spPr>
          </c:dPt>
          <c:dPt>
            <c:idx val="2"/>
            <c:bubble3D val="0"/>
            <c:spPr>
              <a:solidFill>
                <a:srgbClr val="2E7BA6"/>
              </a:solidFill>
              <a:ln w="25400" cap="flat">
                <a:solidFill>
                  <a:srgbClr val="FFFFFF"/>
                </a:solidFill>
                <a:prstDash val="solid"/>
                <a:round/>
              </a:ln>
              <a:effectLst/>
            </c:spPr>
          </c:dPt>
          <c:dPt>
            <c:idx val="3"/>
            <c:bubble3D val="0"/>
            <c:spPr>
              <a:solidFill>
                <a:srgbClr val="9E3B4E"/>
              </a:solidFill>
              <a:ln w="25400" cap="flat">
                <a:solidFill>
                  <a:srgbClr val="FFFFFF"/>
                </a:solidFill>
                <a:prstDash val="solid"/>
                <a:round/>
              </a:ln>
              <a:effectLst/>
            </c:spPr>
          </c:dPt>
          <c:dLbls>
            <c:dLbl>
              <c:idx val="0"/>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dLbl>
              <c:idx val="1"/>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dLbl>
              <c:idx val="2"/>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dLbl>
              <c:idx val="3"/>
              <c:numFmt formatCode="0&quot;%&quot;" sourceLinked="0"/>
              <c:spPr/>
              <c:txPr>
                <a:bodyPr/>
                <a:lstStyle/>
                <a:p>
                  <a:pPr>
                    <a:defRPr sz="1300" b="1" i="0" u="none" strike="noStrike">
                      <a:solidFill>
                        <a:srgbClr val="FFFFFF"/>
                      </a:solidFill>
                      <a:latin typeface="Calibri"/>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Recitation</c:v>
                </c:pt>
                <c:pt idx="1">
                  <c:v>Revision</c:v>
                </c:pt>
                <c:pt idx="2">
                  <c:v>Reading / tajwîd</c:v>
                </c:pt>
                <c:pt idx="3">
                  <c:v>Islamic education</c:v>
                </c:pt>
              </c:strCache>
            </c:strRef>
          </c:cat>
          <c:val>
            <c:numRef>
              <c:f>Sheet1!$B$2:$B$5</c:f>
              <c:numCache>
                <c:ptCount val="4"/>
                <c:pt idx="0">
                  <c:v>40</c:v>
                </c:pt>
                <c:pt idx="1">
                  <c:v>30</c:v>
                </c:pt>
                <c:pt idx="2">
                  <c:v>20</c:v>
                </c:pt>
                <c:pt idx="3">
                  <c:v>10</c:v>
                </c:pt>
              </c:numCache>
            </c:numRef>
          </c:val>
        </c:ser>
        <c:firstSliceAng val="0"/>
        <c:holeSize val="5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monthly objectives (or one objective per surah for the beginner level)
Each objective is broken down into weekly deadlines
Each weekly objective corresponds to one box
If the recitation is correct, the teacher validates the box by writing the date in it
If the objective is not met, the box stays empty - the objective is carried over to the following week
If 2 consecutive objectives are missed, a meeting is arranged with the parents
Intermediate validations (monthly, bi-monthly and four-monthly)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student’s category is determined by the following criteria:
Reading proficiency
Degree of learning autonomy
Learning capacity by volume (minimum threshold: 1/8 hizb per week)
To belong to the “Advanced” category, all 3 criteria must be met.
To belong to the “Intermediate” category, the first 2 criteria must be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3C"/>
        </a:solidFill>
      </p:bgPr>
    </p:bg>
    <p:spTree>
      <p:nvGrpSpPr>
        <p:cNvPr id="1" name=""/>
        <p:cNvGrpSpPr/>
        <p:nvPr/>
      </p:nvGrpSpPr>
      <p:grpSpPr>
        <a:xfrm>
          <a:off x="0" y="0"/>
          <a:ext cx="0" cy="0"/>
          <a:chOff x="0" y="0"/>
          <a:chExt cx="0" cy="0"/>
        </a:xfrm>
      </p:grpSpPr>
      <p:sp>
        <p:nvSpPr>
          <p:cNvPr id="2" name="Text 0"/>
          <p:cNvSpPr/>
          <p:nvPr/>
        </p:nvSpPr>
        <p:spPr>
          <a:xfrm>
            <a:off x="1005840" y="1572768"/>
            <a:ext cx="10149840" cy="411480"/>
          </a:xfrm>
          <a:prstGeom prst="rect">
            <a:avLst/>
          </a:prstGeom>
          <a:noFill/>
          <a:ln/>
        </p:spPr>
        <p:txBody>
          <a:bodyPr wrap="square" lIns="0" tIns="0" rIns="0" bIns="0" rtlCol="0" anchor="ctr"/>
          <a:lstStyle/>
          <a:p>
            <a:pPr algn="ctr" indent="0" marL="0">
              <a:buNone/>
            </a:pPr>
            <a:r>
              <a:rPr lang="en-US" altLang="en-US" sz="1700" spc="200" kern="0" dirty="0">
                <a:solidFill>
                  <a:srgbClr val="9DC4C2"/>
                </a:solidFill>
                <a:latin typeface="Calibri" pitchFamily="34" charset="0"/>
                <a:ea typeface="Calibri" pitchFamily="34" charset="-122"/>
                <a:cs typeface="Calibri" pitchFamily="34" charset="-120"/>
              </a:rPr>
              <a:t>Bitaqat Hifd Qor’an</a:t>
            </a:r>
            <a:endParaRPr lang="en-US" sz="1700" dirty="0"/>
          </a:p>
        </p:txBody>
      </p:sp>
      <p:sp>
        <p:nvSpPr>
          <p:cNvPr id="3" name="Text 1"/>
          <p:cNvSpPr/>
          <p:nvPr/>
        </p:nvSpPr>
        <p:spPr>
          <a:xfrm>
            <a:off x="640080" y="2148840"/>
            <a:ext cx="10908792" cy="960120"/>
          </a:xfrm>
          <a:prstGeom prst="rect">
            <a:avLst/>
          </a:prstGeom>
          <a:noFill/>
          <a:ln/>
        </p:spPr>
        <p:txBody>
          <a:bodyPr wrap="square" lIns="0" tIns="0" rIns="0" bIns="0" rtlCol="0" anchor="ctr"/>
          <a:lstStyle/>
          <a:p>
            <a:pPr algn="ctr" indent="0" marL="0">
              <a:buNone/>
            </a:pPr>
            <a:r>
              <a:rPr lang="en-US" altLang="en-US" sz="4000" b="1" dirty="0">
                <a:solidFill>
                  <a:srgbClr val="FFFFFF"/>
                </a:solidFill>
                <a:latin typeface="Cambria" pitchFamily="34" charset="0"/>
                <a:ea typeface="Cambria" pitchFamily="34" charset="-122"/>
                <a:cs typeface="Cambria" pitchFamily="34" charset="-120"/>
              </a:rPr>
              <a:t>Learning the Qur’an, step by step</a:t>
            </a:r>
            <a:endParaRPr lang="en-US" sz="4000" dirty="0"/>
          </a:p>
        </p:txBody>
      </p:sp>
      <p:sp>
        <p:nvSpPr>
          <p:cNvPr id="4" name="Text 2"/>
          <p:cNvSpPr/>
          <p:nvPr/>
        </p:nvSpPr>
        <p:spPr>
          <a:xfrm>
            <a:off x="1005840" y="3310128"/>
            <a:ext cx="10149840" cy="457200"/>
          </a:xfrm>
          <a:prstGeom prst="rect">
            <a:avLst/>
          </a:prstGeom>
          <a:noFill/>
          <a:ln/>
        </p:spPr>
        <p:txBody>
          <a:bodyPr wrap="square" lIns="0" tIns="0" rIns="0" bIns="0" rtlCol="0" anchor="ctr"/>
          <a:lstStyle/>
          <a:p>
            <a:pPr algn="ctr" indent="0" marL="0">
              <a:buNone/>
            </a:pPr>
            <a:r>
              <a:rPr lang="en-US" altLang="en-US" sz="2000" b="1" dirty="0">
                <a:solidFill>
                  <a:srgbClr val="D9982B"/>
                </a:solidFill>
                <a:latin typeface="Calibri" pitchFamily="34" charset="0"/>
                <a:ea typeface="Calibri" pitchFamily="34" charset="-122"/>
                <a:cs typeface="Calibri" pitchFamily="34" charset="-120"/>
              </a:rPr>
              <a:t>The recitation card system</a:t>
            </a:r>
            <a:endParaRPr lang="en-US" sz="2000" dirty="0"/>
          </a:p>
        </p:txBody>
      </p:sp>
      <p:sp>
        <p:nvSpPr>
          <p:cNvPr id="5" name="Shape 3"/>
          <p:cNvSpPr/>
          <p:nvPr/>
        </p:nvSpPr>
        <p:spPr>
          <a:xfrm>
            <a:off x="4212184" y="4754880"/>
            <a:ext cx="384048" cy="384048"/>
          </a:xfrm>
          <a:prstGeom prst="ellipse">
            <a:avLst/>
          </a:prstGeom>
          <a:solidFill>
            <a:srgbClr val="3F4A4A"/>
          </a:solidFill>
          <a:ln w="12700">
            <a:solidFill>
              <a:srgbClr val="3F4A4A"/>
            </a:solidFill>
            <a:prstDash val="solid"/>
          </a:ln>
        </p:spPr>
      </p:sp>
      <p:sp>
        <p:nvSpPr>
          <p:cNvPr id="6" name="Text 4"/>
          <p:cNvSpPr/>
          <p:nvPr/>
        </p:nvSpPr>
        <p:spPr>
          <a:xfrm>
            <a:off x="4212184"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Shape 5"/>
          <p:cNvSpPr/>
          <p:nvPr/>
        </p:nvSpPr>
        <p:spPr>
          <a:xfrm>
            <a:off x="4888840" y="4754880"/>
            <a:ext cx="384048" cy="384048"/>
          </a:xfrm>
          <a:prstGeom prst="ellipse">
            <a:avLst/>
          </a:prstGeom>
          <a:solidFill>
            <a:srgbClr val="E8B62C"/>
          </a:solidFill>
          <a:ln w="12700">
            <a:solidFill>
              <a:srgbClr val="E8B62C"/>
            </a:solidFill>
            <a:prstDash val="solid"/>
          </a:ln>
        </p:spPr>
      </p:sp>
      <p:sp>
        <p:nvSpPr>
          <p:cNvPr id="8" name="Text 6"/>
          <p:cNvSpPr/>
          <p:nvPr/>
        </p:nvSpPr>
        <p:spPr>
          <a:xfrm>
            <a:off x="4888840" y="4754880"/>
            <a:ext cx="384048" cy="384048"/>
          </a:xfrm>
          <a:prstGeom prst="rect">
            <a:avLst/>
          </a:prstGeom>
          <a:noFill/>
          <a:ln/>
        </p:spPr>
        <p:txBody>
          <a:bodyPr wrap="square" lIns="0" tIns="0" rIns="0" bIns="0" rtlCol="0" anchor="ctr"/>
          <a:lstStyle/>
          <a:p>
            <a:pPr algn="ctr" indent="0" marL="0">
              <a:buNone/>
            </a:pPr>
            <a:r>
              <a:rPr lang="en-US" sz="1100" b="1" dirty="0">
                <a:solidFill>
                  <a:srgbClr val="0B3B3C"/>
                </a:solidFill>
                <a:latin typeface="Calibri" pitchFamily="34" charset="0"/>
                <a:ea typeface="Calibri" pitchFamily="34" charset="-122"/>
                <a:cs typeface="Calibri" pitchFamily="34" charset="-120"/>
              </a:rPr>
              <a:t>2</a:t>
            </a:r>
            <a:endParaRPr lang="en-US" sz="1100" dirty="0"/>
          </a:p>
        </p:txBody>
      </p:sp>
      <p:sp>
        <p:nvSpPr>
          <p:cNvPr id="9" name="Shape 7"/>
          <p:cNvSpPr/>
          <p:nvPr/>
        </p:nvSpPr>
        <p:spPr>
          <a:xfrm>
            <a:off x="5565496" y="4754880"/>
            <a:ext cx="384048" cy="384048"/>
          </a:xfrm>
          <a:prstGeom prst="ellipse">
            <a:avLst/>
          </a:prstGeom>
          <a:solidFill>
            <a:srgbClr val="E07E38"/>
          </a:solidFill>
          <a:ln w="12700">
            <a:solidFill>
              <a:srgbClr val="E07E38"/>
            </a:solidFill>
            <a:prstDash val="solid"/>
          </a:ln>
        </p:spPr>
      </p:sp>
      <p:sp>
        <p:nvSpPr>
          <p:cNvPr id="10" name="Text 8"/>
          <p:cNvSpPr/>
          <p:nvPr/>
        </p:nvSpPr>
        <p:spPr>
          <a:xfrm>
            <a:off x="5565496"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1" name="Shape 9"/>
          <p:cNvSpPr/>
          <p:nvPr/>
        </p:nvSpPr>
        <p:spPr>
          <a:xfrm>
            <a:off x="6242152" y="4754880"/>
            <a:ext cx="384048" cy="384048"/>
          </a:xfrm>
          <a:prstGeom prst="ellipse">
            <a:avLst/>
          </a:prstGeom>
          <a:solidFill>
            <a:srgbClr val="6FA25A"/>
          </a:solidFill>
          <a:ln w="12700">
            <a:solidFill>
              <a:srgbClr val="6FA25A"/>
            </a:solidFill>
            <a:prstDash val="solid"/>
          </a:ln>
        </p:spPr>
      </p:sp>
      <p:sp>
        <p:nvSpPr>
          <p:cNvPr id="12" name="Text 10"/>
          <p:cNvSpPr/>
          <p:nvPr/>
        </p:nvSpPr>
        <p:spPr>
          <a:xfrm>
            <a:off x="6242152"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3" name="Shape 11"/>
          <p:cNvSpPr/>
          <p:nvPr/>
        </p:nvSpPr>
        <p:spPr>
          <a:xfrm>
            <a:off x="6918808" y="4754880"/>
            <a:ext cx="384048" cy="384048"/>
          </a:xfrm>
          <a:prstGeom prst="ellipse">
            <a:avLst/>
          </a:prstGeom>
          <a:solidFill>
            <a:srgbClr val="3E85BE"/>
          </a:solidFill>
          <a:ln w="12700">
            <a:solidFill>
              <a:srgbClr val="3E85BE"/>
            </a:solidFill>
            <a:prstDash val="solid"/>
          </a:ln>
        </p:spPr>
      </p:sp>
      <p:sp>
        <p:nvSpPr>
          <p:cNvPr id="14" name="Text 12"/>
          <p:cNvSpPr/>
          <p:nvPr/>
        </p:nvSpPr>
        <p:spPr>
          <a:xfrm>
            <a:off x="6918808"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5" name="Shape 13"/>
          <p:cNvSpPr/>
          <p:nvPr/>
        </p:nvSpPr>
        <p:spPr>
          <a:xfrm>
            <a:off x="7595464" y="4754880"/>
            <a:ext cx="384048" cy="384048"/>
          </a:xfrm>
          <a:prstGeom prst="ellipse">
            <a:avLst/>
          </a:prstGeom>
          <a:solidFill>
            <a:srgbClr val="B5485C"/>
          </a:solidFill>
          <a:ln w="12700">
            <a:solidFill>
              <a:srgbClr val="B5485C"/>
            </a:solidFill>
            <a:prstDash val="solid"/>
          </a:ln>
        </p:spPr>
      </p:sp>
      <p:sp>
        <p:nvSpPr>
          <p:cNvPr id="16" name="Text 14"/>
          <p:cNvSpPr/>
          <p:nvPr/>
        </p:nvSpPr>
        <p:spPr>
          <a:xfrm>
            <a:off x="7595464"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7" name="Text 15"/>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8" name="Text 1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Methodology</a:t>
            </a:r>
            <a:endParaRPr lang="en-US" sz="3200" dirty="0"/>
          </a:p>
        </p:txBody>
      </p:sp>
      <p:sp>
        <p:nvSpPr>
          <p:cNvPr id="3" name="Shape 1"/>
          <p:cNvSpPr/>
          <p:nvPr/>
        </p:nvSpPr>
        <p:spPr>
          <a:xfrm>
            <a:off x="636880" y="1691640"/>
            <a:ext cx="3383280" cy="3246120"/>
          </a:xfrm>
          <a:prstGeom prst="roundRect">
            <a:avLst>
              <a:gd name="adj" fmla="val 3380"/>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4" name="Shape 2"/>
          <p:cNvSpPr/>
          <p:nvPr/>
        </p:nvSpPr>
        <p:spPr>
          <a:xfrm>
            <a:off x="929488" y="1993392"/>
            <a:ext cx="566928" cy="566928"/>
          </a:xfrm>
          <a:prstGeom prst="ellipse">
            <a:avLst/>
          </a:prstGeom>
          <a:solidFill>
            <a:srgbClr val="137A7F"/>
          </a:solidFill>
          <a:ln w="12700">
            <a:solidFill>
              <a:srgbClr val="137A7F"/>
            </a:solidFill>
            <a:prstDash val="solid"/>
          </a:ln>
        </p:spPr>
      </p:sp>
      <p:sp>
        <p:nvSpPr>
          <p:cNvPr id="5" name="Text 3"/>
          <p:cNvSpPr/>
          <p:nvPr/>
        </p:nvSpPr>
        <p:spPr>
          <a:xfrm>
            <a:off x="929488" y="19933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929488" y="2761488"/>
            <a:ext cx="2798064" cy="868680"/>
          </a:xfrm>
          <a:prstGeom prst="rect">
            <a:avLst/>
          </a:prstGeom>
          <a:noFill/>
          <a:ln/>
        </p:spPr>
        <p:txBody>
          <a:bodyPr wrap="square" lIns="0" tIns="0" rIns="0" bIns="0" rtlCol="0" anchor="t"/>
          <a:lstStyle/>
          <a:p>
            <a:pPr algn="l" indent="0" marL="0">
              <a:buNone/>
            </a:pPr>
            <a:r>
              <a:rPr lang="en-US" altLang="en-US" sz="1900" b="1" dirty="0">
                <a:solidFill>
                  <a:srgbClr val="0B3B3C"/>
                </a:solidFill>
                <a:latin typeface="Cambria" pitchFamily="34" charset="0"/>
                <a:ea typeface="Cambria" pitchFamily="34" charset="-122"/>
                <a:cs typeface="Cambria" pitchFamily="34" charset="-120"/>
              </a:rPr>
              <a:t>Objective-based teaching</a:t>
            </a:r>
            <a:endParaRPr lang="en-US" sz="1900" dirty="0"/>
          </a:p>
        </p:txBody>
      </p:sp>
      <p:sp>
        <p:nvSpPr>
          <p:cNvPr id="7" name="Text 5"/>
          <p:cNvSpPr/>
          <p:nvPr/>
        </p:nvSpPr>
        <p:spPr>
          <a:xfrm>
            <a:off x="929488" y="3657600"/>
            <a:ext cx="2798064" cy="1463040"/>
          </a:xfrm>
          <a:prstGeom prst="rect">
            <a:avLst/>
          </a:prstGeom>
          <a:noFill/>
          <a:ln/>
        </p:spPr>
        <p:txBody>
          <a:bodyPr wrap="square" lIns="0" tIns="0" rIns="0" bIns="0" rtlCol="0" anchor="t"/>
          <a:lstStyle/>
          <a:p>
            <a:pPr algn="l" marL="342900" indent="-342900">
              <a:spcAft>
                <a:spcPts val="800"/>
              </a:spcAft>
              <a:buSzPct val="100000"/>
              <a:buChar char="▪"/>
            </a:pPr>
            <a:r>
              <a:rPr lang="en-US" altLang="en-US" sz="1400" dirty="0">
                <a:solidFill>
                  <a:srgbClr val="24403F"/>
                </a:solidFill>
                <a:latin typeface="Calibri" pitchFamily="34" charset="0"/>
                <a:ea typeface="Calibri" pitchFamily="34" charset="-122"/>
                <a:cs typeface="Calibri" pitchFamily="34" charset="-120"/>
              </a:rPr>
              <a:t>Individualised learning programme</a:t>
            </a:r>
            <a:endParaRPr lang="en-US" sz="1400" dirty="0"/>
          </a:p>
          <a:p>
            <a:pPr algn="l" marL="342900" indent="-342900">
              <a:spcAft>
                <a:spcPts val="800"/>
              </a:spcAft>
              <a:buSzPct val="100000"/>
              <a:buChar char="▪"/>
            </a:pPr>
            <a:r>
              <a:rPr lang="en-US" altLang="en-US" sz="1400" dirty="0">
                <a:solidFill>
                  <a:srgbClr val="24403F"/>
                </a:solidFill>
                <a:latin typeface="Calibri" pitchFamily="34" charset="0"/>
                <a:ea typeface="Calibri" pitchFamily="34" charset="-122"/>
                <a:cs typeface="Calibri" pitchFamily="34" charset="-120"/>
              </a:rPr>
              <a:t>Personalised monitoring</a:t>
            </a:r>
            <a:endParaRPr lang="en-US" sz="1400" dirty="0"/>
          </a:p>
        </p:txBody>
      </p:sp>
      <p:sp>
        <p:nvSpPr>
          <p:cNvPr id="8" name="Shape 6"/>
          <p:cNvSpPr/>
          <p:nvPr/>
        </p:nvSpPr>
        <p:spPr>
          <a:xfrm>
            <a:off x="4404208" y="1691640"/>
            <a:ext cx="3383280" cy="3246120"/>
          </a:xfrm>
          <a:prstGeom prst="roundRect">
            <a:avLst>
              <a:gd name="adj" fmla="val 3380"/>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4696816" y="1993392"/>
            <a:ext cx="566928" cy="566928"/>
          </a:xfrm>
          <a:prstGeom prst="ellipse">
            <a:avLst/>
          </a:prstGeom>
          <a:solidFill>
            <a:srgbClr val="D9982B"/>
          </a:solidFill>
          <a:ln w="12700">
            <a:solidFill>
              <a:srgbClr val="D9982B"/>
            </a:solidFill>
            <a:prstDash val="solid"/>
          </a:ln>
        </p:spPr>
      </p:sp>
      <p:sp>
        <p:nvSpPr>
          <p:cNvPr id="10" name="Text 8"/>
          <p:cNvSpPr/>
          <p:nvPr/>
        </p:nvSpPr>
        <p:spPr>
          <a:xfrm>
            <a:off x="4696816" y="19933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4696816" y="2761488"/>
            <a:ext cx="2798064" cy="868680"/>
          </a:xfrm>
          <a:prstGeom prst="rect">
            <a:avLst/>
          </a:prstGeom>
          <a:noFill/>
          <a:ln/>
        </p:spPr>
        <p:txBody>
          <a:bodyPr wrap="square" lIns="0" tIns="0" rIns="0" bIns="0" rtlCol="0" anchor="t"/>
          <a:lstStyle/>
          <a:p>
            <a:pPr algn="l" indent="0" marL="0">
              <a:buNone/>
            </a:pPr>
            <a:r>
              <a:rPr lang="en-US" altLang="en-US" sz="1900" b="1" dirty="0">
                <a:solidFill>
                  <a:srgbClr val="0B3B3C"/>
                </a:solidFill>
                <a:latin typeface="Cambria" pitchFamily="34" charset="0"/>
                <a:ea typeface="Cambria" pitchFamily="34" charset="-122"/>
                <a:cs typeface="Cambria" pitchFamily="34" charset="-120"/>
              </a:rPr>
              <a:t>Stakeholders and allocation of roles</a:t>
            </a:r>
            <a:endParaRPr lang="en-US" sz="1900" dirty="0"/>
          </a:p>
        </p:txBody>
      </p:sp>
      <p:sp>
        <p:nvSpPr>
          <p:cNvPr id="12" name="Shape 10"/>
          <p:cNvSpPr/>
          <p:nvPr/>
        </p:nvSpPr>
        <p:spPr>
          <a:xfrm>
            <a:off x="8171536" y="1691640"/>
            <a:ext cx="3383280" cy="3246120"/>
          </a:xfrm>
          <a:prstGeom prst="roundRect">
            <a:avLst>
              <a:gd name="adj" fmla="val 3380"/>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8464144" y="1993392"/>
            <a:ext cx="566928" cy="566928"/>
          </a:xfrm>
          <a:prstGeom prst="ellipse">
            <a:avLst/>
          </a:prstGeom>
          <a:solidFill>
            <a:srgbClr val="9E3B4E"/>
          </a:solidFill>
          <a:ln w="12700">
            <a:solidFill>
              <a:srgbClr val="9E3B4E"/>
            </a:solidFill>
            <a:prstDash val="solid"/>
          </a:ln>
        </p:spPr>
      </p:sp>
      <p:sp>
        <p:nvSpPr>
          <p:cNvPr id="14" name="Text 12"/>
          <p:cNvSpPr/>
          <p:nvPr/>
        </p:nvSpPr>
        <p:spPr>
          <a:xfrm>
            <a:off x="8464144" y="19933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8464144" y="2761488"/>
            <a:ext cx="2798064" cy="868680"/>
          </a:xfrm>
          <a:prstGeom prst="rect">
            <a:avLst/>
          </a:prstGeom>
          <a:noFill/>
          <a:ln/>
        </p:spPr>
        <p:txBody>
          <a:bodyPr wrap="square" lIns="0" tIns="0" rIns="0" bIns="0" rtlCol="0" anchor="t"/>
          <a:lstStyle/>
          <a:p>
            <a:pPr algn="l" indent="0" marL="0">
              <a:buNone/>
            </a:pPr>
            <a:r>
              <a:rPr lang="en-US" altLang="en-US" sz="1900" b="1" dirty="0">
                <a:solidFill>
                  <a:srgbClr val="0B3B3C"/>
                </a:solidFill>
                <a:latin typeface="Cambria" pitchFamily="34" charset="0"/>
                <a:ea typeface="Cambria" pitchFamily="34" charset="-122"/>
                <a:cs typeface="Cambria" pitchFamily="34" charset="-120"/>
              </a:rPr>
              <a:t>Requirements</a:t>
            </a:r>
            <a:endParaRPr lang="en-US" sz="1900" dirty="0"/>
          </a:p>
        </p:txBody>
      </p:sp>
      <p:sp>
        <p:nvSpPr>
          <p:cNvPr id="16" name="Text 14"/>
          <p:cNvSpPr/>
          <p:nvPr/>
        </p:nvSpPr>
        <p:spPr>
          <a:xfrm>
            <a:off x="8464144" y="3657600"/>
            <a:ext cx="2798064" cy="1463040"/>
          </a:xfrm>
          <a:prstGeom prst="rect">
            <a:avLst/>
          </a:prstGeom>
          <a:noFill/>
          <a:ln/>
        </p:spPr>
        <p:txBody>
          <a:bodyPr wrap="square" lIns="0" tIns="0" rIns="0" bIns="0" rtlCol="0" anchor="t"/>
          <a:lstStyle/>
          <a:p>
            <a:pPr algn="l" marL="342900" indent="-342900">
              <a:spcAft>
                <a:spcPts val="800"/>
              </a:spcAft>
              <a:buSzPct val="100000"/>
              <a:buChar char="▪"/>
            </a:pPr>
            <a:r>
              <a:rPr lang="en-US" altLang="en-US" sz="1400" dirty="0">
                <a:solidFill>
                  <a:srgbClr val="24403F"/>
                </a:solidFill>
                <a:latin typeface="Calibri" pitchFamily="34" charset="0"/>
                <a:ea typeface="Calibri" pitchFamily="34" charset="-122"/>
                <a:cs typeface="Calibri" pitchFamily="34" charset="-120"/>
              </a:rPr>
              <a:t>Strong involvement from parents</a:t>
            </a:r>
            <a:endParaRPr lang="en-US" sz="1400" dirty="0"/>
          </a:p>
          <a:p>
            <a:pPr algn="l" marL="342900" indent="-342900">
              <a:spcAft>
                <a:spcPts val="800"/>
              </a:spcAft>
              <a:buSzPct val="100000"/>
              <a:buChar char="▪"/>
            </a:pPr>
            <a:r>
              <a:rPr lang="en-US" altLang="en-US" sz="1400" dirty="0">
                <a:solidFill>
                  <a:srgbClr val="24403F"/>
                </a:solidFill>
                <a:latin typeface="Calibri" pitchFamily="34" charset="0"/>
                <a:ea typeface="Calibri" pitchFamily="34" charset="-122"/>
                <a:cs typeface="Calibri" pitchFamily="34" charset="-120"/>
              </a:rPr>
              <a:t>Learning at home / recitation in class</a:t>
            </a:r>
            <a:endParaRPr lang="en-US" sz="1400" dirty="0"/>
          </a:p>
        </p:txBody>
      </p:sp>
      <p:sp>
        <p:nvSpPr>
          <p:cNvPr id="17" name="Text 15"/>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8" name="Text 1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Methodology</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137A7F"/>
                </a:solidFill>
                <a:latin typeface="Calibri" pitchFamily="34" charset="0"/>
                <a:ea typeface="Calibri" pitchFamily="34" charset="-122"/>
                <a:cs typeface="Calibri" pitchFamily="34" charset="-120"/>
              </a:rPr>
              <a:t>(continued)</a:t>
            </a:r>
            <a:endParaRPr lang="en-US" sz="1500" dirty="0"/>
          </a:p>
        </p:txBody>
      </p:sp>
      <p:sp>
        <p:nvSpPr>
          <p:cNvPr id="4" name="Shape 2"/>
          <p:cNvSpPr/>
          <p:nvPr/>
        </p:nvSpPr>
        <p:spPr>
          <a:xfrm>
            <a:off x="691744" y="1783080"/>
            <a:ext cx="5120640" cy="2331720"/>
          </a:xfrm>
          <a:prstGeom prst="roundRect">
            <a:avLst>
              <a:gd name="adj" fmla="val 4706"/>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1075792" y="2121408"/>
            <a:ext cx="256032" cy="256032"/>
          </a:xfrm>
          <a:prstGeom prst="ellipse">
            <a:avLst/>
          </a:prstGeom>
          <a:solidFill>
            <a:srgbClr val="137A7F"/>
          </a:solidFill>
          <a:ln w="12700">
            <a:solidFill>
              <a:srgbClr val="137A7F"/>
            </a:solidFill>
            <a:prstDash val="solid"/>
          </a:ln>
        </p:spPr>
      </p:sp>
      <p:sp>
        <p:nvSpPr>
          <p:cNvPr id="6" name="Text 4"/>
          <p:cNvSpPr/>
          <p:nvPr/>
        </p:nvSpPr>
        <p:spPr>
          <a:xfrm>
            <a:off x="1496416" y="2011680"/>
            <a:ext cx="3931920" cy="475488"/>
          </a:xfrm>
          <a:prstGeom prst="rect">
            <a:avLst/>
          </a:prstGeom>
          <a:noFill/>
          <a:ln/>
        </p:spPr>
        <p:txBody>
          <a:bodyPr wrap="square" lIns="0" tIns="0" rIns="0" bIns="0" rtlCol="0" anchor="ctr"/>
          <a:lstStyle/>
          <a:p>
            <a:pPr algn="l" indent="0" marL="0">
              <a:buNone/>
            </a:pPr>
            <a:r>
              <a:rPr lang="en-US" altLang="en-US" sz="2200" b="1" dirty="0">
                <a:solidFill>
                  <a:srgbClr val="0B3B3C"/>
                </a:solidFill>
                <a:latin typeface="Cambria" pitchFamily="34" charset="0"/>
                <a:ea typeface="Cambria" pitchFamily="34" charset="-122"/>
                <a:cs typeface="Cambria" pitchFamily="34" charset="-120"/>
              </a:rPr>
              <a:t>Stated objectives</a:t>
            </a:r>
            <a:endParaRPr lang="en-US" sz="2200" dirty="0"/>
          </a:p>
        </p:txBody>
      </p:sp>
      <p:sp>
        <p:nvSpPr>
          <p:cNvPr id="7" name="Text 5"/>
          <p:cNvSpPr/>
          <p:nvPr/>
        </p:nvSpPr>
        <p:spPr>
          <a:xfrm>
            <a:off x="1496416" y="2761488"/>
            <a:ext cx="3931920" cy="1280160"/>
          </a:xfrm>
          <a:prstGeom prst="rect">
            <a:avLst/>
          </a:prstGeom>
          <a:noFill/>
          <a:ln/>
        </p:spPr>
        <p:txBody>
          <a:bodyPr wrap="square" lIns="0" tIns="0" rIns="0" bIns="0" rtlCol="0" anchor="t"/>
          <a:lstStyle/>
          <a:p>
            <a:pPr algn="l" marL="342900" indent="-342900">
              <a:spcAft>
                <a:spcPts val="1400"/>
              </a:spcAft>
              <a:buSzPct val="100000"/>
              <a:buChar char="▪"/>
            </a:pPr>
            <a:r>
              <a:rPr lang="en-US" altLang="en-US" sz="1600" dirty="0">
                <a:solidFill>
                  <a:srgbClr val="24403F"/>
                </a:solidFill>
                <a:latin typeface="Calibri" pitchFamily="34" charset="0"/>
                <a:ea typeface="Calibri" pitchFamily="34" charset="-122"/>
                <a:cs typeface="Calibri" pitchFamily="34" charset="-120"/>
              </a:rPr>
              <a:t>Setting up a Qur’an learning pathway</a:t>
            </a:r>
            <a:endParaRPr lang="en-US" sz="1600" dirty="0"/>
          </a:p>
          <a:p>
            <a:pPr algn="l" marL="342900" indent="-342900">
              <a:spcAft>
                <a:spcPts val="1400"/>
              </a:spcAft>
              <a:buSzPct val="100000"/>
              <a:buChar char="▪"/>
            </a:pPr>
            <a:r>
              <a:rPr lang="en-US" altLang="en-US" sz="1600" dirty="0">
                <a:solidFill>
                  <a:srgbClr val="24403F"/>
                </a:solidFill>
                <a:latin typeface="Calibri" pitchFamily="34" charset="0"/>
                <a:ea typeface="Calibri" pitchFamily="34" charset="-122"/>
                <a:cs typeface="Calibri" pitchFamily="34" charset="-120"/>
              </a:rPr>
              <a:t>Learn ¼ of the Qur’an in 6 years (“Sabbih”  “Yâsîn”)</a:t>
            </a:r>
            <a:endParaRPr lang="en-US" sz="1600" dirty="0"/>
          </a:p>
        </p:txBody>
      </p:sp>
      <p:sp>
        <p:nvSpPr>
          <p:cNvPr id="8" name="Shape 6"/>
          <p:cNvSpPr/>
          <p:nvPr/>
        </p:nvSpPr>
        <p:spPr>
          <a:xfrm>
            <a:off x="6379312" y="1783080"/>
            <a:ext cx="5120640" cy="2331720"/>
          </a:xfrm>
          <a:prstGeom prst="roundRect">
            <a:avLst>
              <a:gd name="adj" fmla="val 4706"/>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6763360" y="2121408"/>
            <a:ext cx="256032" cy="256032"/>
          </a:xfrm>
          <a:prstGeom prst="ellipse">
            <a:avLst/>
          </a:prstGeom>
          <a:solidFill>
            <a:srgbClr val="D9982B"/>
          </a:solidFill>
          <a:ln w="12700">
            <a:solidFill>
              <a:srgbClr val="D9982B"/>
            </a:solidFill>
            <a:prstDash val="solid"/>
          </a:ln>
        </p:spPr>
      </p:sp>
      <p:sp>
        <p:nvSpPr>
          <p:cNvPr id="10" name="Text 8"/>
          <p:cNvSpPr/>
          <p:nvPr/>
        </p:nvSpPr>
        <p:spPr>
          <a:xfrm>
            <a:off x="7183984" y="2011680"/>
            <a:ext cx="3931920" cy="475488"/>
          </a:xfrm>
          <a:prstGeom prst="rect">
            <a:avLst/>
          </a:prstGeom>
          <a:noFill/>
          <a:ln/>
        </p:spPr>
        <p:txBody>
          <a:bodyPr wrap="square" lIns="0" tIns="0" rIns="0" bIns="0" rtlCol="0" anchor="ctr"/>
          <a:lstStyle/>
          <a:p>
            <a:pPr algn="l" indent="0" marL="0">
              <a:buNone/>
            </a:pPr>
            <a:r>
              <a:rPr lang="en-US" altLang="en-US" sz="2200" b="1" dirty="0">
                <a:solidFill>
                  <a:srgbClr val="0B3B3C"/>
                </a:solidFill>
                <a:latin typeface="Cambria" pitchFamily="34" charset="0"/>
                <a:ea typeface="Cambria" pitchFamily="34" charset="-122"/>
                <a:cs typeface="Cambria" pitchFamily="34" charset="-120"/>
              </a:rPr>
              <a:t>Materials</a:t>
            </a:r>
            <a:endParaRPr lang="en-US" sz="2200" dirty="0"/>
          </a:p>
        </p:txBody>
      </p:sp>
      <p:sp>
        <p:nvSpPr>
          <p:cNvPr id="11" name="Text 9"/>
          <p:cNvSpPr/>
          <p:nvPr/>
        </p:nvSpPr>
        <p:spPr>
          <a:xfrm>
            <a:off x="7183984" y="2761488"/>
            <a:ext cx="3931920" cy="1280160"/>
          </a:xfrm>
          <a:prstGeom prst="rect">
            <a:avLst/>
          </a:prstGeom>
          <a:noFill/>
          <a:ln/>
        </p:spPr>
        <p:txBody>
          <a:bodyPr wrap="square" lIns="0" tIns="0" rIns="0" bIns="0" rtlCol="0" anchor="t"/>
          <a:lstStyle/>
          <a:p>
            <a:pPr algn="l" marL="342900" indent="-342900">
              <a:spcAft>
                <a:spcPts val="1400"/>
              </a:spcAft>
              <a:buSzPct val="100000"/>
              <a:buChar char="▪"/>
            </a:pPr>
            <a:r>
              <a:rPr lang="en-US" altLang="en-US" sz="1600" dirty="0">
                <a:solidFill>
                  <a:srgbClr val="24403F"/>
                </a:solidFill>
                <a:latin typeface="Calibri" pitchFamily="34" charset="0"/>
                <a:ea typeface="Calibri" pitchFamily="34" charset="-122"/>
                <a:cs typeface="Calibri" pitchFamily="34" charset="-120"/>
              </a:rPr>
              <a:t>Course materials (Qur’an, photocopies, display folders)</a:t>
            </a:r>
            <a:endParaRPr lang="en-US" sz="1600" dirty="0"/>
          </a:p>
          <a:p>
            <a:pPr algn="l" marL="342900" indent="-342900">
              <a:spcAft>
                <a:spcPts val="1400"/>
              </a:spcAft>
              <a:buSzPct val="100000"/>
              <a:buChar char="▪"/>
            </a:pPr>
            <a:r>
              <a:rPr lang="en-US" altLang="en-US" sz="1600" dirty="0">
                <a:solidFill>
                  <a:srgbClr val="24403F"/>
                </a:solidFill>
                <a:latin typeface="Calibri" pitchFamily="34" charset="0"/>
                <a:ea typeface="Calibri" pitchFamily="34" charset="-122"/>
                <a:cs typeface="Calibri" pitchFamily="34" charset="-120"/>
              </a:rPr>
              <a:t>Card system</a:t>
            </a:r>
            <a:endParaRPr lang="en-US" sz="1600" dirty="0"/>
          </a:p>
        </p:txBody>
      </p:sp>
      <p:sp>
        <p:nvSpPr>
          <p:cNvPr id="12" name="Text 10"/>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3" name="Text 11"/>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Recitation card</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137A7F"/>
                </a:solidFill>
                <a:latin typeface="Calibri" pitchFamily="34" charset="0"/>
                <a:ea typeface="Calibri" pitchFamily="34" charset="-122"/>
                <a:cs typeface="Calibri" pitchFamily="34" charset="-120"/>
              </a:rPr>
              <a:t>Principle and operation</a:t>
            </a:r>
            <a:endParaRPr lang="en-US" sz="1500" dirty="0"/>
          </a:p>
        </p:txBody>
      </p:sp>
      <p:sp>
        <p:nvSpPr>
          <p:cNvPr id="4" name="Shape 2"/>
          <p:cNvSpPr/>
          <p:nvPr/>
        </p:nvSpPr>
        <p:spPr>
          <a:xfrm>
            <a:off x="566928" y="1627632"/>
            <a:ext cx="6263640" cy="3639312"/>
          </a:xfrm>
          <a:prstGeom prst="roundRect">
            <a:avLst>
              <a:gd name="adj" fmla="val 3015"/>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Text 3"/>
          <p:cNvSpPr/>
          <p:nvPr/>
        </p:nvSpPr>
        <p:spPr>
          <a:xfrm>
            <a:off x="932688" y="1938528"/>
            <a:ext cx="5532120" cy="3108960"/>
          </a:xfrm>
          <a:prstGeom prst="rect">
            <a:avLst/>
          </a:prstGeom>
          <a:noFill/>
          <a:ln/>
        </p:spPr>
        <p:txBody>
          <a:bodyPr wrap="square" lIns="0" tIns="0" rIns="0" bIns="0" rtlCol="0" anchor="t"/>
          <a:lstStyle/>
          <a:p>
            <a:pPr algn="l" marL="342900" indent="-342900">
              <a:spcAft>
                <a:spcPts val="700"/>
              </a:spcAft>
              <a:buSzPct val="100000"/>
              <a:buChar char="●"/>
            </a:pPr>
            <a:r>
              <a:rPr lang="en-US" altLang="en-US" sz="1500" b="1" dirty="0">
                <a:solidFill>
                  <a:srgbClr val="0B3B3C"/>
                </a:solidFill>
                <a:latin typeface="Calibri" pitchFamily="34" charset="0"/>
                <a:ea typeface="Calibri" pitchFamily="34" charset="-122"/>
                <a:cs typeface="Calibri" pitchFamily="34" charset="-120"/>
              </a:rPr>
              <a:t>Individual card kept by the student</a:t>
            </a:r>
            <a:endParaRPr lang="en-US" sz="1500" dirty="0"/>
          </a:p>
          <a:p>
            <a:pPr algn="l" lvl="1" marL="685800" indent="-342900">
              <a:spcAft>
                <a:spcPts val="300"/>
              </a:spcAft>
              <a:buSzPct val="100000"/>
              <a:buChar char="▪"/>
            </a:pPr>
            <a:r>
              <a:rPr lang="en-US" altLang="en-US" sz="1300" dirty="0">
                <a:solidFill>
                  <a:srgbClr val="24403F"/>
                </a:solidFill>
                <a:latin typeface="Calibri" pitchFamily="34" charset="0"/>
                <a:ea typeface="Calibri" pitchFamily="34" charset="-122"/>
                <a:cs typeface="Calibri" pitchFamily="34" charset="-120"/>
              </a:rPr>
              <a:t>Student details and rules of use</a:t>
            </a:r>
            <a:endParaRPr lang="en-US" sz="1500" dirty="0"/>
          </a:p>
          <a:p>
            <a:pPr algn="l" lvl="1" marL="685800" indent="-342900">
              <a:spcAft>
                <a:spcPts val="300"/>
              </a:spcAft>
              <a:buSzPct val="100000"/>
              <a:buChar char="▪"/>
            </a:pPr>
            <a:r>
              <a:rPr lang="en-US" altLang="en-US" sz="1300" dirty="0">
                <a:solidFill>
                  <a:srgbClr val="24403F"/>
                </a:solidFill>
                <a:latin typeface="Calibri" pitchFamily="34" charset="0"/>
                <a:ea typeface="Calibri" pitchFamily="34" charset="-122"/>
                <a:cs typeface="Calibri" pitchFamily="34" charset="-120"/>
              </a:rPr>
              <a:t>Learning schedule with annual, medium- and short-term objectives</a:t>
            </a:r>
            <a:endParaRPr lang="en-US" sz="1500" dirty="0"/>
          </a:p>
          <a:p>
            <a:pPr algn="l" marL="342900" indent="-342900">
              <a:spcBef>
                <a:spcPts val="500"/>
              </a:spcBef>
              <a:spcAft>
                <a:spcPts val="700"/>
              </a:spcAft>
              <a:buSzPct val="100000"/>
              <a:buChar char="●"/>
            </a:pPr>
            <a:r>
              <a:rPr lang="en-US" altLang="en-US" sz="1500" b="1" dirty="0">
                <a:solidFill>
                  <a:srgbClr val="0B3B3C"/>
                </a:solidFill>
                <a:latin typeface="Calibri" pitchFamily="34" charset="0"/>
                <a:ea typeface="Calibri" pitchFamily="34" charset="-122"/>
                <a:cs typeface="Calibri" pitchFamily="34" charset="-120"/>
              </a:rPr>
              <a:t>Progress tracking</a:t>
            </a:r>
            <a:endParaRPr lang="en-US" sz="1500" dirty="0"/>
          </a:p>
          <a:p>
            <a:pPr algn="l" lvl="1" marL="685800" indent="-342900">
              <a:spcAft>
                <a:spcPts val="300"/>
              </a:spcAft>
              <a:buSzPct val="100000"/>
              <a:buChar char="▪"/>
            </a:pPr>
            <a:r>
              <a:rPr lang="en-US" altLang="en-US" sz="1300" dirty="0">
                <a:solidFill>
                  <a:srgbClr val="24403F"/>
                </a:solidFill>
                <a:latin typeface="Calibri" pitchFamily="34" charset="0"/>
                <a:ea typeface="Calibri" pitchFamily="34" charset="-122"/>
                <a:cs typeface="Calibri" pitchFamily="34" charset="-120"/>
              </a:rPr>
              <a:t>Validation / monitoring by the teacher</a:t>
            </a:r>
            <a:endParaRPr lang="en-US" sz="1500" dirty="0"/>
          </a:p>
          <a:p>
            <a:pPr algn="l" lvl="1" marL="685800" indent="-342900">
              <a:spcAft>
                <a:spcPts val="300"/>
              </a:spcAft>
              <a:buSzPct val="100000"/>
              <a:buChar char="▪"/>
            </a:pPr>
            <a:r>
              <a:rPr lang="en-US" altLang="en-US" sz="1300" dirty="0">
                <a:solidFill>
                  <a:srgbClr val="24403F"/>
                </a:solidFill>
                <a:latin typeface="Calibri" pitchFamily="34" charset="0"/>
                <a:ea typeface="Calibri" pitchFamily="34" charset="-122"/>
                <a:cs typeface="Calibri" pitchFamily="34" charset="-120"/>
              </a:rPr>
              <a:t>Monitoring by the parents</a:t>
            </a:r>
            <a:endParaRPr lang="en-US" sz="1500" dirty="0"/>
          </a:p>
          <a:p>
            <a:pPr algn="l" marL="342900" indent="-342900">
              <a:spcBef>
                <a:spcPts val="500"/>
              </a:spcBef>
              <a:spcAft>
                <a:spcPts val="700"/>
              </a:spcAft>
              <a:buSzPct val="100000"/>
              <a:buChar char="●"/>
            </a:pPr>
            <a:r>
              <a:rPr lang="en-US" altLang="en-US" sz="1500" b="1" dirty="0">
                <a:solidFill>
                  <a:srgbClr val="0B3B3C"/>
                </a:solidFill>
                <a:latin typeface="Calibri" pitchFamily="34" charset="0"/>
                <a:ea typeface="Calibri" pitchFamily="34" charset="-122"/>
                <a:cs typeface="Calibri" pitchFamily="34" charset="-120"/>
              </a:rPr>
              <a:t>Numbering and colour code</a:t>
            </a:r>
            <a:endParaRPr lang="en-US" sz="1500" dirty="0"/>
          </a:p>
          <a:p>
            <a:pPr algn="l" marL="342900" indent="-342900">
              <a:spcBef>
                <a:spcPts val="500"/>
              </a:spcBef>
              <a:spcAft>
                <a:spcPts val="700"/>
              </a:spcAft>
              <a:buSzPct val="100000"/>
              <a:buChar char="●"/>
            </a:pPr>
            <a:r>
              <a:rPr lang="en-US" altLang="en-US" sz="1500" b="1" dirty="0">
                <a:solidFill>
                  <a:srgbClr val="0B3B3C"/>
                </a:solidFill>
                <a:latin typeface="Calibri" pitchFamily="34" charset="0"/>
                <a:ea typeface="Calibri" pitchFamily="34" charset="-122"/>
                <a:cs typeface="Calibri" pitchFamily="34" charset="-120"/>
              </a:rPr>
              <a:t>Duplicate held by the teacher</a:t>
            </a:r>
            <a:endParaRPr lang="en-US" sz="1500" dirty="0"/>
          </a:p>
        </p:txBody>
      </p:sp>
      <p:pic>
        <p:nvPicPr>
          <p:cNvPr id="6" name="Image 0" descr="img/image8.png">    </p:cNvPr>
          <p:cNvPicPr>
            <a:picLocks noChangeAspect="1"/>
          </p:cNvPicPr>
          <p:nvPr/>
        </p:nvPicPr>
        <p:blipFill>
          <a:blip r:embed="rId1"/>
          <a:stretch>
            <a:fillRect/>
          </a:stretch>
        </p:blipFill>
        <p:spPr>
          <a:xfrm>
            <a:off x="7269480" y="1783080"/>
            <a:ext cx="4343400" cy="3072384"/>
          </a:xfrm>
          <a:prstGeom prst="rect">
            <a:avLst/>
          </a:prstGeom>
          <a:effectLst>
            <a:outerShdw sx="100000" sy="100000" kx="0" ky="0" algn="bl" rotWithShape="0" blurRad="177800" dist="50800" dir="5400000">
              <a:srgbClr val="0B3B3C">
                <a:alpha val="22000"/>
              </a:srgbClr>
            </a:outerShdw>
          </a:effectLst>
        </p:spPr>
      </p:pic>
      <p:sp>
        <p:nvSpPr>
          <p:cNvPr id="7" name="Text 4"/>
          <p:cNvSpPr/>
          <p:nvPr/>
        </p:nvSpPr>
        <p:spPr>
          <a:xfrm>
            <a:off x="7269480" y="4956048"/>
            <a:ext cx="4343400" cy="274320"/>
          </a:xfrm>
          <a:prstGeom prst="rect">
            <a:avLst/>
          </a:prstGeom>
          <a:noFill/>
          <a:ln/>
        </p:spPr>
        <p:txBody>
          <a:bodyPr wrap="square" lIns="0" tIns="0" rIns="0" bIns="0" rtlCol="0" anchor="ctr"/>
          <a:lstStyle/>
          <a:p>
            <a:pPr algn="ctr" indent="0" marL="0">
              <a:buNone/>
            </a:pPr>
            <a:r>
              <a:rPr lang="en-US" altLang="en-US" sz="1100" i="1" dirty="0">
                <a:solidFill>
                  <a:srgbClr val="5F7574"/>
                </a:solidFill>
                <a:latin typeface="Calibri" pitchFamily="34" charset="0"/>
                <a:ea typeface="Calibri" pitchFamily="34" charset="-122"/>
                <a:cs typeface="Calibri" pitchFamily="34" charset="-120"/>
              </a:rPr>
              <a:t>Card no. 3 — front</a:t>
            </a:r>
            <a:endParaRPr lang="en-US" sz="1100" dirty="0"/>
          </a:p>
        </p:txBody>
      </p:sp>
      <p:sp>
        <p:nvSpPr>
          <p:cNvPr id="9" name="Text 5"/>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0" name="Text 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Recitation card</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137A7F"/>
                </a:solidFill>
                <a:latin typeface="Calibri" pitchFamily="34" charset="0"/>
                <a:ea typeface="Calibri" pitchFamily="34" charset="-122"/>
                <a:cs typeface="Calibri" pitchFamily="34" charset="-120"/>
              </a:rPr>
              <a:t>Principle and operation</a:t>
            </a:r>
            <a:endParaRPr lang="en-US" sz="1500" dirty="0"/>
          </a:p>
        </p:txBody>
      </p:sp>
      <p:pic>
        <p:nvPicPr>
          <p:cNvPr id="4" name="Image 0" descr="img/image6.png">    </p:cNvPr>
          <p:cNvPicPr>
            <a:picLocks noChangeAspect="1"/>
          </p:cNvPicPr>
          <p:nvPr/>
        </p:nvPicPr>
        <p:blipFill>
          <a:blip r:embed="rId1"/>
          <a:stretch>
            <a:fillRect/>
          </a:stretch>
        </p:blipFill>
        <p:spPr>
          <a:xfrm>
            <a:off x="1052932" y="1627632"/>
            <a:ext cx="3154680" cy="2231136"/>
          </a:xfrm>
          <a:prstGeom prst="rect">
            <a:avLst/>
          </a:prstGeom>
          <a:effectLst>
            <a:outerShdw sx="100000" sy="100000" kx="0" ky="0" algn="bl" rotWithShape="0" blurRad="127000" dist="38100" dir="5400000">
              <a:srgbClr val="0B3B3C">
                <a:alpha val="18000"/>
              </a:srgbClr>
            </a:outerShdw>
          </a:effectLst>
        </p:spPr>
      </p:pic>
      <p:sp>
        <p:nvSpPr>
          <p:cNvPr id="5" name="Shape 2"/>
          <p:cNvSpPr/>
          <p:nvPr/>
        </p:nvSpPr>
        <p:spPr>
          <a:xfrm>
            <a:off x="924916" y="1499616"/>
            <a:ext cx="457200" cy="457200"/>
          </a:xfrm>
          <a:prstGeom prst="ellipse">
            <a:avLst/>
          </a:prstGeom>
          <a:solidFill>
            <a:srgbClr val="3F4A4A"/>
          </a:solidFill>
          <a:ln w="12700">
            <a:solidFill>
              <a:srgbClr val="3F4A4A"/>
            </a:solidFill>
            <a:prstDash val="solid"/>
          </a:ln>
        </p:spPr>
      </p:sp>
      <p:sp>
        <p:nvSpPr>
          <p:cNvPr id="6" name="Text 3"/>
          <p:cNvSpPr/>
          <p:nvPr/>
        </p:nvSpPr>
        <p:spPr>
          <a:xfrm>
            <a:off x="924916" y="1499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pic>
        <p:nvPicPr>
          <p:cNvPr id="7" name="Image 1" descr="img/image7.png">    </p:cNvPr>
          <p:cNvPicPr>
            <a:picLocks noChangeAspect="1"/>
          </p:cNvPicPr>
          <p:nvPr/>
        </p:nvPicPr>
        <p:blipFill>
          <a:blip r:embed="rId2"/>
          <a:stretch>
            <a:fillRect/>
          </a:stretch>
        </p:blipFill>
        <p:spPr>
          <a:xfrm>
            <a:off x="4518508" y="1627632"/>
            <a:ext cx="3154680" cy="2231136"/>
          </a:xfrm>
          <a:prstGeom prst="rect">
            <a:avLst/>
          </a:prstGeom>
          <a:effectLst>
            <a:outerShdw sx="100000" sy="100000" kx="0" ky="0" algn="bl" rotWithShape="0" blurRad="127000" dist="38100" dir="5400000">
              <a:srgbClr val="0B3B3C">
                <a:alpha val="18000"/>
              </a:srgbClr>
            </a:outerShdw>
          </a:effectLst>
        </p:spPr>
      </p:pic>
      <p:sp>
        <p:nvSpPr>
          <p:cNvPr id="8" name="Shape 4"/>
          <p:cNvSpPr/>
          <p:nvPr/>
        </p:nvSpPr>
        <p:spPr>
          <a:xfrm>
            <a:off x="4390492" y="1499616"/>
            <a:ext cx="457200" cy="457200"/>
          </a:xfrm>
          <a:prstGeom prst="ellipse">
            <a:avLst/>
          </a:prstGeom>
          <a:solidFill>
            <a:srgbClr val="E8B62C"/>
          </a:solidFill>
          <a:ln w="12700">
            <a:solidFill>
              <a:srgbClr val="E8B62C"/>
            </a:solidFill>
            <a:prstDash val="solid"/>
          </a:ln>
        </p:spPr>
      </p:sp>
      <p:sp>
        <p:nvSpPr>
          <p:cNvPr id="9" name="Text 5"/>
          <p:cNvSpPr/>
          <p:nvPr/>
        </p:nvSpPr>
        <p:spPr>
          <a:xfrm>
            <a:off x="4390492" y="1499616"/>
            <a:ext cx="457200" cy="457200"/>
          </a:xfrm>
          <a:prstGeom prst="rect">
            <a:avLst/>
          </a:prstGeom>
          <a:noFill/>
          <a:ln/>
        </p:spPr>
        <p:txBody>
          <a:bodyPr wrap="square" lIns="0" tIns="0" rIns="0" bIns="0" rtlCol="0" anchor="ctr"/>
          <a:lstStyle/>
          <a:p>
            <a:pPr algn="ctr" indent="0" marL="0">
              <a:buNone/>
            </a:pPr>
            <a:r>
              <a:rPr lang="en-US" sz="1300" b="1" dirty="0">
                <a:solidFill>
                  <a:srgbClr val="0B3B3C"/>
                </a:solidFill>
                <a:latin typeface="Calibri" pitchFamily="34" charset="0"/>
                <a:ea typeface="Calibri" pitchFamily="34" charset="-122"/>
                <a:cs typeface="Calibri" pitchFamily="34" charset="-120"/>
              </a:rPr>
              <a:t>#2</a:t>
            </a:r>
            <a:endParaRPr lang="en-US" sz="1300" dirty="0"/>
          </a:p>
        </p:txBody>
      </p:sp>
      <p:pic>
        <p:nvPicPr>
          <p:cNvPr id="10" name="Image 2" descr="img/image8.png">    </p:cNvPr>
          <p:cNvPicPr>
            <a:picLocks noChangeAspect="1"/>
          </p:cNvPicPr>
          <p:nvPr/>
        </p:nvPicPr>
        <p:blipFill>
          <a:blip r:embed="rId3"/>
          <a:stretch>
            <a:fillRect/>
          </a:stretch>
        </p:blipFill>
        <p:spPr>
          <a:xfrm>
            <a:off x="7984084" y="1627632"/>
            <a:ext cx="3154680" cy="2231136"/>
          </a:xfrm>
          <a:prstGeom prst="rect">
            <a:avLst/>
          </a:prstGeom>
          <a:effectLst>
            <a:outerShdw sx="100000" sy="100000" kx="0" ky="0" algn="bl" rotWithShape="0" blurRad="127000" dist="38100" dir="5400000">
              <a:srgbClr val="0B3B3C">
                <a:alpha val="18000"/>
              </a:srgbClr>
            </a:outerShdw>
          </a:effectLst>
        </p:spPr>
      </p:pic>
      <p:sp>
        <p:nvSpPr>
          <p:cNvPr id="11" name="Shape 6"/>
          <p:cNvSpPr/>
          <p:nvPr/>
        </p:nvSpPr>
        <p:spPr>
          <a:xfrm>
            <a:off x="7856068" y="1499616"/>
            <a:ext cx="457200" cy="457200"/>
          </a:xfrm>
          <a:prstGeom prst="ellipse">
            <a:avLst/>
          </a:prstGeom>
          <a:solidFill>
            <a:srgbClr val="E07E38"/>
          </a:solidFill>
          <a:ln w="12700">
            <a:solidFill>
              <a:srgbClr val="E07E38"/>
            </a:solidFill>
            <a:prstDash val="solid"/>
          </a:ln>
        </p:spPr>
      </p:sp>
      <p:sp>
        <p:nvSpPr>
          <p:cNvPr id="12" name="Text 7"/>
          <p:cNvSpPr/>
          <p:nvPr/>
        </p:nvSpPr>
        <p:spPr>
          <a:xfrm>
            <a:off x="7856068" y="1499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pic>
        <p:nvPicPr>
          <p:cNvPr id="13" name="Image 3" descr="img/image9.png">    </p:cNvPr>
          <p:cNvPicPr>
            <a:picLocks noChangeAspect="1"/>
          </p:cNvPicPr>
          <p:nvPr/>
        </p:nvPicPr>
        <p:blipFill>
          <a:blip r:embed="rId4"/>
          <a:stretch>
            <a:fillRect/>
          </a:stretch>
        </p:blipFill>
        <p:spPr>
          <a:xfrm>
            <a:off x="1052932" y="4224528"/>
            <a:ext cx="3154680" cy="2231136"/>
          </a:xfrm>
          <a:prstGeom prst="rect">
            <a:avLst/>
          </a:prstGeom>
          <a:effectLst>
            <a:outerShdw sx="100000" sy="100000" kx="0" ky="0" algn="bl" rotWithShape="0" blurRad="127000" dist="38100" dir="5400000">
              <a:srgbClr val="0B3B3C">
                <a:alpha val="18000"/>
              </a:srgbClr>
            </a:outerShdw>
          </a:effectLst>
        </p:spPr>
      </p:pic>
      <p:sp>
        <p:nvSpPr>
          <p:cNvPr id="14" name="Shape 8"/>
          <p:cNvSpPr/>
          <p:nvPr/>
        </p:nvSpPr>
        <p:spPr>
          <a:xfrm>
            <a:off x="924916" y="4096512"/>
            <a:ext cx="457200" cy="457200"/>
          </a:xfrm>
          <a:prstGeom prst="ellipse">
            <a:avLst/>
          </a:prstGeom>
          <a:solidFill>
            <a:srgbClr val="6FA25A"/>
          </a:solidFill>
          <a:ln w="12700">
            <a:solidFill>
              <a:srgbClr val="6FA25A"/>
            </a:solidFill>
            <a:prstDash val="solid"/>
          </a:ln>
        </p:spPr>
      </p:sp>
      <p:sp>
        <p:nvSpPr>
          <p:cNvPr id="15" name="Text 9"/>
          <p:cNvSpPr/>
          <p:nvPr/>
        </p:nvSpPr>
        <p:spPr>
          <a:xfrm>
            <a:off x="924916" y="4096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pic>
        <p:nvPicPr>
          <p:cNvPr id="16" name="Image 4" descr="img/image10.png">    </p:cNvPr>
          <p:cNvPicPr>
            <a:picLocks noChangeAspect="1"/>
          </p:cNvPicPr>
          <p:nvPr/>
        </p:nvPicPr>
        <p:blipFill>
          <a:blip r:embed="rId5"/>
          <a:stretch>
            <a:fillRect/>
          </a:stretch>
        </p:blipFill>
        <p:spPr>
          <a:xfrm>
            <a:off x="4518508" y="4224528"/>
            <a:ext cx="3154680" cy="2231136"/>
          </a:xfrm>
          <a:prstGeom prst="rect">
            <a:avLst/>
          </a:prstGeom>
          <a:effectLst>
            <a:outerShdw sx="100000" sy="100000" kx="0" ky="0" algn="bl" rotWithShape="0" blurRad="127000" dist="38100" dir="5400000">
              <a:srgbClr val="0B3B3C">
                <a:alpha val="18000"/>
              </a:srgbClr>
            </a:outerShdw>
          </a:effectLst>
        </p:spPr>
      </p:pic>
      <p:sp>
        <p:nvSpPr>
          <p:cNvPr id="17" name="Shape 10"/>
          <p:cNvSpPr/>
          <p:nvPr/>
        </p:nvSpPr>
        <p:spPr>
          <a:xfrm>
            <a:off x="4390492" y="4096512"/>
            <a:ext cx="457200" cy="457200"/>
          </a:xfrm>
          <a:prstGeom prst="ellipse">
            <a:avLst/>
          </a:prstGeom>
          <a:solidFill>
            <a:srgbClr val="3E85BE"/>
          </a:solidFill>
          <a:ln w="12700">
            <a:solidFill>
              <a:srgbClr val="3E85BE"/>
            </a:solidFill>
            <a:prstDash val="solid"/>
          </a:ln>
        </p:spPr>
      </p:sp>
      <p:sp>
        <p:nvSpPr>
          <p:cNvPr id="18" name="Text 11"/>
          <p:cNvSpPr/>
          <p:nvPr/>
        </p:nvSpPr>
        <p:spPr>
          <a:xfrm>
            <a:off x="4390492" y="4096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pic>
        <p:nvPicPr>
          <p:cNvPr id="19" name="Image 5" descr="img/image11.png">    </p:cNvPr>
          <p:cNvPicPr>
            <a:picLocks noChangeAspect="1"/>
          </p:cNvPicPr>
          <p:nvPr/>
        </p:nvPicPr>
        <p:blipFill>
          <a:blip r:embed="rId6"/>
          <a:stretch>
            <a:fillRect/>
          </a:stretch>
        </p:blipFill>
        <p:spPr>
          <a:xfrm>
            <a:off x="7984084" y="4224528"/>
            <a:ext cx="3154680" cy="2231136"/>
          </a:xfrm>
          <a:prstGeom prst="rect">
            <a:avLst/>
          </a:prstGeom>
          <a:effectLst>
            <a:outerShdw sx="100000" sy="100000" kx="0" ky="0" algn="bl" rotWithShape="0" blurRad="127000" dist="38100" dir="5400000">
              <a:srgbClr val="0B3B3C">
                <a:alpha val="18000"/>
              </a:srgbClr>
            </a:outerShdw>
          </a:effectLst>
        </p:spPr>
      </p:pic>
      <p:sp>
        <p:nvSpPr>
          <p:cNvPr id="20" name="Shape 12"/>
          <p:cNvSpPr/>
          <p:nvPr/>
        </p:nvSpPr>
        <p:spPr>
          <a:xfrm>
            <a:off x="7856068" y="4096512"/>
            <a:ext cx="457200" cy="457200"/>
          </a:xfrm>
          <a:prstGeom prst="ellipse">
            <a:avLst/>
          </a:prstGeom>
          <a:solidFill>
            <a:srgbClr val="B5485C"/>
          </a:solidFill>
          <a:ln w="12700">
            <a:solidFill>
              <a:srgbClr val="B5485C"/>
            </a:solidFill>
            <a:prstDash val="solid"/>
          </a:ln>
        </p:spPr>
      </p:sp>
      <p:sp>
        <p:nvSpPr>
          <p:cNvPr id="21" name="Text 13"/>
          <p:cNvSpPr/>
          <p:nvPr/>
        </p:nvSpPr>
        <p:spPr>
          <a:xfrm>
            <a:off x="7856068" y="4096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14"/>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23" name="Text 15"/>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Recitation card</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137A7F"/>
                </a:solidFill>
                <a:latin typeface="Calibri" pitchFamily="34" charset="0"/>
                <a:ea typeface="Calibri" pitchFamily="34" charset="-122"/>
                <a:cs typeface="Calibri" pitchFamily="34" charset="-120"/>
              </a:rPr>
              <a:t>Progression and levels</a:t>
            </a:r>
            <a:endParaRPr lang="en-US" sz="1500" dirty="0"/>
          </a:p>
        </p:txBody>
      </p:sp>
      <p:sp>
        <p:nvSpPr>
          <p:cNvPr id="4" name="Shape 2"/>
          <p:cNvSpPr/>
          <p:nvPr/>
        </p:nvSpPr>
        <p:spPr>
          <a:xfrm>
            <a:off x="566928" y="1572768"/>
            <a:ext cx="5532120" cy="1874520"/>
          </a:xfrm>
          <a:prstGeom prst="roundRect">
            <a:avLst>
              <a:gd name="adj" fmla="val 5854"/>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Text 3"/>
          <p:cNvSpPr/>
          <p:nvPr/>
        </p:nvSpPr>
        <p:spPr>
          <a:xfrm>
            <a:off x="896112" y="1828800"/>
            <a:ext cx="4892040" cy="1463040"/>
          </a:xfrm>
          <a:prstGeom prst="rect">
            <a:avLst/>
          </a:prstGeom>
          <a:noFill/>
          <a:ln/>
        </p:spPr>
        <p:txBody>
          <a:bodyPr wrap="square" lIns="0" tIns="0" rIns="0" bIns="0" rtlCol="0" anchor="t"/>
          <a:lstStyle/>
          <a:p>
            <a:pPr algn="l" marL="342900" indent="-342900">
              <a:spcAft>
                <a:spcPts val="700"/>
              </a:spcAft>
              <a:buSzPct val="100000"/>
              <a:buChar char="●"/>
            </a:pPr>
            <a:r>
              <a:rPr lang="en-US" altLang="en-US" sz="1400" b="1" dirty="0">
                <a:solidFill>
                  <a:srgbClr val="0B3B3C"/>
                </a:solidFill>
                <a:latin typeface="Calibri" pitchFamily="34" charset="0"/>
                <a:ea typeface="Calibri" pitchFamily="34" charset="-122"/>
                <a:cs typeface="Calibri" pitchFamily="34" charset="-120"/>
              </a:rPr>
              <a:t>Six cards with different numbers and colours</a:t>
            </a:r>
            <a:endParaRPr lang="en-US" sz="1400" dirty="0"/>
          </a:p>
          <a:p>
            <a:pPr algn="l" lvl="1" marL="685800" indent="-342900">
              <a:spcAft>
                <a:spcPts val="300"/>
              </a:spcAft>
              <a:buSzPct val="100000"/>
              <a:buChar char="▪"/>
            </a:pPr>
            <a:r>
              <a:rPr lang="en-US" altLang="en-US" sz="1200" dirty="0">
                <a:solidFill>
                  <a:srgbClr val="24403F"/>
                </a:solidFill>
                <a:latin typeface="Calibri" pitchFamily="34" charset="0"/>
                <a:ea typeface="Calibri" pitchFamily="34" charset="-122"/>
                <a:cs typeface="Calibri" pitchFamily="34" charset="-120"/>
              </a:rPr>
              <a:t>Six distinct objectives (annual and weekly) and prerequisites</a:t>
            </a:r>
            <a:endParaRPr lang="en-US" sz="1400" dirty="0"/>
          </a:p>
          <a:p>
            <a:pPr algn="l" lvl="1" marL="685800" indent="-342900">
              <a:spcAft>
                <a:spcPts val="300"/>
              </a:spcAft>
              <a:buSzPct val="100000"/>
              <a:buChar char="▪"/>
            </a:pPr>
            <a:r>
              <a:rPr lang="en-US" altLang="en-US" sz="1200" dirty="0">
                <a:solidFill>
                  <a:srgbClr val="24403F"/>
                </a:solidFill>
                <a:latin typeface="Calibri" pitchFamily="34" charset="0"/>
                <a:ea typeface="Calibri" pitchFamily="34" charset="-122"/>
                <a:cs typeface="Calibri" pitchFamily="34" charset="-120"/>
              </a:rPr>
              <a:t>Progressively increasing learning volume</a:t>
            </a:r>
            <a:endParaRPr lang="en-US" sz="1400" dirty="0"/>
          </a:p>
          <a:p>
            <a:pPr algn="l" lvl="1" marL="685800" indent="-342900">
              <a:spcAft>
                <a:spcPts val="300"/>
              </a:spcAft>
              <a:buSzPct val="100000"/>
              <a:buChar char="▪"/>
            </a:pPr>
            <a:r>
              <a:rPr lang="en-US" altLang="en-US" sz="1200" dirty="0">
                <a:solidFill>
                  <a:srgbClr val="24403F"/>
                </a:solidFill>
                <a:latin typeface="Calibri" pitchFamily="34" charset="0"/>
                <a:ea typeface="Calibri" pitchFamily="34" charset="-122"/>
                <a:cs typeface="Calibri" pitchFamily="34" charset="-120"/>
              </a:rPr>
              <a:t>From hizb 60 (“Sabbih”) to hizb 45 inclusive (Surah “Yâsîn”)</a:t>
            </a:r>
            <a:endParaRPr lang="en-US" sz="1400" dirty="0"/>
          </a:p>
        </p:txBody>
      </p:sp>
      <p:sp>
        <p:nvSpPr>
          <p:cNvPr id="6" name="Text 4"/>
          <p:cNvSpPr/>
          <p:nvPr/>
        </p:nvSpPr>
        <p:spPr>
          <a:xfrm>
            <a:off x="6446520" y="1627632"/>
            <a:ext cx="5166360" cy="365760"/>
          </a:xfrm>
          <a:prstGeom prst="rect">
            <a:avLst/>
          </a:prstGeom>
          <a:noFill/>
          <a:ln/>
        </p:spPr>
        <p:txBody>
          <a:bodyPr wrap="square" lIns="0" tIns="0" rIns="0" bIns="0" rtlCol="0" anchor="ctr"/>
          <a:lstStyle/>
          <a:p>
            <a:pPr algn="l" indent="0" marL="0">
              <a:buNone/>
            </a:pPr>
            <a:r>
              <a:rPr lang="en-US" altLang="en-US" sz="1800" b="1" dirty="0">
                <a:solidFill>
                  <a:srgbClr val="0B3B3C"/>
                </a:solidFill>
                <a:latin typeface="Cambria" pitchFamily="34" charset="0"/>
                <a:ea typeface="Cambria" pitchFamily="34" charset="-122"/>
                <a:cs typeface="Cambria" pitchFamily="34" charset="-120"/>
              </a:rPr>
              <a:t>Divided into 3 levels</a:t>
            </a:r>
            <a:endParaRPr lang="en-US" sz="1800" dirty="0"/>
          </a:p>
        </p:txBody>
      </p:sp>
      <p:sp>
        <p:nvSpPr>
          <p:cNvPr id="7" name="Shape 5"/>
          <p:cNvSpPr/>
          <p:nvPr/>
        </p:nvSpPr>
        <p:spPr>
          <a:xfrm>
            <a:off x="6446520" y="2121408"/>
            <a:ext cx="5166360" cy="512064"/>
          </a:xfrm>
          <a:prstGeom prst="roundRect">
            <a:avLst>
              <a:gd name="adj" fmla="val 17857"/>
            </a:avLst>
          </a:prstGeom>
          <a:solidFill>
            <a:srgbClr val="EAF4F2"/>
          </a:solidFill>
          <a:ln w="12700">
            <a:solidFill>
              <a:srgbClr val="D5E7E4"/>
            </a:solidFill>
            <a:prstDash val="solid"/>
          </a:ln>
        </p:spPr>
      </p:sp>
      <p:sp>
        <p:nvSpPr>
          <p:cNvPr id="8" name="Shape 6"/>
          <p:cNvSpPr/>
          <p:nvPr/>
        </p:nvSpPr>
        <p:spPr>
          <a:xfrm>
            <a:off x="6629400" y="2267712"/>
            <a:ext cx="219456" cy="219456"/>
          </a:xfrm>
          <a:prstGeom prst="ellipse">
            <a:avLst/>
          </a:prstGeom>
          <a:solidFill>
            <a:srgbClr val="D9982B"/>
          </a:solidFill>
          <a:ln w="12700">
            <a:solidFill>
              <a:srgbClr val="D9982B"/>
            </a:solidFill>
            <a:prstDash val="solid"/>
          </a:ln>
        </p:spPr>
      </p:sp>
      <p:sp>
        <p:nvSpPr>
          <p:cNvPr id="9" name="Text 7"/>
          <p:cNvSpPr/>
          <p:nvPr/>
        </p:nvSpPr>
        <p:spPr>
          <a:xfrm>
            <a:off x="6995160" y="2121408"/>
            <a:ext cx="2377440" cy="512064"/>
          </a:xfrm>
          <a:prstGeom prst="rect">
            <a:avLst/>
          </a:prstGeom>
          <a:noFill/>
          <a:ln/>
        </p:spPr>
        <p:txBody>
          <a:bodyPr wrap="square" lIns="0" tIns="0" rIns="0" bIns="0" rtlCol="0" anchor="ctr"/>
          <a:lstStyle/>
          <a:p>
            <a:pPr algn="l" indent="0" marL="0">
              <a:buNone/>
            </a:pPr>
            <a:r>
              <a:rPr lang="en-US" altLang="en-US" sz="1500" b="1" dirty="0">
                <a:solidFill>
                  <a:srgbClr val="0B3B3C"/>
                </a:solidFill>
                <a:latin typeface="Calibri" pitchFamily="34" charset="0"/>
                <a:ea typeface="Calibri" pitchFamily="34" charset="-122"/>
                <a:cs typeface="Calibri" pitchFamily="34" charset="-120"/>
              </a:rPr>
              <a:t>Beginner</a:t>
            </a:r>
            <a:endParaRPr lang="en-US" sz="1500" dirty="0"/>
          </a:p>
        </p:txBody>
      </p:sp>
      <p:sp>
        <p:nvSpPr>
          <p:cNvPr id="10" name="Text 8"/>
          <p:cNvSpPr/>
          <p:nvPr/>
        </p:nvSpPr>
        <p:spPr>
          <a:xfrm>
            <a:off x="9326880" y="2121408"/>
            <a:ext cx="2103120" cy="512064"/>
          </a:xfrm>
          <a:prstGeom prst="rect">
            <a:avLst/>
          </a:prstGeom>
          <a:noFill/>
          <a:ln/>
        </p:spPr>
        <p:txBody>
          <a:bodyPr wrap="square" lIns="0" tIns="0" rIns="0" bIns="0" rtlCol="0" anchor="ctr"/>
          <a:lstStyle/>
          <a:p>
            <a:pPr algn="r" indent="0" marL="0">
              <a:buNone/>
            </a:pPr>
            <a:r>
              <a:rPr lang="en-US" altLang="en-US" sz="1500" b="1" dirty="0">
                <a:solidFill>
                  <a:srgbClr val="D9982B"/>
                </a:solidFill>
                <a:latin typeface="Calibri" pitchFamily="34" charset="0"/>
                <a:ea typeface="Calibri" pitchFamily="34" charset="-122"/>
                <a:cs typeface="Calibri" pitchFamily="34" charset="-120"/>
              </a:rPr>
              <a:t>no. 1</a:t>
            </a:r>
            <a:endParaRPr lang="en-US" sz="1500" dirty="0"/>
          </a:p>
        </p:txBody>
      </p:sp>
      <p:sp>
        <p:nvSpPr>
          <p:cNvPr id="11" name="Shape 9"/>
          <p:cNvSpPr/>
          <p:nvPr/>
        </p:nvSpPr>
        <p:spPr>
          <a:xfrm>
            <a:off x="6446520" y="2743200"/>
            <a:ext cx="5166360" cy="512064"/>
          </a:xfrm>
          <a:prstGeom prst="roundRect">
            <a:avLst>
              <a:gd name="adj" fmla="val 17857"/>
            </a:avLst>
          </a:prstGeom>
          <a:solidFill>
            <a:srgbClr val="EAF4F2"/>
          </a:solidFill>
          <a:ln w="12700">
            <a:solidFill>
              <a:srgbClr val="D5E7E4"/>
            </a:solidFill>
            <a:prstDash val="solid"/>
          </a:ln>
        </p:spPr>
      </p:sp>
      <p:sp>
        <p:nvSpPr>
          <p:cNvPr id="12" name="Shape 10"/>
          <p:cNvSpPr/>
          <p:nvPr/>
        </p:nvSpPr>
        <p:spPr>
          <a:xfrm>
            <a:off x="6629400" y="2889504"/>
            <a:ext cx="219456" cy="219456"/>
          </a:xfrm>
          <a:prstGeom prst="ellipse">
            <a:avLst/>
          </a:prstGeom>
          <a:solidFill>
            <a:srgbClr val="2E7BA6"/>
          </a:solidFill>
          <a:ln w="12700">
            <a:solidFill>
              <a:srgbClr val="2E7BA6"/>
            </a:solidFill>
            <a:prstDash val="solid"/>
          </a:ln>
        </p:spPr>
      </p:sp>
      <p:sp>
        <p:nvSpPr>
          <p:cNvPr id="13" name="Text 11"/>
          <p:cNvSpPr/>
          <p:nvPr/>
        </p:nvSpPr>
        <p:spPr>
          <a:xfrm>
            <a:off x="6995160" y="2743200"/>
            <a:ext cx="2377440" cy="512064"/>
          </a:xfrm>
          <a:prstGeom prst="rect">
            <a:avLst/>
          </a:prstGeom>
          <a:noFill/>
          <a:ln/>
        </p:spPr>
        <p:txBody>
          <a:bodyPr wrap="square" lIns="0" tIns="0" rIns="0" bIns="0" rtlCol="0" anchor="ctr"/>
          <a:lstStyle/>
          <a:p>
            <a:pPr algn="l" indent="0" marL="0">
              <a:buNone/>
            </a:pPr>
            <a:r>
              <a:rPr lang="en-US" altLang="en-US" sz="1500" b="1" dirty="0">
                <a:solidFill>
                  <a:srgbClr val="0B3B3C"/>
                </a:solidFill>
                <a:latin typeface="Calibri" pitchFamily="34" charset="0"/>
                <a:ea typeface="Calibri" pitchFamily="34" charset="-122"/>
                <a:cs typeface="Calibri" pitchFamily="34" charset="-120"/>
              </a:rPr>
              <a:t>Intermediate</a:t>
            </a:r>
            <a:endParaRPr lang="en-US" sz="1500" dirty="0"/>
          </a:p>
        </p:txBody>
      </p:sp>
      <p:sp>
        <p:nvSpPr>
          <p:cNvPr id="14" name="Text 12"/>
          <p:cNvSpPr/>
          <p:nvPr/>
        </p:nvSpPr>
        <p:spPr>
          <a:xfrm>
            <a:off x="9326880" y="2743200"/>
            <a:ext cx="2103120" cy="512064"/>
          </a:xfrm>
          <a:prstGeom prst="rect">
            <a:avLst/>
          </a:prstGeom>
          <a:noFill/>
          <a:ln/>
        </p:spPr>
        <p:txBody>
          <a:bodyPr wrap="square" lIns="0" tIns="0" rIns="0" bIns="0" rtlCol="0" anchor="ctr"/>
          <a:lstStyle/>
          <a:p>
            <a:pPr algn="r" indent="0" marL="0">
              <a:buNone/>
            </a:pPr>
            <a:r>
              <a:rPr lang="en-US" altLang="en-US" sz="1500" b="1" dirty="0">
                <a:solidFill>
                  <a:srgbClr val="2E7BA6"/>
                </a:solidFill>
                <a:latin typeface="Calibri" pitchFamily="34" charset="0"/>
                <a:ea typeface="Calibri" pitchFamily="34" charset="-122"/>
                <a:cs typeface="Calibri" pitchFamily="34" charset="-120"/>
              </a:rPr>
              <a:t>no. 2 and 3</a:t>
            </a:r>
            <a:endParaRPr lang="en-US" sz="1500" dirty="0"/>
          </a:p>
        </p:txBody>
      </p:sp>
      <p:sp>
        <p:nvSpPr>
          <p:cNvPr id="15" name="Shape 13"/>
          <p:cNvSpPr/>
          <p:nvPr/>
        </p:nvSpPr>
        <p:spPr>
          <a:xfrm>
            <a:off x="6446520" y="3364992"/>
            <a:ext cx="5166360" cy="512064"/>
          </a:xfrm>
          <a:prstGeom prst="roundRect">
            <a:avLst>
              <a:gd name="adj" fmla="val 17857"/>
            </a:avLst>
          </a:prstGeom>
          <a:solidFill>
            <a:srgbClr val="EAF4F2"/>
          </a:solidFill>
          <a:ln w="12700">
            <a:solidFill>
              <a:srgbClr val="D5E7E4"/>
            </a:solidFill>
            <a:prstDash val="solid"/>
          </a:ln>
        </p:spPr>
      </p:sp>
      <p:sp>
        <p:nvSpPr>
          <p:cNvPr id="16" name="Shape 14"/>
          <p:cNvSpPr/>
          <p:nvPr/>
        </p:nvSpPr>
        <p:spPr>
          <a:xfrm>
            <a:off x="6629400" y="3511296"/>
            <a:ext cx="219456" cy="219456"/>
          </a:xfrm>
          <a:prstGeom prst="ellipse">
            <a:avLst/>
          </a:prstGeom>
          <a:solidFill>
            <a:srgbClr val="9E3B4E"/>
          </a:solidFill>
          <a:ln w="12700">
            <a:solidFill>
              <a:srgbClr val="9E3B4E"/>
            </a:solidFill>
            <a:prstDash val="solid"/>
          </a:ln>
        </p:spPr>
      </p:sp>
      <p:sp>
        <p:nvSpPr>
          <p:cNvPr id="17" name="Text 15"/>
          <p:cNvSpPr/>
          <p:nvPr/>
        </p:nvSpPr>
        <p:spPr>
          <a:xfrm>
            <a:off x="6995160" y="3364992"/>
            <a:ext cx="2377440" cy="512064"/>
          </a:xfrm>
          <a:prstGeom prst="rect">
            <a:avLst/>
          </a:prstGeom>
          <a:noFill/>
          <a:ln/>
        </p:spPr>
        <p:txBody>
          <a:bodyPr wrap="square" lIns="0" tIns="0" rIns="0" bIns="0" rtlCol="0" anchor="ctr"/>
          <a:lstStyle/>
          <a:p>
            <a:pPr algn="l" indent="0" marL="0">
              <a:buNone/>
            </a:pPr>
            <a:r>
              <a:rPr lang="en-US" altLang="en-US" sz="1500" b="1" dirty="0">
                <a:solidFill>
                  <a:srgbClr val="0B3B3C"/>
                </a:solidFill>
                <a:latin typeface="Calibri" pitchFamily="34" charset="0"/>
                <a:ea typeface="Calibri" pitchFamily="34" charset="-122"/>
                <a:cs typeface="Calibri" pitchFamily="34" charset="-120"/>
              </a:rPr>
              <a:t>Advanced</a:t>
            </a:r>
            <a:endParaRPr lang="en-US" sz="1500" dirty="0"/>
          </a:p>
        </p:txBody>
      </p:sp>
      <p:sp>
        <p:nvSpPr>
          <p:cNvPr id="18" name="Text 16"/>
          <p:cNvSpPr/>
          <p:nvPr/>
        </p:nvSpPr>
        <p:spPr>
          <a:xfrm>
            <a:off x="9326880" y="3364992"/>
            <a:ext cx="2103120" cy="512064"/>
          </a:xfrm>
          <a:prstGeom prst="rect">
            <a:avLst/>
          </a:prstGeom>
          <a:noFill/>
          <a:ln/>
        </p:spPr>
        <p:txBody>
          <a:bodyPr wrap="square" lIns="0" tIns="0" rIns="0" bIns="0" rtlCol="0" anchor="ctr"/>
          <a:lstStyle/>
          <a:p>
            <a:pPr algn="r" indent="0" marL="0">
              <a:buNone/>
            </a:pPr>
            <a:r>
              <a:rPr lang="en-US" altLang="en-US" sz="1500" b="1" dirty="0">
                <a:solidFill>
                  <a:srgbClr val="9E3B4E"/>
                </a:solidFill>
                <a:latin typeface="Calibri" pitchFamily="34" charset="0"/>
                <a:ea typeface="Calibri" pitchFamily="34" charset="-122"/>
                <a:cs typeface="Calibri" pitchFamily="34" charset="-120"/>
              </a:rPr>
              <a:t>no. 4, 5 and 6</a:t>
            </a:r>
            <a:endParaRPr lang="en-US" sz="1500" dirty="0"/>
          </a:p>
        </p:txBody>
      </p:sp>
      <p:sp>
        <p:nvSpPr>
          <p:cNvPr id="19" name="Shape 17"/>
          <p:cNvSpPr/>
          <p:nvPr/>
        </p:nvSpPr>
        <p:spPr>
          <a:xfrm>
            <a:off x="566928" y="4160520"/>
            <a:ext cx="11045952" cy="1234440"/>
          </a:xfrm>
          <a:prstGeom prst="roundRect">
            <a:avLst>
              <a:gd name="adj" fmla="val 8889"/>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20" name="Text 18"/>
          <p:cNvSpPr/>
          <p:nvPr/>
        </p:nvSpPr>
        <p:spPr>
          <a:xfrm>
            <a:off x="896112" y="4370832"/>
            <a:ext cx="10424160" cy="914400"/>
          </a:xfrm>
          <a:prstGeom prst="rect">
            <a:avLst/>
          </a:prstGeom>
          <a:noFill/>
          <a:ln/>
        </p:spPr>
        <p:txBody>
          <a:bodyPr wrap="square" lIns="0" tIns="0" rIns="0" bIns="0" rtlCol="0" anchor="t"/>
          <a:lstStyle/>
          <a:p>
            <a:pPr algn="l" marL="342900" indent="-342900">
              <a:spcAft>
                <a:spcPts val="700"/>
              </a:spcAft>
              <a:buSzPct val="100000"/>
              <a:buChar char="●"/>
            </a:pPr>
            <a:r>
              <a:rPr lang="en-US" altLang="en-US" sz="1400" b="1" dirty="0">
                <a:solidFill>
                  <a:srgbClr val="0B3B3C"/>
                </a:solidFill>
                <a:latin typeface="Calibri" pitchFamily="34" charset="0"/>
                <a:ea typeface="Calibri" pitchFamily="34" charset="-122"/>
                <a:cs typeface="Calibri" pitchFamily="34" charset="-120"/>
              </a:rPr>
              <a:t>Cards independent of the student’s class and years of attendance</a:t>
            </a:r>
            <a:endParaRPr lang="en-US" sz="1400" dirty="0"/>
          </a:p>
          <a:p>
            <a:pPr algn="l" lvl="1" marL="685800" indent="-342900">
              <a:spcAft>
                <a:spcPts val="300"/>
              </a:spcAft>
              <a:buSzPct val="100000"/>
              <a:buChar char="▪"/>
            </a:pPr>
            <a:r>
              <a:rPr lang="en-US" altLang="en-US" sz="1200" dirty="0">
                <a:solidFill>
                  <a:srgbClr val="24403F"/>
                </a:solidFill>
                <a:latin typeface="Calibri" pitchFamily="34" charset="0"/>
                <a:ea typeface="Calibri" pitchFamily="34" charset="-122"/>
                <a:cs typeface="Calibri" pitchFamily="34" charset="-120"/>
              </a:rPr>
              <a:t>If the annual objective is met, the student receives a higher-numbered card (even mid-year)</a:t>
            </a:r>
            <a:endParaRPr lang="en-US" sz="1400" dirty="0"/>
          </a:p>
          <a:p>
            <a:pPr algn="l" marL="342900" indent="-342900">
              <a:spcBef>
                <a:spcPts val="500"/>
              </a:spcBef>
              <a:spcAft>
                <a:spcPts val="700"/>
              </a:spcAft>
              <a:buSzPct val="100000"/>
              <a:buChar char="●"/>
            </a:pPr>
            <a:r>
              <a:rPr lang="en-US" altLang="en-US" sz="1400" b="1" dirty="0">
                <a:solidFill>
                  <a:srgbClr val="0B3B3C"/>
                </a:solidFill>
                <a:latin typeface="Calibri" pitchFamily="34" charset="0"/>
                <a:ea typeface="Calibri" pitchFamily="34" charset="-122"/>
                <a:cs typeface="Calibri" pitchFamily="34" charset="-120"/>
              </a:rPr>
              <a:t>A reward at every change of card</a:t>
            </a:r>
            <a:endParaRPr lang="en-US" sz="1400" dirty="0"/>
          </a:p>
        </p:txBody>
      </p:sp>
      <p:sp>
        <p:nvSpPr>
          <p:cNvPr id="22" name="Text 19"/>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23" name="Text 20"/>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Progression and levels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45952" cy="914400"/>
        </p:xfrm>
        <a:graphic>
          <a:graphicData uri="http://schemas.openxmlformats.org/drawingml/2006/table">
            <a:tbl>
              <a:tblPr/>
              <a:tblGrid>
                <a:gridCol w="1325880"/>
                <a:gridCol w="868680"/>
                <a:gridCol w="1600200"/>
                <a:gridCol w="1463040"/>
                <a:gridCol w="1600200"/>
                <a:gridCol w="1234440"/>
                <a:gridCol w="1051560"/>
                <a:gridCol w="1901952"/>
              </a:tblGrid>
              <a:tr h="384048">
                <a:tc rowSpan="2">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Level</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rowSpan="2">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Card</a:t>
                      </a:r>
                      <a:endParaRPr lang="en-US" sz="1100" dirty="0">
                        <a:latin typeface="Calibri" charset="0"/>
                        <a:ea typeface="Calibri" charset="0"/>
                        <a:cs typeface="Calibri" charset="0"/>
                      </a:endParaRPr>
                    </a:p>
                    <a:p>
                      <a:pPr algn="ctr" indent="0" marL="0">
                        <a:buNone/>
                      </a:pPr>
                      <a:r>
                        <a:rPr lang="en-US" altLang="en-US" sz="1100" b="1" dirty="0">
                          <a:solidFill>
                            <a:srgbClr val="FFFFFF"/>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rowSpan="2">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Prerequisite</a:t>
                      </a:r>
                      <a:endParaRPr lang="en-US" sz="1100" dirty="0">
                        <a:latin typeface="Calibri" charset="0"/>
                        <a:ea typeface="Calibri" charset="0"/>
                        <a:cs typeface="Calibri" charset="0"/>
                      </a:endParaRPr>
                    </a:p>
                    <a:p>
                      <a:pPr algn="ctr" indent="0" marL="0">
                        <a:buNone/>
                      </a:pPr>
                      <a:r>
                        <a:rPr lang="en-US" altLang="en-US" sz="1100" b="1" dirty="0">
                          <a:solidFill>
                            <a:srgbClr val="FFFFFF"/>
                          </a:solidFill>
                          <a:latin typeface="Calibri" pitchFamily="34" charset="0"/>
                          <a:ea typeface="Calibri" pitchFamily="34" charset="-122"/>
                          <a:cs typeface="Calibri" pitchFamily="34" charset="-120"/>
                        </a:rPr>
                        <a:t>(no. of “hizb”)</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gridSpan="4">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hMerge="1">
                  <a:tcPr/>
                </a:tc>
                <a:tc hMerge="1">
                  <a:tcPr/>
                </a:tc>
                <a:tc hMerge="1">
                  <a:tcPr/>
                </a:tc>
                <a:tc rowSpan="2">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Learning</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r>
              <a:tr h="457200">
                <a:tc vMerge="1">
                  <a:tcPr/>
                </a:tc>
                <a:tc vMerge="1">
                  <a:tcPr/>
                </a:tc>
                <a:tc vMerge="1">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p>
                      <a:pPr algn="ctr" indent="0" marL="0">
                        <a:buNone/>
                      </a:pPr>
                      <a:r>
                        <a:rPr lang="en-US" altLang="en-US" sz="1000" b="1" dirty="0">
                          <a:solidFill>
                            <a:srgbClr val="FFFFFF"/>
                          </a:solidFill>
                          <a:latin typeface="Calibri" pitchFamily="34" charset="0"/>
                          <a:ea typeface="Calibri" pitchFamily="34" charset="-122"/>
                          <a:cs typeface="Calibri" pitchFamily="34" charset="-120"/>
                        </a:rPr>
                        <a:t>(no. of “hizb”)</a:t>
                      </a:r>
                      <a:endParaRPr lang="en-US" sz="10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Cumulative</a:t>
                      </a:r>
                      <a:endParaRPr lang="en-US" sz="1000" dirty="0">
                        <a:latin typeface="Calibri" charset="0"/>
                        <a:ea typeface="Calibri" charset="0"/>
                        <a:cs typeface="Calibri" charset="0"/>
                      </a:endParaRPr>
                    </a:p>
                    <a:p>
                      <a:pPr algn="ctr" indent="0" marL="0">
                        <a:buNone/>
                      </a:pPr>
                      <a:r>
                        <a:rPr lang="en-US" altLang="en-US" sz="1000" b="1" dirty="0">
                          <a:solidFill>
                            <a:srgbClr val="FFFFFF"/>
                          </a:solidFill>
                          <a:latin typeface="Calibri" pitchFamily="34" charset="0"/>
                          <a:ea typeface="Calibri" pitchFamily="34" charset="-122"/>
                          <a:cs typeface="Calibri" pitchFamily="34" charset="-120"/>
                        </a:rPr>
                        <a:t>(no. of “hizb”)</a:t>
                      </a:r>
                      <a:endParaRPr lang="en-US" sz="10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Week</a:t>
                      </a:r>
                      <a:endParaRPr lang="en-US" sz="1000" dirty="0">
                        <a:latin typeface="Calibri" charset="0"/>
                        <a:ea typeface="Calibri" charset="0"/>
                        <a:cs typeface="Calibri" charset="0"/>
                      </a:endParaRPr>
                    </a:p>
                    <a:p>
                      <a:pPr algn="ctr" indent="0" marL="0">
                        <a:buNone/>
                      </a:pPr>
                      <a:r>
                        <a:rPr lang="en-US" altLang="en-US" sz="1000" b="1" dirty="0">
                          <a:solidFill>
                            <a:srgbClr val="FFFFFF"/>
                          </a:solidFill>
                          <a:latin typeface="Calibri" pitchFamily="34" charset="0"/>
                          <a:ea typeface="Calibri" pitchFamily="34" charset="-122"/>
                          <a:cs typeface="Calibri" pitchFamily="34" charset="-120"/>
                        </a:rPr>
                        <a:t>(no. of lines)</a:t>
                      </a:r>
                      <a:endParaRPr lang="en-US" sz="10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Day</a:t>
                      </a:r>
                      <a:endParaRPr lang="en-US" sz="1000" dirty="0">
                        <a:latin typeface="Calibri" charset="0"/>
                        <a:ea typeface="Calibri" charset="0"/>
                        <a:cs typeface="Calibri" charset="0"/>
                      </a:endParaRPr>
                    </a:p>
                    <a:p>
                      <a:pPr algn="ctr" indent="0" marL="0">
                        <a:buNone/>
                      </a:pPr>
                      <a:r>
                        <a:rPr lang="en-US" altLang="en-US" sz="1000" b="1" dirty="0">
                          <a:solidFill>
                            <a:srgbClr val="FFFFFF"/>
                          </a:solidFill>
                          <a:latin typeface="Calibri" pitchFamily="34" charset="0"/>
                          <a:ea typeface="Calibri" pitchFamily="34" charset="-122"/>
                          <a:cs typeface="Calibri" pitchFamily="34" charset="-120"/>
                        </a:rPr>
                        <a:t>(no. of lines)</a:t>
                      </a:r>
                      <a:endParaRPr lang="en-US" sz="10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vMerge="1">
                  <a:tcPr/>
                </a:tc>
              </a:tr>
              <a:tr h="566928">
                <a:tc>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Beginner</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D9982B"/>
                    </a:solidFill>
                  </a:tcPr>
                </a:tc>
                <a:tc>
                  <a:txBody>
                    <a:bodyPr/>
                    <a:lstStyle/>
                    <a:p>
                      <a:pPr algn="ctr" indent="0" marL="0">
                        <a:buNone/>
                      </a:pPr>
                      <a:r>
                        <a:rPr lang="en-US" altLang="en-US" sz="1100" b="1" dirty="0">
                          <a:solidFill>
                            <a:srgbClr val="0B3B3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Alphabet reading</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(no. 60)</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(Sabbih)</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In class</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(group repetition)</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rowSpan="2">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Intermediate</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2E7BA6"/>
                    </a:solidFill>
                  </a:tcPr>
                </a:tc>
                <a:tc>
                  <a:txBody>
                    <a:bodyPr/>
                    <a:lstStyle/>
                    <a:p>
                      <a:pPr algn="ctr" indent="0" marL="0">
                        <a:buNone/>
                      </a:pPr>
                      <a:r>
                        <a:rPr lang="en-US" altLang="en-US" sz="1100" b="1" dirty="0">
                          <a:solidFill>
                            <a:srgbClr val="0B3B3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(Sabbih)</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(no. 59)</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(Amma)</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&lt; 1</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At home</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(semi-autonomous)</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vMerge="1">
                  <a:tcPr/>
                </a:tc>
                <a:tc>
                  <a:txBody>
                    <a:bodyPr/>
                    <a:lstStyle/>
                    <a:p>
                      <a:pPr algn="ctr" indent="0" marL="0">
                        <a:buNone/>
                      </a:pPr>
                      <a:r>
                        <a:rPr lang="en-US" altLang="en-US" sz="1100" b="1" dirty="0">
                          <a:solidFill>
                            <a:srgbClr val="0B3B3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(Amma)</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(no. 58 + 57)</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(Tabâraka)</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7-10</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&lt; 2</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At home (autonomous)</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rowSpan="3">
                  <a:txBody>
                    <a:bodyPr/>
                    <a:lstStyle/>
                    <a:p>
                      <a:pPr algn="ctr" indent="0" marL="0">
                        <a:buNone/>
                      </a:pPr>
                      <a:r>
                        <a:rPr lang="en-US" altLang="en-US" sz="1100" b="1" dirty="0">
                          <a:solidFill>
                            <a:srgbClr val="FFFFFF"/>
                          </a:solidFill>
                          <a:latin typeface="Calibri" pitchFamily="34" charset="0"/>
                          <a:ea typeface="Calibri" pitchFamily="34" charset="-122"/>
                          <a:cs typeface="Calibri" pitchFamily="34" charset="-120"/>
                        </a:rPr>
                        <a:t>Advanced</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9E3B4E"/>
                    </a:solidFill>
                  </a:tcPr>
                </a:tc>
                <a:tc>
                  <a:txBody>
                    <a:bodyPr/>
                    <a:lstStyle/>
                    <a:p>
                      <a:pPr algn="ctr" indent="0" marL="0">
                        <a:buNone/>
                      </a:pPr>
                      <a:r>
                        <a:rPr lang="en-US" altLang="en-US" sz="1100" b="1" dirty="0">
                          <a:solidFill>
                            <a:srgbClr val="0B3B3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(Tabâraka)</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(no. 56 - 52)</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(Addhariyât)</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15-20</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&lt; 3</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At home</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vMerge="1">
                  <a:tcPr/>
                </a:tc>
                <a:tc>
                  <a:txBody>
                    <a:bodyPr/>
                    <a:lstStyle/>
                    <a:p>
                      <a:pPr algn="ctr" indent="0" marL="0">
                        <a:buNone/>
                      </a:pPr>
                      <a:r>
                        <a:rPr lang="en-US" altLang="en-US" sz="1100" b="1" dirty="0">
                          <a:solidFill>
                            <a:srgbClr val="0B3B3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(Addhariyât)</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(no. 51 - 48)</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(Ashoûrâ)</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15-20</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&lt; 3</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At home</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vMerge="1">
                  <a:tcPr/>
                </a:tc>
                <a:tc>
                  <a:txBody>
                    <a:bodyPr/>
                    <a:lstStyle/>
                    <a:p>
                      <a:pPr algn="ctr" indent="0" marL="0">
                        <a:buNone/>
                      </a:pPr>
                      <a:r>
                        <a:rPr lang="en-US" altLang="en-US" sz="1100" b="1" dirty="0">
                          <a:solidFill>
                            <a:srgbClr val="0B3B3C"/>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(Ashoûrâ)</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(no. 47 - 44)</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p>
                      <a:pPr algn="ctr" indent="0" marL="0">
                        <a:buNone/>
                      </a:pPr>
                      <a:r>
                        <a:rPr lang="en-US" altLang="en-US" sz="1100" dirty="0">
                          <a:solidFill>
                            <a:srgbClr val="24403F"/>
                          </a:solidFill>
                          <a:latin typeface="Calibri" pitchFamily="34" charset="0"/>
                          <a:ea typeface="Calibri" pitchFamily="34" charset="-122"/>
                          <a:cs typeface="Calibri" pitchFamily="34" charset="-120"/>
                        </a:rPr>
                        <a:t>(Yâsîn)</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15-20</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&lt; 3</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1100" dirty="0">
                          <a:solidFill>
                            <a:srgbClr val="24403F"/>
                          </a:solidFill>
                          <a:latin typeface="Calibri" pitchFamily="34" charset="0"/>
                          <a:ea typeface="Calibri" pitchFamily="34" charset="-122"/>
                          <a:cs typeface="Calibri" pitchFamily="34" charset="-120"/>
                        </a:rPr>
                        <a:t>At home</a:t>
                      </a:r>
                      <a:endParaRPr lang="en-US" sz="1100" dirty="0">
                        <a:latin typeface="Calibri" charset="0"/>
                        <a:ea typeface="Calibri" charset="0"/>
                        <a:cs typeface="Calibri"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bl>
          </a:graphicData>
        </a:graphic>
      </p:graphicFrame>
      <p:sp>
        <p:nvSpPr>
          <p:cNvPr id="4" name="Text 1"/>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5" name="Text 2"/>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Recitation card</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137A7F"/>
                </a:solidFill>
                <a:latin typeface="Calibri" pitchFamily="34" charset="0"/>
                <a:ea typeface="Calibri" pitchFamily="34" charset="-122"/>
                <a:cs typeface="Calibri" pitchFamily="34" charset="-120"/>
              </a:rPr>
              <a:t>Implementation</a:t>
            </a:r>
            <a:endParaRPr lang="en-US" sz="1500" dirty="0"/>
          </a:p>
        </p:txBody>
      </p:sp>
      <p:sp>
        <p:nvSpPr>
          <p:cNvPr id="4" name="Shape 2"/>
          <p:cNvSpPr/>
          <p:nvPr/>
        </p:nvSpPr>
        <p:spPr>
          <a:xfrm>
            <a:off x="40370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1350112" y="2286000"/>
            <a:ext cx="713232" cy="713232"/>
          </a:xfrm>
          <a:prstGeom prst="ellipse">
            <a:avLst/>
          </a:prstGeom>
          <a:solidFill>
            <a:srgbClr val="137A7F"/>
          </a:solidFill>
          <a:ln w="12700">
            <a:solidFill>
              <a:srgbClr val="137A7F"/>
            </a:solidFill>
            <a:prstDash val="solid"/>
          </a:ln>
        </p:spPr>
      </p:sp>
      <p:sp>
        <p:nvSpPr>
          <p:cNvPr id="6" name="Text 4"/>
          <p:cNvSpPr/>
          <p:nvPr/>
        </p:nvSpPr>
        <p:spPr>
          <a:xfrm>
            <a:off x="135011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641452" y="3218688"/>
            <a:ext cx="2130552" cy="1463040"/>
          </a:xfrm>
          <a:prstGeom prst="rect">
            <a:avLst/>
          </a:prstGeom>
          <a:noFill/>
          <a:ln/>
        </p:spPr>
        <p:txBody>
          <a:bodyPr wrap="square" lIns="0" tIns="0" rIns="0" bIns="0" rtlCol="0" anchor="t"/>
          <a:lstStyle/>
          <a:p>
            <a:pPr algn="ctr" indent="0" marL="0">
              <a:buNone/>
            </a:pPr>
            <a:r>
              <a:rPr lang="en-US" altLang="en-US" sz="1400" dirty="0">
                <a:solidFill>
                  <a:srgbClr val="24403F"/>
                </a:solidFill>
                <a:latin typeface="Calibri" pitchFamily="34" charset="0"/>
                <a:ea typeface="Calibri" pitchFamily="34" charset="-122"/>
                <a:cs typeface="Calibri" pitchFamily="34" charset="-120"/>
              </a:rPr>
              <a:t>Record each student’s current progress (already done)</a:t>
            </a:r>
            <a:endParaRPr lang="en-US" sz="1400" dirty="0"/>
          </a:p>
        </p:txBody>
      </p:sp>
      <p:sp>
        <p:nvSpPr>
          <p:cNvPr id="8" name="Shape 6"/>
          <p:cNvSpPr/>
          <p:nvPr/>
        </p:nvSpPr>
        <p:spPr>
          <a:xfrm>
            <a:off x="332978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4276192" y="2286000"/>
            <a:ext cx="713232" cy="713232"/>
          </a:xfrm>
          <a:prstGeom prst="ellipse">
            <a:avLst/>
          </a:prstGeom>
          <a:solidFill>
            <a:srgbClr val="D9982B"/>
          </a:solidFill>
          <a:ln w="12700">
            <a:solidFill>
              <a:srgbClr val="D9982B"/>
            </a:solidFill>
            <a:prstDash val="solid"/>
          </a:ln>
        </p:spPr>
      </p:sp>
      <p:sp>
        <p:nvSpPr>
          <p:cNvPr id="10" name="Text 8"/>
          <p:cNvSpPr/>
          <p:nvPr/>
        </p:nvSpPr>
        <p:spPr>
          <a:xfrm>
            <a:off x="427619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3567532" y="3218688"/>
            <a:ext cx="2130552" cy="1463040"/>
          </a:xfrm>
          <a:prstGeom prst="rect">
            <a:avLst/>
          </a:prstGeom>
          <a:noFill/>
          <a:ln/>
        </p:spPr>
        <p:txBody>
          <a:bodyPr wrap="square" lIns="0" tIns="0" rIns="0" bIns="0" rtlCol="0" anchor="t"/>
          <a:lstStyle/>
          <a:p>
            <a:pPr algn="ctr" indent="0" marL="0">
              <a:buNone/>
            </a:pPr>
            <a:r>
              <a:rPr lang="en-US" altLang="en-US" sz="1400" dirty="0">
                <a:solidFill>
                  <a:srgbClr val="24403F"/>
                </a:solidFill>
                <a:latin typeface="Calibri" pitchFamily="34" charset="0"/>
                <a:ea typeface="Calibri" pitchFamily="34" charset="-122"/>
                <a:cs typeface="Calibri" pitchFamily="34" charset="-120"/>
              </a:rPr>
              <a:t>Assign cards according to “hifdh” levels</a:t>
            </a:r>
            <a:endParaRPr lang="en-US" sz="1400" dirty="0"/>
          </a:p>
        </p:txBody>
      </p:sp>
      <p:sp>
        <p:nvSpPr>
          <p:cNvPr id="12" name="Shape 10"/>
          <p:cNvSpPr/>
          <p:nvPr/>
        </p:nvSpPr>
        <p:spPr>
          <a:xfrm>
            <a:off x="625586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7202272" y="2286000"/>
            <a:ext cx="713232" cy="713232"/>
          </a:xfrm>
          <a:prstGeom prst="ellipse">
            <a:avLst/>
          </a:prstGeom>
          <a:solidFill>
            <a:srgbClr val="2E7BA6"/>
          </a:solidFill>
          <a:ln w="12700">
            <a:solidFill>
              <a:srgbClr val="2E7BA6"/>
            </a:solidFill>
            <a:prstDash val="solid"/>
          </a:ln>
        </p:spPr>
      </p:sp>
      <p:sp>
        <p:nvSpPr>
          <p:cNvPr id="14" name="Text 12"/>
          <p:cNvSpPr/>
          <p:nvPr/>
        </p:nvSpPr>
        <p:spPr>
          <a:xfrm>
            <a:off x="720227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Text 13"/>
          <p:cNvSpPr/>
          <p:nvPr/>
        </p:nvSpPr>
        <p:spPr>
          <a:xfrm>
            <a:off x="6493612" y="3218688"/>
            <a:ext cx="2130552" cy="1463040"/>
          </a:xfrm>
          <a:prstGeom prst="rect">
            <a:avLst/>
          </a:prstGeom>
          <a:noFill/>
          <a:ln/>
        </p:spPr>
        <p:txBody>
          <a:bodyPr wrap="square" lIns="0" tIns="0" rIns="0" bIns="0" rtlCol="0" anchor="t"/>
          <a:lstStyle/>
          <a:p>
            <a:pPr algn="ctr" indent="0" marL="0">
              <a:buNone/>
            </a:pPr>
            <a:r>
              <a:rPr lang="en-US" altLang="en-US" sz="1400" dirty="0">
                <a:solidFill>
                  <a:srgbClr val="24403F"/>
                </a:solidFill>
                <a:latin typeface="Calibri" pitchFamily="34" charset="0"/>
                <a:ea typeface="Calibri" pitchFamily="34" charset="-122"/>
                <a:cs typeface="Calibri" pitchFamily="34" charset="-120"/>
              </a:rPr>
              <a:t>Set up an individualised revision / catch-up programme</a:t>
            </a:r>
            <a:endParaRPr lang="en-US" sz="1400" dirty="0"/>
          </a:p>
        </p:txBody>
      </p:sp>
      <p:sp>
        <p:nvSpPr>
          <p:cNvPr id="16" name="Shape 14"/>
          <p:cNvSpPr/>
          <p:nvPr/>
        </p:nvSpPr>
        <p:spPr>
          <a:xfrm>
            <a:off x="918194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17" name="Shape 15"/>
          <p:cNvSpPr/>
          <p:nvPr/>
        </p:nvSpPr>
        <p:spPr>
          <a:xfrm>
            <a:off x="10128352" y="2286000"/>
            <a:ext cx="713232" cy="713232"/>
          </a:xfrm>
          <a:prstGeom prst="ellipse">
            <a:avLst/>
          </a:prstGeom>
          <a:solidFill>
            <a:srgbClr val="9E3B4E"/>
          </a:solidFill>
          <a:ln w="12700">
            <a:solidFill>
              <a:srgbClr val="9E3B4E"/>
            </a:solidFill>
            <a:prstDash val="solid"/>
          </a:ln>
        </p:spPr>
      </p:sp>
      <p:sp>
        <p:nvSpPr>
          <p:cNvPr id="18" name="Text 16"/>
          <p:cNvSpPr/>
          <p:nvPr/>
        </p:nvSpPr>
        <p:spPr>
          <a:xfrm>
            <a:off x="1012835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Text 17"/>
          <p:cNvSpPr/>
          <p:nvPr/>
        </p:nvSpPr>
        <p:spPr>
          <a:xfrm>
            <a:off x="9419692" y="3218688"/>
            <a:ext cx="2130552" cy="1463040"/>
          </a:xfrm>
          <a:prstGeom prst="rect">
            <a:avLst/>
          </a:prstGeom>
          <a:noFill/>
          <a:ln/>
        </p:spPr>
        <p:txBody>
          <a:bodyPr wrap="square" lIns="0" tIns="0" rIns="0" bIns="0" rtlCol="0" anchor="t"/>
          <a:lstStyle/>
          <a:p>
            <a:pPr algn="ctr" indent="0" marL="0">
              <a:buNone/>
            </a:pPr>
            <a:r>
              <a:rPr lang="en-US" altLang="en-US" sz="1400" dirty="0">
                <a:solidFill>
                  <a:srgbClr val="24403F"/>
                </a:solidFill>
                <a:latin typeface="Calibri" pitchFamily="34" charset="0"/>
                <a:ea typeface="Calibri" pitchFamily="34" charset="-122"/>
                <a:cs typeface="Calibri" pitchFamily="34" charset="-120"/>
              </a:rPr>
              <a:t>Tailor-made card for atypical students</a:t>
            </a:r>
            <a:endParaRPr lang="en-US" sz="1400" dirty="0"/>
          </a:p>
        </p:txBody>
      </p:sp>
      <p:sp>
        <p:nvSpPr>
          <p:cNvPr id="20" name="Text 18"/>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21" name="Text 19"/>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Course organisation</a:t>
            </a:r>
            <a:endParaRPr lang="en-US" sz="3200" dirty="0"/>
          </a:p>
        </p:txBody>
      </p:sp>
      <p:graphicFrame>
        <p:nvGraphicFramePr>
          <p:cNvPr id="3" name="Chart 0" descr=""/>
          <p:cNvGraphicFramePr/>
          <p:nvPr/>
        </p:nvGraphicFramePr>
        <p:xfrm>
          <a:off x="502920" y="1554480"/>
          <a:ext cx="438912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120640" y="1664208"/>
            <a:ext cx="6510528" cy="566928"/>
          </a:xfrm>
          <a:prstGeom prst="roundRect">
            <a:avLst>
              <a:gd name="adj" fmla="val 16129"/>
            </a:avLst>
          </a:prstGeom>
          <a:solidFill>
            <a:srgbClr val="EAF4F2"/>
          </a:solidFill>
          <a:ln w="12700">
            <a:solidFill>
              <a:srgbClr val="D5E7E4"/>
            </a:solidFill>
            <a:prstDash val="solid"/>
          </a:ln>
        </p:spPr>
      </p:sp>
      <p:sp>
        <p:nvSpPr>
          <p:cNvPr id="5" name="Shape 2"/>
          <p:cNvSpPr/>
          <p:nvPr/>
        </p:nvSpPr>
        <p:spPr>
          <a:xfrm>
            <a:off x="5321808" y="1837944"/>
            <a:ext cx="219456" cy="219456"/>
          </a:xfrm>
          <a:prstGeom prst="ellipse">
            <a:avLst/>
          </a:prstGeom>
          <a:solidFill>
            <a:srgbClr val="137A7F"/>
          </a:solidFill>
          <a:ln w="12700">
            <a:solidFill>
              <a:srgbClr val="137A7F"/>
            </a:solidFill>
            <a:prstDash val="solid"/>
          </a:ln>
        </p:spPr>
      </p:sp>
      <p:sp>
        <p:nvSpPr>
          <p:cNvPr id="6" name="Text 3"/>
          <p:cNvSpPr/>
          <p:nvPr/>
        </p:nvSpPr>
        <p:spPr>
          <a:xfrm>
            <a:off x="5687568" y="1664208"/>
            <a:ext cx="4572000" cy="566928"/>
          </a:xfrm>
          <a:prstGeom prst="rect">
            <a:avLst/>
          </a:prstGeom>
          <a:noFill/>
          <a:ln/>
        </p:spPr>
        <p:txBody>
          <a:bodyPr wrap="square" lIns="0" tIns="0" rIns="0" bIns="0" rtlCol="0" anchor="ctr"/>
          <a:lstStyle/>
          <a:p>
            <a:pPr algn="l" indent="0" marL="0">
              <a:buNone/>
            </a:pPr>
            <a:r>
              <a:rPr lang="en-US" altLang="en-US" sz="1400" b="1" dirty="0">
                <a:solidFill>
                  <a:srgbClr val="0B3B3C"/>
                </a:solidFill>
                <a:latin typeface="Calibri" pitchFamily="34" charset="0"/>
                <a:ea typeface="Calibri" pitchFamily="34" charset="-122"/>
                <a:cs typeface="Calibri" pitchFamily="34" charset="-120"/>
              </a:rPr>
              <a:t>Recitation (40%)</a:t>
            </a:r>
            <a:endParaRPr lang="en-US" sz="1400" dirty="0"/>
          </a:p>
        </p:txBody>
      </p:sp>
      <p:sp>
        <p:nvSpPr>
          <p:cNvPr id="7" name="Text 4"/>
          <p:cNvSpPr/>
          <p:nvPr/>
        </p:nvSpPr>
        <p:spPr>
          <a:xfrm>
            <a:off x="10241280" y="1664208"/>
            <a:ext cx="1188720" cy="566928"/>
          </a:xfrm>
          <a:prstGeom prst="rect">
            <a:avLst/>
          </a:prstGeom>
          <a:noFill/>
          <a:ln/>
        </p:spPr>
        <p:txBody>
          <a:bodyPr wrap="square" lIns="0" tIns="0" rIns="0" bIns="0" rtlCol="0" anchor="ctr"/>
          <a:lstStyle/>
          <a:p>
            <a:pPr algn="r" indent="0" marL="0">
              <a:buNone/>
            </a:pPr>
            <a:r>
              <a:rPr lang="en-US" altLang="en-US" sz="1300" b="1" dirty="0">
                <a:solidFill>
                  <a:srgbClr val="137A7F"/>
                </a:solidFill>
                <a:latin typeface="Calibri" pitchFamily="34" charset="0"/>
                <a:ea typeface="Calibri" pitchFamily="34" charset="-122"/>
                <a:cs typeface="Calibri" pitchFamily="34" charset="-120"/>
              </a:rPr>
              <a:t>Sunday</a:t>
            </a:r>
            <a:endParaRPr lang="en-US" sz="1300" dirty="0"/>
          </a:p>
        </p:txBody>
      </p:sp>
      <p:sp>
        <p:nvSpPr>
          <p:cNvPr id="8" name="Shape 5"/>
          <p:cNvSpPr/>
          <p:nvPr/>
        </p:nvSpPr>
        <p:spPr>
          <a:xfrm>
            <a:off x="5120640" y="2322576"/>
            <a:ext cx="6510528" cy="566928"/>
          </a:xfrm>
          <a:prstGeom prst="roundRect">
            <a:avLst>
              <a:gd name="adj" fmla="val 16129"/>
            </a:avLst>
          </a:prstGeom>
          <a:solidFill>
            <a:srgbClr val="EAF4F2"/>
          </a:solidFill>
          <a:ln w="12700">
            <a:solidFill>
              <a:srgbClr val="D5E7E4"/>
            </a:solidFill>
            <a:prstDash val="solid"/>
          </a:ln>
        </p:spPr>
      </p:sp>
      <p:sp>
        <p:nvSpPr>
          <p:cNvPr id="9" name="Shape 6"/>
          <p:cNvSpPr/>
          <p:nvPr/>
        </p:nvSpPr>
        <p:spPr>
          <a:xfrm>
            <a:off x="5321808" y="2496312"/>
            <a:ext cx="219456" cy="219456"/>
          </a:xfrm>
          <a:prstGeom prst="ellipse">
            <a:avLst/>
          </a:prstGeom>
          <a:solidFill>
            <a:srgbClr val="D9982B"/>
          </a:solidFill>
          <a:ln w="12700">
            <a:solidFill>
              <a:srgbClr val="D9982B"/>
            </a:solidFill>
            <a:prstDash val="solid"/>
          </a:ln>
        </p:spPr>
      </p:sp>
      <p:sp>
        <p:nvSpPr>
          <p:cNvPr id="10" name="Text 7"/>
          <p:cNvSpPr/>
          <p:nvPr/>
        </p:nvSpPr>
        <p:spPr>
          <a:xfrm>
            <a:off x="5687568" y="2322576"/>
            <a:ext cx="4572000" cy="566928"/>
          </a:xfrm>
          <a:prstGeom prst="rect">
            <a:avLst/>
          </a:prstGeom>
          <a:noFill/>
          <a:ln/>
        </p:spPr>
        <p:txBody>
          <a:bodyPr wrap="square" lIns="0" tIns="0" rIns="0" bIns="0" rtlCol="0" anchor="ctr"/>
          <a:lstStyle/>
          <a:p>
            <a:pPr algn="l" indent="0" marL="0">
              <a:buNone/>
            </a:pPr>
            <a:r>
              <a:rPr lang="en-US" altLang="en-US" sz="1400" b="1" dirty="0">
                <a:solidFill>
                  <a:srgbClr val="0B3B3C"/>
                </a:solidFill>
                <a:latin typeface="Calibri" pitchFamily="34" charset="0"/>
                <a:ea typeface="Calibri" pitchFamily="34" charset="-122"/>
                <a:cs typeface="Calibri" pitchFamily="34" charset="-120"/>
              </a:rPr>
              <a:t>Revision (30%)</a:t>
            </a:r>
            <a:endParaRPr lang="en-US" sz="1400" dirty="0"/>
          </a:p>
        </p:txBody>
      </p:sp>
      <p:sp>
        <p:nvSpPr>
          <p:cNvPr id="11" name="Text 8"/>
          <p:cNvSpPr/>
          <p:nvPr/>
        </p:nvSpPr>
        <p:spPr>
          <a:xfrm>
            <a:off x="10241280" y="2322576"/>
            <a:ext cx="1188720" cy="566928"/>
          </a:xfrm>
          <a:prstGeom prst="rect">
            <a:avLst/>
          </a:prstGeom>
          <a:noFill/>
          <a:ln/>
        </p:spPr>
        <p:txBody>
          <a:bodyPr wrap="square" lIns="0" tIns="0" rIns="0" bIns="0" rtlCol="0" anchor="ctr"/>
          <a:lstStyle/>
          <a:p>
            <a:pPr algn="r" indent="0" marL="0">
              <a:buNone/>
            </a:pPr>
            <a:r>
              <a:rPr lang="en-US" altLang="en-US" sz="1300" b="1" dirty="0">
                <a:solidFill>
                  <a:srgbClr val="D9982B"/>
                </a:solidFill>
                <a:latin typeface="Calibri" pitchFamily="34" charset="0"/>
                <a:ea typeface="Calibri" pitchFamily="34" charset="-122"/>
                <a:cs typeface="Calibri" pitchFamily="34" charset="-120"/>
              </a:rPr>
              <a:t>Wednesday</a:t>
            </a:r>
            <a:endParaRPr lang="en-US" sz="1300" dirty="0"/>
          </a:p>
        </p:txBody>
      </p:sp>
      <p:sp>
        <p:nvSpPr>
          <p:cNvPr id="12" name="Shape 9"/>
          <p:cNvSpPr/>
          <p:nvPr/>
        </p:nvSpPr>
        <p:spPr>
          <a:xfrm>
            <a:off x="5120640" y="2980944"/>
            <a:ext cx="6510528" cy="566928"/>
          </a:xfrm>
          <a:prstGeom prst="roundRect">
            <a:avLst>
              <a:gd name="adj" fmla="val 16129"/>
            </a:avLst>
          </a:prstGeom>
          <a:solidFill>
            <a:srgbClr val="EAF4F2"/>
          </a:solidFill>
          <a:ln w="12700">
            <a:solidFill>
              <a:srgbClr val="D5E7E4"/>
            </a:solidFill>
            <a:prstDash val="solid"/>
          </a:ln>
        </p:spPr>
      </p:sp>
      <p:sp>
        <p:nvSpPr>
          <p:cNvPr id="13" name="Shape 10"/>
          <p:cNvSpPr/>
          <p:nvPr/>
        </p:nvSpPr>
        <p:spPr>
          <a:xfrm>
            <a:off x="5321808" y="3154680"/>
            <a:ext cx="219456" cy="219456"/>
          </a:xfrm>
          <a:prstGeom prst="ellipse">
            <a:avLst/>
          </a:prstGeom>
          <a:solidFill>
            <a:srgbClr val="2E7BA6"/>
          </a:solidFill>
          <a:ln w="12700">
            <a:solidFill>
              <a:srgbClr val="2E7BA6"/>
            </a:solidFill>
            <a:prstDash val="solid"/>
          </a:ln>
        </p:spPr>
      </p:sp>
      <p:sp>
        <p:nvSpPr>
          <p:cNvPr id="14" name="Text 11"/>
          <p:cNvSpPr/>
          <p:nvPr/>
        </p:nvSpPr>
        <p:spPr>
          <a:xfrm>
            <a:off x="5687568" y="2980944"/>
            <a:ext cx="4572000" cy="566928"/>
          </a:xfrm>
          <a:prstGeom prst="rect">
            <a:avLst/>
          </a:prstGeom>
          <a:noFill/>
          <a:ln/>
        </p:spPr>
        <p:txBody>
          <a:bodyPr wrap="square" lIns="0" tIns="0" rIns="0" bIns="0" rtlCol="0" anchor="ctr"/>
          <a:lstStyle/>
          <a:p>
            <a:pPr algn="l" indent="0" marL="0">
              <a:buNone/>
            </a:pPr>
            <a:r>
              <a:rPr lang="en-US" altLang="en-US" sz="1400" b="1" dirty="0">
                <a:solidFill>
                  <a:srgbClr val="0B3B3C"/>
                </a:solidFill>
                <a:latin typeface="Calibri" pitchFamily="34" charset="0"/>
                <a:ea typeface="Calibri" pitchFamily="34" charset="-122"/>
                <a:cs typeface="Calibri" pitchFamily="34" charset="-120"/>
              </a:rPr>
              <a:t>Reading improvement / tajwîd (20%)</a:t>
            </a:r>
            <a:endParaRPr lang="en-US" sz="1400" dirty="0"/>
          </a:p>
        </p:txBody>
      </p:sp>
      <p:sp>
        <p:nvSpPr>
          <p:cNvPr id="15" name="Text 12"/>
          <p:cNvSpPr/>
          <p:nvPr/>
        </p:nvSpPr>
        <p:spPr>
          <a:xfrm>
            <a:off x="10241280" y="2980944"/>
            <a:ext cx="1188720" cy="566928"/>
          </a:xfrm>
          <a:prstGeom prst="rect">
            <a:avLst/>
          </a:prstGeom>
          <a:noFill/>
          <a:ln/>
        </p:spPr>
        <p:txBody>
          <a:bodyPr wrap="square" lIns="0" tIns="0" rIns="0" bIns="0" rtlCol="0" anchor="ctr"/>
          <a:lstStyle/>
          <a:p>
            <a:pPr algn="r" indent="0" marL="0">
              <a:buNone/>
            </a:pPr>
            <a:r>
              <a:rPr lang="en-US" altLang="en-US" sz="1300" b="1" dirty="0">
                <a:solidFill>
                  <a:srgbClr val="2E7BA6"/>
                </a:solidFill>
                <a:latin typeface="Calibri" pitchFamily="34" charset="0"/>
                <a:ea typeface="Calibri" pitchFamily="34" charset="-122"/>
                <a:cs typeface="Calibri" pitchFamily="34" charset="-120"/>
              </a:rPr>
              <a:t>Wednesday</a:t>
            </a:r>
            <a:endParaRPr lang="en-US" sz="1300" dirty="0"/>
          </a:p>
        </p:txBody>
      </p:sp>
      <p:sp>
        <p:nvSpPr>
          <p:cNvPr id="16" name="Shape 13"/>
          <p:cNvSpPr/>
          <p:nvPr/>
        </p:nvSpPr>
        <p:spPr>
          <a:xfrm>
            <a:off x="5120640" y="3639312"/>
            <a:ext cx="6510528" cy="566928"/>
          </a:xfrm>
          <a:prstGeom prst="roundRect">
            <a:avLst>
              <a:gd name="adj" fmla="val 16129"/>
            </a:avLst>
          </a:prstGeom>
          <a:solidFill>
            <a:srgbClr val="EAF4F2"/>
          </a:solidFill>
          <a:ln w="12700">
            <a:solidFill>
              <a:srgbClr val="D5E7E4"/>
            </a:solidFill>
            <a:prstDash val="solid"/>
          </a:ln>
        </p:spPr>
      </p:sp>
      <p:sp>
        <p:nvSpPr>
          <p:cNvPr id="17" name="Shape 14"/>
          <p:cNvSpPr/>
          <p:nvPr/>
        </p:nvSpPr>
        <p:spPr>
          <a:xfrm>
            <a:off x="5321808" y="3813048"/>
            <a:ext cx="219456" cy="219456"/>
          </a:xfrm>
          <a:prstGeom prst="ellipse">
            <a:avLst/>
          </a:prstGeom>
          <a:solidFill>
            <a:srgbClr val="9E3B4E"/>
          </a:solidFill>
          <a:ln w="12700">
            <a:solidFill>
              <a:srgbClr val="9E3B4E"/>
            </a:solidFill>
            <a:prstDash val="solid"/>
          </a:ln>
        </p:spPr>
      </p:sp>
      <p:sp>
        <p:nvSpPr>
          <p:cNvPr id="18" name="Text 15"/>
          <p:cNvSpPr/>
          <p:nvPr/>
        </p:nvSpPr>
        <p:spPr>
          <a:xfrm>
            <a:off x="5687568" y="3639312"/>
            <a:ext cx="4572000" cy="566928"/>
          </a:xfrm>
          <a:prstGeom prst="rect">
            <a:avLst/>
          </a:prstGeom>
          <a:noFill/>
          <a:ln/>
        </p:spPr>
        <p:txBody>
          <a:bodyPr wrap="square" lIns="0" tIns="0" rIns="0" bIns="0" rtlCol="0" anchor="ctr"/>
          <a:lstStyle/>
          <a:p>
            <a:pPr algn="l" indent="0" marL="0">
              <a:buNone/>
            </a:pPr>
            <a:r>
              <a:rPr lang="en-US" altLang="en-US" sz="1400" b="1" dirty="0">
                <a:solidFill>
                  <a:srgbClr val="0B3B3C"/>
                </a:solidFill>
                <a:latin typeface="Calibri" pitchFamily="34" charset="0"/>
                <a:ea typeface="Calibri" pitchFamily="34" charset="-122"/>
                <a:cs typeface="Calibri" pitchFamily="34" charset="-120"/>
              </a:rPr>
              <a:t>Islamic education and Qur’anic sciences (10%)</a:t>
            </a:r>
            <a:endParaRPr lang="en-US" sz="1400" dirty="0"/>
          </a:p>
        </p:txBody>
      </p:sp>
      <p:sp>
        <p:nvSpPr>
          <p:cNvPr id="19" name="Text 16"/>
          <p:cNvSpPr/>
          <p:nvPr/>
        </p:nvSpPr>
        <p:spPr>
          <a:xfrm>
            <a:off x="10241280" y="3639312"/>
            <a:ext cx="1188720" cy="566928"/>
          </a:xfrm>
          <a:prstGeom prst="rect">
            <a:avLst/>
          </a:prstGeom>
          <a:noFill/>
          <a:ln/>
        </p:spPr>
        <p:txBody>
          <a:bodyPr wrap="square" lIns="0" tIns="0" rIns="0" bIns="0" rtlCol="0" anchor="ctr"/>
          <a:lstStyle/>
          <a:p>
            <a:pPr algn="r" indent="0" marL="0">
              <a:buNone/>
            </a:pPr>
            <a:r>
              <a:rPr lang="en-US" altLang="en-US" sz="1300" b="1" dirty="0">
                <a:solidFill>
                  <a:srgbClr val="9E3B4E"/>
                </a:solidFill>
                <a:latin typeface="Calibri" pitchFamily="34" charset="0"/>
                <a:ea typeface="Calibri" pitchFamily="34" charset="-122"/>
                <a:cs typeface="Calibri" pitchFamily="34" charset="-120"/>
              </a:rPr>
              <a:t>Wednesday</a:t>
            </a:r>
            <a:endParaRPr lang="en-US" sz="1300" dirty="0"/>
          </a:p>
        </p:txBody>
      </p:sp>
      <p:sp>
        <p:nvSpPr>
          <p:cNvPr id="20" name="Shape 17"/>
          <p:cNvSpPr/>
          <p:nvPr/>
        </p:nvSpPr>
        <p:spPr>
          <a:xfrm>
            <a:off x="5120640" y="4370832"/>
            <a:ext cx="6510528" cy="1207008"/>
          </a:xfrm>
          <a:prstGeom prst="roundRect">
            <a:avLst>
              <a:gd name="adj" fmla="val 9091"/>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21" name="Text 18"/>
          <p:cNvSpPr/>
          <p:nvPr/>
        </p:nvSpPr>
        <p:spPr>
          <a:xfrm>
            <a:off x="5440680" y="4553712"/>
            <a:ext cx="5943600" cy="1143000"/>
          </a:xfrm>
          <a:prstGeom prst="rect">
            <a:avLst/>
          </a:prstGeom>
          <a:noFill/>
          <a:ln/>
        </p:spPr>
        <p:txBody>
          <a:bodyPr wrap="square" lIns="0" tIns="0" rIns="0" bIns="0" rtlCol="0" anchor="t"/>
          <a:lstStyle/>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Beginner: Names of Allah / Invocations</a:t>
            </a:r>
            <a:endParaRPr lang="en-US" sz="1300" dirty="0"/>
          </a:p>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Intermediate: Context of the revelation / Value and merits of the Qur’an</a:t>
            </a:r>
            <a:endParaRPr lang="en-US" sz="1300" dirty="0"/>
          </a:p>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Advanced: Context of the revelation / Qur’anic ethics and morality</a:t>
            </a:r>
            <a:endParaRPr lang="en-US" sz="1300" dirty="0"/>
          </a:p>
        </p:txBody>
      </p:sp>
      <p:sp>
        <p:nvSpPr>
          <p:cNvPr id="22" name="Text 19"/>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23" name="Text 20"/>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Course organisation</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D9982B"/>
                </a:solidFill>
                <a:latin typeface="Calibri" pitchFamily="34" charset="0"/>
                <a:ea typeface="Calibri" pitchFamily="34" charset="-122"/>
                <a:cs typeface="Calibri" pitchFamily="34" charset="-120"/>
              </a:rPr>
              <a:t>“Beginner” level</a:t>
            </a:r>
            <a:endParaRPr lang="en-US" sz="1500" dirty="0"/>
          </a:p>
        </p:txBody>
      </p:sp>
      <p:sp>
        <p:nvSpPr>
          <p:cNvPr id="4" name="Shape 2"/>
          <p:cNvSpPr/>
          <p:nvPr/>
        </p:nvSpPr>
        <p:spPr>
          <a:xfrm>
            <a:off x="566928" y="1627632"/>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841248" y="1892808"/>
            <a:ext cx="182880" cy="182880"/>
          </a:xfrm>
          <a:prstGeom prst="ellipse">
            <a:avLst/>
          </a:prstGeom>
          <a:solidFill>
            <a:srgbClr val="D9982B"/>
          </a:solidFill>
          <a:ln w="12700">
            <a:solidFill>
              <a:srgbClr val="D9982B"/>
            </a:solidFill>
            <a:prstDash val="solid"/>
          </a:ln>
        </p:spPr>
      </p:sp>
      <p:sp>
        <p:nvSpPr>
          <p:cNvPr id="6" name="Text 4"/>
          <p:cNvSpPr/>
          <p:nvPr/>
        </p:nvSpPr>
        <p:spPr>
          <a:xfrm>
            <a:off x="1133856" y="1773936"/>
            <a:ext cx="4544568" cy="411480"/>
          </a:xfrm>
          <a:prstGeom prst="rect">
            <a:avLst/>
          </a:prstGeom>
          <a:noFill/>
          <a:ln/>
        </p:spPr>
        <p:txBody>
          <a:bodyPr wrap="square" lIns="0" tIns="0" rIns="0" bIns="0" rtlCol="0" anchor="ctr"/>
          <a:lstStyle/>
          <a:p>
            <a:pPr algn="l" indent="0" marL="0">
              <a:buNone/>
            </a:pPr>
            <a:r>
              <a:rPr lang="en-US" altLang="en-US" sz="1600" b="1" dirty="0">
                <a:solidFill>
                  <a:srgbClr val="0B3B3C"/>
                </a:solidFill>
                <a:latin typeface="Cambria" pitchFamily="34" charset="0"/>
                <a:ea typeface="Cambria" pitchFamily="34" charset="-122"/>
                <a:cs typeface="Cambria" pitchFamily="34" charset="-120"/>
              </a:rPr>
              <a:t>Objectives</a:t>
            </a:r>
            <a:endParaRPr lang="en-US" sz="1600" dirty="0"/>
          </a:p>
        </p:txBody>
      </p:sp>
      <p:sp>
        <p:nvSpPr>
          <p:cNvPr id="7" name="Text 5"/>
          <p:cNvSpPr/>
          <p:nvPr/>
        </p:nvSpPr>
        <p:spPr>
          <a:xfrm>
            <a:off x="1133856" y="2231136"/>
            <a:ext cx="4498848" cy="1335024"/>
          </a:xfrm>
          <a:prstGeom prst="rect">
            <a:avLst/>
          </a:prstGeom>
          <a:noFill/>
          <a:ln/>
        </p:spPr>
        <p:txBody>
          <a:bodyPr wrap="square" lIns="0" tIns="0" rIns="0" bIns="0" rtlCol="0" anchor="t"/>
          <a:lstStyle/>
          <a:p>
            <a:pPr algn="l" marL="342900" indent="-342900">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Qur’an</a:t>
            </a:r>
            <a:endParaRPr lang="en-US" sz="1250" dirty="0"/>
          </a:p>
          <a:p>
            <a:pPr algn="l" lvl="1" marL="685800" indent="-342900">
              <a:spcAft>
                <a:spcPts val="300"/>
              </a:spcAft>
              <a:buSzPct val="100000"/>
              <a:buChar char="▪"/>
            </a:pPr>
            <a:r>
              <a:rPr lang="en-US" altLang="en-US" sz="1050" dirty="0">
                <a:solidFill>
                  <a:srgbClr val="5F7574"/>
                </a:solidFill>
                <a:latin typeface="Calibri" pitchFamily="34" charset="0"/>
                <a:ea typeface="Calibri" pitchFamily="34" charset="-122"/>
                <a:cs typeface="Calibri" pitchFamily="34" charset="-120"/>
              </a:rPr>
              <a:t>Learn hizb “Sabbih” (no. 60)</a:t>
            </a:r>
            <a:endParaRPr lang="en-US" sz="1250" dirty="0"/>
          </a:p>
          <a:p>
            <a:pPr algn="l" marL="342900" indent="-342900">
              <a:spcBef>
                <a:spcPts val="500"/>
              </a:spcBef>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Method</a:t>
            </a:r>
            <a:endParaRPr lang="en-US" sz="1250" dirty="0"/>
          </a:p>
          <a:p>
            <a:pPr algn="l" lvl="1" marL="685800" indent="-342900">
              <a:spcAft>
                <a:spcPts val="300"/>
              </a:spcAft>
              <a:buSzPct val="100000"/>
              <a:buChar char="▪"/>
            </a:pPr>
            <a:r>
              <a:rPr lang="en-US" altLang="en-US" sz="1050" dirty="0">
                <a:solidFill>
                  <a:srgbClr val="5F7574"/>
                </a:solidFill>
                <a:latin typeface="Calibri" pitchFamily="34" charset="0"/>
                <a:ea typeface="Calibri" pitchFamily="34" charset="-122"/>
                <a:cs typeface="Calibri" pitchFamily="34" charset="-120"/>
              </a:rPr>
              <a:t>Acquiring reading (syllabic method “An-Nourâniyyâ”)</a:t>
            </a:r>
            <a:endParaRPr lang="en-US" sz="1250" dirty="0"/>
          </a:p>
          <a:p>
            <a:pPr algn="l" lvl="1" marL="685800" indent="-342900">
              <a:spcAft>
                <a:spcPts val="300"/>
              </a:spcAft>
              <a:buSzPct val="100000"/>
              <a:buChar char="▪"/>
            </a:pPr>
            <a:r>
              <a:rPr lang="en-US" altLang="en-US" sz="1050" dirty="0">
                <a:solidFill>
                  <a:srgbClr val="5F7574"/>
                </a:solidFill>
                <a:latin typeface="Calibri" pitchFamily="34" charset="0"/>
                <a:ea typeface="Calibri" pitchFamily="34" charset="-122"/>
                <a:cs typeface="Calibri" pitchFamily="34" charset="-120"/>
              </a:rPr>
              <a:t>Gradual acquisition of learning autonomy</a:t>
            </a:r>
            <a:endParaRPr lang="en-US" sz="1250" dirty="0"/>
          </a:p>
        </p:txBody>
      </p:sp>
      <p:sp>
        <p:nvSpPr>
          <p:cNvPr id="8" name="Shape 6"/>
          <p:cNvSpPr/>
          <p:nvPr/>
        </p:nvSpPr>
        <p:spPr>
          <a:xfrm>
            <a:off x="6245352" y="1627632"/>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6519672" y="1892808"/>
            <a:ext cx="182880" cy="182880"/>
          </a:xfrm>
          <a:prstGeom prst="ellipse">
            <a:avLst/>
          </a:prstGeom>
          <a:solidFill>
            <a:srgbClr val="D9982B"/>
          </a:solidFill>
          <a:ln w="12700">
            <a:solidFill>
              <a:srgbClr val="D9982B"/>
            </a:solidFill>
            <a:prstDash val="solid"/>
          </a:ln>
        </p:spPr>
      </p:sp>
      <p:sp>
        <p:nvSpPr>
          <p:cNvPr id="10" name="Text 8"/>
          <p:cNvSpPr/>
          <p:nvPr/>
        </p:nvSpPr>
        <p:spPr>
          <a:xfrm>
            <a:off x="6812280" y="1773936"/>
            <a:ext cx="4544568" cy="411480"/>
          </a:xfrm>
          <a:prstGeom prst="rect">
            <a:avLst/>
          </a:prstGeom>
          <a:noFill/>
          <a:ln/>
        </p:spPr>
        <p:txBody>
          <a:bodyPr wrap="square" lIns="0" tIns="0" rIns="0" bIns="0" rtlCol="0" anchor="ctr"/>
          <a:lstStyle/>
          <a:p>
            <a:pPr algn="l" indent="0" marL="0">
              <a:buNone/>
            </a:pPr>
            <a:r>
              <a:rPr lang="en-US" altLang="en-US" sz="1600" b="1" dirty="0">
                <a:solidFill>
                  <a:srgbClr val="0B3B3C"/>
                </a:solidFill>
                <a:latin typeface="Cambria" pitchFamily="34" charset="0"/>
                <a:ea typeface="Cambria" pitchFamily="34" charset="-122"/>
                <a:cs typeface="Cambria" pitchFamily="34" charset="-120"/>
              </a:rPr>
              <a:t>Learning mode (1st term)</a:t>
            </a:r>
            <a:endParaRPr lang="en-US" sz="1600" dirty="0"/>
          </a:p>
        </p:txBody>
      </p:sp>
      <p:sp>
        <p:nvSpPr>
          <p:cNvPr id="11" name="Text 9"/>
          <p:cNvSpPr/>
          <p:nvPr/>
        </p:nvSpPr>
        <p:spPr>
          <a:xfrm>
            <a:off x="6812280" y="2231136"/>
            <a:ext cx="4498848" cy="1335024"/>
          </a:xfrm>
          <a:prstGeom prst="rect">
            <a:avLst/>
          </a:prstGeom>
          <a:noFill/>
          <a:ln/>
        </p:spPr>
        <p:txBody>
          <a:bodyPr wrap="square" lIns="0" tIns="0" rIns="0" bIns="0" rtlCol="0" anchor="t"/>
          <a:lstStyle/>
          <a:p>
            <a:pPr algn="l" marL="342900" indent="-342900">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In class and in groups</a:t>
            </a:r>
            <a:endParaRPr lang="en-US" sz="1250" dirty="0"/>
          </a:p>
          <a:p>
            <a:pPr algn="l" marL="342900" indent="-342900">
              <a:spcBef>
                <a:spcPts val="500"/>
              </a:spcBef>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Short surahs (“Wad-Douhâ” to “An-Nâss”)</a:t>
            </a:r>
            <a:endParaRPr lang="en-US" sz="1250" dirty="0"/>
          </a:p>
        </p:txBody>
      </p:sp>
      <p:sp>
        <p:nvSpPr>
          <p:cNvPr id="12" name="Shape 10"/>
          <p:cNvSpPr/>
          <p:nvPr/>
        </p:nvSpPr>
        <p:spPr>
          <a:xfrm>
            <a:off x="566928" y="4023360"/>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841248" y="4288536"/>
            <a:ext cx="182880" cy="182880"/>
          </a:xfrm>
          <a:prstGeom prst="ellipse">
            <a:avLst/>
          </a:prstGeom>
          <a:solidFill>
            <a:srgbClr val="D9982B"/>
          </a:solidFill>
          <a:ln w="12700">
            <a:solidFill>
              <a:srgbClr val="D9982B"/>
            </a:solidFill>
            <a:prstDash val="solid"/>
          </a:ln>
        </p:spPr>
      </p:sp>
      <p:sp>
        <p:nvSpPr>
          <p:cNvPr id="14" name="Text 12"/>
          <p:cNvSpPr/>
          <p:nvPr/>
        </p:nvSpPr>
        <p:spPr>
          <a:xfrm>
            <a:off x="1133856" y="4169664"/>
            <a:ext cx="4544568" cy="411480"/>
          </a:xfrm>
          <a:prstGeom prst="rect">
            <a:avLst/>
          </a:prstGeom>
          <a:noFill/>
          <a:ln/>
        </p:spPr>
        <p:txBody>
          <a:bodyPr wrap="square" lIns="0" tIns="0" rIns="0" bIns="0" rtlCol="0" anchor="ctr"/>
          <a:lstStyle/>
          <a:p>
            <a:pPr algn="l" indent="0" marL="0">
              <a:buNone/>
            </a:pPr>
            <a:r>
              <a:rPr lang="en-US" altLang="en-US" sz="1600" b="1" dirty="0">
                <a:solidFill>
                  <a:srgbClr val="0B3B3C"/>
                </a:solidFill>
                <a:latin typeface="Cambria" pitchFamily="34" charset="0"/>
                <a:ea typeface="Cambria" pitchFamily="34" charset="-122"/>
                <a:cs typeface="Cambria" pitchFamily="34" charset="-120"/>
              </a:rPr>
              <a:t>Learning mode (2nd term)</a:t>
            </a:r>
            <a:endParaRPr lang="en-US" sz="1600" dirty="0"/>
          </a:p>
        </p:txBody>
      </p:sp>
      <p:sp>
        <p:nvSpPr>
          <p:cNvPr id="15" name="Text 13"/>
          <p:cNvSpPr/>
          <p:nvPr/>
        </p:nvSpPr>
        <p:spPr>
          <a:xfrm>
            <a:off x="1133856" y="4626864"/>
            <a:ext cx="4498848" cy="1335024"/>
          </a:xfrm>
          <a:prstGeom prst="rect">
            <a:avLst/>
          </a:prstGeom>
          <a:noFill/>
          <a:ln/>
        </p:spPr>
        <p:txBody>
          <a:bodyPr wrap="square" lIns="0" tIns="0" rIns="0" bIns="0" rtlCol="0" anchor="t"/>
          <a:lstStyle/>
          <a:p>
            <a:pPr algn="l" marL="342900" indent="-342900">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In class and at home with parental help</a:t>
            </a:r>
            <a:endParaRPr lang="en-US" sz="1250" dirty="0"/>
          </a:p>
          <a:p>
            <a:pPr algn="l" marL="342900" indent="-342900">
              <a:spcBef>
                <a:spcPts val="500"/>
              </a:spcBef>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Photocopy of the section to learn in a suitable format (display folder)</a:t>
            </a:r>
            <a:endParaRPr lang="en-US" sz="1250" dirty="0"/>
          </a:p>
          <a:p>
            <a:pPr algn="l" marL="342900" indent="-342900">
              <a:spcBef>
                <a:spcPts val="500"/>
              </a:spcBef>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Weekly objective: 3 to 5 lines</a:t>
            </a:r>
            <a:endParaRPr lang="en-US" sz="1250" dirty="0"/>
          </a:p>
        </p:txBody>
      </p:sp>
      <p:sp>
        <p:nvSpPr>
          <p:cNvPr id="16" name="Shape 14"/>
          <p:cNvSpPr/>
          <p:nvPr/>
        </p:nvSpPr>
        <p:spPr>
          <a:xfrm>
            <a:off x="6245352" y="4023360"/>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7" name="Shape 15"/>
          <p:cNvSpPr/>
          <p:nvPr/>
        </p:nvSpPr>
        <p:spPr>
          <a:xfrm>
            <a:off x="6519672" y="4288536"/>
            <a:ext cx="182880" cy="182880"/>
          </a:xfrm>
          <a:prstGeom prst="ellipse">
            <a:avLst/>
          </a:prstGeom>
          <a:solidFill>
            <a:srgbClr val="D9982B"/>
          </a:solidFill>
          <a:ln w="12700">
            <a:solidFill>
              <a:srgbClr val="D9982B"/>
            </a:solidFill>
            <a:prstDash val="solid"/>
          </a:ln>
        </p:spPr>
      </p:sp>
      <p:sp>
        <p:nvSpPr>
          <p:cNvPr id="18" name="Text 16"/>
          <p:cNvSpPr/>
          <p:nvPr/>
        </p:nvSpPr>
        <p:spPr>
          <a:xfrm>
            <a:off x="6812280" y="4169664"/>
            <a:ext cx="4544568" cy="411480"/>
          </a:xfrm>
          <a:prstGeom prst="rect">
            <a:avLst/>
          </a:prstGeom>
          <a:noFill/>
          <a:ln/>
        </p:spPr>
        <p:txBody>
          <a:bodyPr wrap="square" lIns="0" tIns="0" rIns="0" bIns="0" rtlCol="0" anchor="ctr"/>
          <a:lstStyle/>
          <a:p>
            <a:pPr algn="l" indent="0" marL="0">
              <a:buNone/>
            </a:pPr>
            <a:r>
              <a:rPr lang="en-US" altLang="en-US" sz="1600" b="1" dirty="0">
                <a:solidFill>
                  <a:srgbClr val="0B3B3C"/>
                </a:solidFill>
                <a:latin typeface="Cambria" pitchFamily="34" charset="0"/>
                <a:ea typeface="Cambria" pitchFamily="34" charset="-122"/>
                <a:cs typeface="Cambria" pitchFamily="34" charset="-120"/>
              </a:rPr>
              <a:t>Revision</a:t>
            </a:r>
            <a:endParaRPr lang="en-US" sz="1600" dirty="0"/>
          </a:p>
        </p:txBody>
      </p:sp>
      <p:sp>
        <p:nvSpPr>
          <p:cNvPr id="19" name="Text 17"/>
          <p:cNvSpPr/>
          <p:nvPr/>
        </p:nvSpPr>
        <p:spPr>
          <a:xfrm>
            <a:off x="6812280" y="4626864"/>
            <a:ext cx="4498848" cy="1335024"/>
          </a:xfrm>
          <a:prstGeom prst="rect">
            <a:avLst/>
          </a:prstGeom>
          <a:noFill/>
          <a:ln/>
        </p:spPr>
        <p:txBody>
          <a:bodyPr wrap="square" lIns="0" tIns="0" rIns="0" bIns="0" rtlCol="0" anchor="t"/>
          <a:lstStyle/>
          <a:p>
            <a:pPr algn="l" marL="342900" indent="-342900">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In class</a:t>
            </a:r>
            <a:endParaRPr lang="en-US" sz="1250" dirty="0"/>
          </a:p>
          <a:p>
            <a:pPr algn="l" marL="342900" indent="-342900">
              <a:spcBef>
                <a:spcPts val="500"/>
              </a:spcBef>
              <a:spcAft>
                <a:spcPts val="700"/>
              </a:spcAft>
              <a:buSzPct val="100000"/>
              <a:buChar char="●"/>
            </a:pPr>
            <a:r>
              <a:rPr lang="en-US" altLang="en-US" sz="1250" dirty="0">
                <a:solidFill>
                  <a:srgbClr val="24403F"/>
                </a:solidFill>
                <a:latin typeface="Calibri" pitchFamily="34" charset="0"/>
                <a:ea typeface="Calibri" pitchFamily="34" charset="-122"/>
                <a:cs typeface="Calibri" pitchFamily="34" charset="-120"/>
              </a:rPr>
              <a:t>In groups</a:t>
            </a:r>
            <a:endParaRPr lang="en-US" sz="1250" dirty="0"/>
          </a:p>
        </p:txBody>
      </p:sp>
      <p:sp>
        <p:nvSpPr>
          <p:cNvPr id="20" name="Text 18"/>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21" name="Text 19"/>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Course organisation</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2E7BA6"/>
                </a:solidFill>
                <a:latin typeface="Calibri" pitchFamily="34" charset="0"/>
                <a:ea typeface="Calibri" pitchFamily="34" charset="-122"/>
                <a:cs typeface="Calibri" pitchFamily="34" charset="-120"/>
              </a:rPr>
              <a:t>“Intermediate” level</a:t>
            </a:r>
            <a:endParaRPr lang="en-US" sz="1500" dirty="0"/>
          </a:p>
        </p:txBody>
      </p:sp>
      <p:sp>
        <p:nvSpPr>
          <p:cNvPr id="4" name="Shape 2"/>
          <p:cNvSpPr/>
          <p:nvPr/>
        </p:nvSpPr>
        <p:spPr>
          <a:xfrm>
            <a:off x="566928"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841248" y="1956816"/>
            <a:ext cx="201168" cy="201168"/>
          </a:xfrm>
          <a:prstGeom prst="ellipse">
            <a:avLst/>
          </a:prstGeom>
          <a:solidFill>
            <a:srgbClr val="2E7BA6"/>
          </a:solidFill>
          <a:ln w="12700">
            <a:solidFill>
              <a:srgbClr val="2E7BA6"/>
            </a:solidFill>
            <a:prstDash val="solid"/>
          </a:ln>
        </p:spPr>
      </p:sp>
      <p:sp>
        <p:nvSpPr>
          <p:cNvPr id="6" name="Text 4"/>
          <p:cNvSpPr/>
          <p:nvPr/>
        </p:nvSpPr>
        <p:spPr>
          <a:xfrm>
            <a:off x="1170432" y="1828800"/>
            <a:ext cx="2606040" cy="457200"/>
          </a:xfrm>
          <a:prstGeom prst="rect">
            <a:avLst/>
          </a:prstGeom>
          <a:noFill/>
          <a:ln/>
        </p:spPr>
        <p:txBody>
          <a:bodyPr wrap="square" lIns="0" tIns="0" rIns="0" bIns="0" rtlCol="0" anchor="ctr"/>
          <a:lstStyle/>
          <a:p>
            <a:pPr algn="l" indent="0" marL="0">
              <a:buNone/>
            </a:pPr>
            <a:r>
              <a:rPr lang="en-US" altLang="en-US" sz="1700" b="1" dirty="0">
                <a:solidFill>
                  <a:srgbClr val="0B3B3C"/>
                </a:solidFill>
                <a:latin typeface="Cambria" pitchFamily="34" charset="0"/>
                <a:ea typeface="Cambria" pitchFamily="34" charset="-122"/>
                <a:cs typeface="Cambria" pitchFamily="34" charset="-120"/>
              </a:rPr>
              <a:t>Objectives</a:t>
            </a:r>
            <a:endParaRPr lang="en-US" sz="1700" dirty="0"/>
          </a:p>
        </p:txBody>
      </p:sp>
      <p:sp>
        <p:nvSpPr>
          <p:cNvPr id="7" name="Text 5"/>
          <p:cNvSpPr/>
          <p:nvPr/>
        </p:nvSpPr>
        <p:spPr>
          <a:xfrm>
            <a:off x="1170432" y="2395728"/>
            <a:ext cx="2560320" cy="2514600"/>
          </a:xfrm>
          <a:prstGeom prst="rect">
            <a:avLst/>
          </a:prstGeom>
          <a:noFill/>
          <a:ln/>
        </p:spPr>
        <p:txBody>
          <a:bodyPr wrap="square" lIns="0" tIns="0" rIns="0" bIns="0" rtlCol="0" anchor="t"/>
          <a:lstStyle/>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Qur’an</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Reach the annual objective of the recitation card (no. 2 or 3)</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Know the “hizb” from previous years</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Method</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Reading proficiency and knowledge of basic tajwîd rules</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Achieving full autonomy in learning</a:t>
            </a:r>
            <a:endParaRPr lang="en-US" sz="1300" dirty="0"/>
          </a:p>
        </p:txBody>
      </p:sp>
      <p:sp>
        <p:nvSpPr>
          <p:cNvPr id="8" name="Shape 6"/>
          <p:cNvSpPr/>
          <p:nvPr/>
        </p:nvSpPr>
        <p:spPr>
          <a:xfrm>
            <a:off x="4352544"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4626864" y="1956816"/>
            <a:ext cx="201168" cy="201168"/>
          </a:xfrm>
          <a:prstGeom prst="ellipse">
            <a:avLst/>
          </a:prstGeom>
          <a:solidFill>
            <a:srgbClr val="2E7BA6"/>
          </a:solidFill>
          <a:ln w="12700">
            <a:solidFill>
              <a:srgbClr val="2E7BA6"/>
            </a:solidFill>
            <a:prstDash val="solid"/>
          </a:ln>
        </p:spPr>
      </p:sp>
      <p:sp>
        <p:nvSpPr>
          <p:cNvPr id="10" name="Text 8"/>
          <p:cNvSpPr/>
          <p:nvPr/>
        </p:nvSpPr>
        <p:spPr>
          <a:xfrm>
            <a:off x="4956048" y="1828800"/>
            <a:ext cx="2606040" cy="457200"/>
          </a:xfrm>
          <a:prstGeom prst="rect">
            <a:avLst/>
          </a:prstGeom>
          <a:noFill/>
          <a:ln/>
        </p:spPr>
        <p:txBody>
          <a:bodyPr wrap="square" lIns="0" tIns="0" rIns="0" bIns="0" rtlCol="0" anchor="ctr"/>
          <a:lstStyle/>
          <a:p>
            <a:pPr algn="l" indent="0" marL="0">
              <a:buNone/>
            </a:pPr>
            <a:r>
              <a:rPr lang="en-US" altLang="en-US" sz="1700" b="1" dirty="0">
                <a:solidFill>
                  <a:srgbClr val="0B3B3C"/>
                </a:solidFill>
                <a:latin typeface="Cambria" pitchFamily="34" charset="0"/>
                <a:ea typeface="Cambria" pitchFamily="34" charset="-122"/>
                <a:cs typeface="Cambria" pitchFamily="34" charset="-120"/>
              </a:rPr>
              <a:t>Learning mode</a:t>
            </a:r>
            <a:endParaRPr lang="en-US" sz="1700" dirty="0"/>
          </a:p>
        </p:txBody>
      </p:sp>
      <p:sp>
        <p:nvSpPr>
          <p:cNvPr id="11" name="Text 9"/>
          <p:cNvSpPr/>
          <p:nvPr/>
        </p:nvSpPr>
        <p:spPr>
          <a:xfrm>
            <a:off x="4956048" y="2395728"/>
            <a:ext cx="2560320" cy="2514600"/>
          </a:xfrm>
          <a:prstGeom prst="rect">
            <a:avLst/>
          </a:prstGeom>
          <a:noFill/>
          <a:ln/>
        </p:spPr>
        <p:txBody>
          <a:bodyPr wrap="square" lIns="0" tIns="0" rIns="0" bIns="0" rtlCol="0" anchor="t"/>
          <a:lstStyle/>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At home</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Photocopy of the section to learn (display folder) and “Mushaf”</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Weekly objective: 3 to 5 lines or 7-10 lines depending on card no.</a:t>
            </a:r>
            <a:endParaRPr lang="en-US" sz="1300" dirty="0"/>
          </a:p>
        </p:txBody>
      </p:sp>
      <p:sp>
        <p:nvSpPr>
          <p:cNvPr id="12" name="Shape 10"/>
          <p:cNvSpPr/>
          <p:nvPr/>
        </p:nvSpPr>
        <p:spPr>
          <a:xfrm>
            <a:off x="8138160"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8412480" y="1956816"/>
            <a:ext cx="201168" cy="201168"/>
          </a:xfrm>
          <a:prstGeom prst="ellipse">
            <a:avLst/>
          </a:prstGeom>
          <a:solidFill>
            <a:srgbClr val="2E7BA6"/>
          </a:solidFill>
          <a:ln w="12700">
            <a:solidFill>
              <a:srgbClr val="2E7BA6"/>
            </a:solidFill>
            <a:prstDash val="solid"/>
          </a:ln>
        </p:spPr>
      </p:sp>
      <p:sp>
        <p:nvSpPr>
          <p:cNvPr id="14" name="Text 12"/>
          <p:cNvSpPr/>
          <p:nvPr/>
        </p:nvSpPr>
        <p:spPr>
          <a:xfrm>
            <a:off x="8741664" y="1828800"/>
            <a:ext cx="2606040" cy="457200"/>
          </a:xfrm>
          <a:prstGeom prst="rect">
            <a:avLst/>
          </a:prstGeom>
          <a:noFill/>
          <a:ln/>
        </p:spPr>
        <p:txBody>
          <a:bodyPr wrap="square" lIns="0" tIns="0" rIns="0" bIns="0" rtlCol="0" anchor="ctr"/>
          <a:lstStyle/>
          <a:p>
            <a:pPr algn="l" indent="0" marL="0">
              <a:buNone/>
            </a:pPr>
            <a:r>
              <a:rPr lang="en-US" altLang="en-US" sz="1700" b="1" dirty="0">
                <a:solidFill>
                  <a:srgbClr val="0B3B3C"/>
                </a:solidFill>
                <a:latin typeface="Cambria" pitchFamily="34" charset="0"/>
                <a:ea typeface="Cambria" pitchFamily="34" charset="-122"/>
                <a:cs typeface="Cambria" pitchFamily="34" charset="-120"/>
              </a:rPr>
              <a:t>Revision</a:t>
            </a:r>
            <a:endParaRPr lang="en-US" sz="1700" dirty="0"/>
          </a:p>
        </p:txBody>
      </p:sp>
      <p:sp>
        <p:nvSpPr>
          <p:cNvPr id="15" name="Text 13"/>
          <p:cNvSpPr/>
          <p:nvPr/>
        </p:nvSpPr>
        <p:spPr>
          <a:xfrm>
            <a:off x="8741664" y="2395728"/>
            <a:ext cx="2560320" cy="2514600"/>
          </a:xfrm>
          <a:prstGeom prst="rect">
            <a:avLst/>
          </a:prstGeom>
          <a:noFill/>
          <a:ln/>
        </p:spPr>
        <p:txBody>
          <a:bodyPr wrap="square" lIns="0" tIns="0" rIns="0" bIns="0" rtlCol="0" anchor="t"/>
          <a:lstStyle/>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In class</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In groups, individually or in pairs</a:t>
            </a:r>
            <a:endParaRPr lang="en-US" sz="1300" dirty="0"/>
          </a:p>
        </p:txBody>
      </p:sp>
      <p:sp>
        <p:nvSpPr>
          <p:cNvPr id="16" name="Text 14"/>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7" name="Text 15"/>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Course organisation</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9E3B4E"/>
                </a:solidFill>
                <a:latin typeface="Calibri" pitchFamily="34" charset="0"/>
                <a:ea typeface="Calibri" pitchFamily="34" charset="-122"/>
                <a:cs typeface="Calibri" pitchFamily="34" charset="-120"/>
              </a:rPr>
              <a:t>“Advanced” level</a:t>
            </a:r>
            <a:endParaRPr lang="en-US" sz="1500" dirty="0"/>
          </a:p>
        </p:txBody>
      </p:sp>
      <p:sp>
        <p:nvSpPr>
          <p:cNvPr id="4" name="Shape 2"/>
          <p:cNvSpPr/>
          <p:nvPr/>
        </p:nvSpPr>
        <p:spPr>
          <a:xfrm>
            <a:off x="566928"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841248" y="1956816"/>
            <a:ext cx="201168" cy="201168"/>
          </a:xfrm>
          <a:prstGeom prst="ellipse">
            <a:avLst/>
          </a:prstGeom>
          <a:solidFill>
            <a:srgbClr val="9E3B4E"/>
          </a:solidFill>
          <a:ln w="12700">
            <a:solidFill>
              <a:srgbClr val="9E3B4E"/>
            </a:solidFill>
            <a:prstDash val="solid"/>
          </a:ln>
        </p:spPr>
      </p:sp>
      <p:sp>
        <p:nvSpPr>
          <p:cNvPr id="6" name="Text 4"/>
          <p:cNvSpPr/>
          <p:nvPr/>
        </p:nvSpPr>
        <p:spPr>
          <a:xfrm>
            <a:off x="1170432" y="1828800"/>
            <a:ext cx="2606040" cy="457200"/>
          </a:xfrm>
          <a:prstGeom prst="rect">
            <a:avLst/>
          </a:prstGeom>
          <a:noFill/>
          <a:ln/>
        </p:spPr>
        <p:txBody>
          <a:bodyPr wrap="square" lIns="0" tIns="0" rIns="0" bIns="0" rtlCol="0" anchor="ctr"/>
          <a:lstStyle/>
          <a:p>
            <a:pPr algn="l" indent="0" marL="0">
              <a:buNone/>
            </a:pPr>
            <a:r>
              <a:rPr lang="en-US" altLang="en-US" sz="1700" b="1" dirty="0">
                <a:solidFill>
                  <a:srgbClr val="0B3B3C"/>
                </a:solidFill>
                <a:latin typeface="Cambria" pitchFamily="34" charset="0"/>
                <a:ea typeface="Cambria" pitchFamily="34" charset="-122"/>
                <a:cs typeface="Cambria" pitchFamily="34" charset="-120"/>
              </a:rPr>
              <a:t>Objectives</a:t>
            </a:r>
            <a:endParaRPr lang="en-US" sz="1700" dirty="0"/>
          </a:p>
        </p:txBody>
      </p:sp>
      <p:sp>
        <p:nvSpPr>
          <p:cNvPr id="7" name="Text 5"/>
          <p:cNvSpPr/>
          <p:nvPr/>
        </p:nvSpPr>
        <p:spPr>
          <a:xfrm>
            <a:off x="1170432" y="2395728"/>
            <a:ext cx="2560320" cy="2514600"/>
          </a:xfrm>
          <a:prstGeom prst="rect">
            <a:avLst/>
          </a:prstGeom>
          <a:noFill/>
          <a:ln/>
        </p:spPr>
        <p:txBody>
          <a:bodyPr wrap="square" lIns="0" tIns="0" rIns="0" bIns="0" rtlCol="0" anchor="t"/>
          <a:lstStyle/>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Qur’an</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Reach the annual objective of the recitation card (depending on no.)</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Know the “hizb” from previous years</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Method</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Mastery of tajwîd rules</a:t>
            </a:r>
            <a:endParaRPr lang="en-US" sz="1300" dirty="0"/>
          </a:p>
          <a:p>
            <a:pPr algn="l" lvl="1" marL="685800" indent="-342900">
              <a:spcAft>
                <a:spcPts val="300"/>
              </a:spcAft>
              <a:buSzPct val="100000"/>
              <a:buChar char="▪"/>
            </a:pPr>
            <a:r>
              <a:rPr lang="en-US" altLang="en-US" sz="1100" dirty="0">
                <a:solidFill>
                  <a:srgbClr val="5F7574"/>
                </a:solidFill>
                <a:latin typeface="Calibri" pitchFamily="34" charset="0"/>
                <a:ea typeface="Calibri" pitchFamily="34" charset="-122"/>
                <a:cs typeface="Calibri" pitchFamily="34" charset="-120"/>
              </a:rPr>
              <a:t>Increase learning / revision volume</a:t>
            </a:r>
            <a:endParaRPr lang="en-US" sz="1300" dirty="0"/>
          </a:p>
        </p:txBody>
      </p:sp>
      <p:sp>
        <p:nvSpPr>
          <p:cNvPr id="8" name="Shape 6"/>
          <p:cNvSpPr/>
          <p:nvPr/>
        </p:nvSpPr>
        <p:spPr>
          <a:xfrm>
            <a:off x="4352544"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4626864" y="1956816"/>
            <a:ext cx="201168" cy="201168"/>
          </a:xfrm>
          <a:prstGeom prst="ellipse">
            <a:avLst/>
          </a:prstGeom>
          <a:solidFill>
            <a:srgbClr val="9E3B4E"/>
          </a:solidFill>
          <a:ln w="12700">
            <a:solidFill>
              <a:srgbClr val="9E3B4E"/>
            </a:solidFill>
            <a:prstDash val="solid"/>
          </a:ln>
        </p:spPr>
      </p:sp>
      <p:sp>
        <p:nvSpPr>
          <p:cNvPr id="10" name="Text 8"/>
          <p:cNvSpPr/>
          <p:nvPr/>
        </p:nvSpPr>
        <p:spPr>
          <a:xfrm>
            <a:off x="4956048" y="1828800"/>
            <a:ext cx="2606040" cy="457200"/>
          </a:xfrm>
          <a:prstGeom prst="rect">
            <a:avLst/>
          </a:prstGeom>
          <a:noFill/>
          <a:ln/>
        </p:spPr>
        <p:txBody>
          <a:bodyPr wrap="square" lIns="0" tIns="0" rIns="0" bIns="0" rtlCol="0" anchor="ctr"/>
          <a:lstStyle/>
          <a:p>
            <a:pPr algn="l" indent="0" marL="0">
              <a:buNone/>
            </a:pPr>
            <a:r>
              <a:rPr lang="en-US" altLang="en-US" sz="1700" b="1" dirty="0">
                <a:solidFill>
                  <a:srgbClr val="0B3B3C"/>
                </a:solidFill>
                <a:latin typeface="Cambria" pitchFamily="34" charset="0"/>
                <a:ea typeface="Cambria" pitchFamily="34" charset="-122"/>
                <a:cs typeface="Cambria" pitchFamily="34" charset="-120"/>
              </a:rPr>
              <a:t>Learning mode</a:t>
            </a:r>
            <a:endParaRPr lang="en-US" sz="1700" dirty="0"/>
          </a:p>
        </p:txBody>
      </p:sp>
      <p:sp>
        <p:nvSpPr>
          <p:cNvPr id="11" name="Text 9"/>
          <p:cNvSpPr/>
          <p:nvPr/>
        </p:nvSpPr>
        <p:spPr>
          <a:xfrm>
            <a:off x="4956048" y="2395728"/>
            <a:ext cx="2560320" cy="2514600"/>
          </a:xfrm>
          <a:prstGeom prst="rect">
            <a:avLst/>
          </a:prstGeom>
          <a:noFill/>
          <a:ln/>
        </p:spPr>
        <p:txBody>
          <a:bodyPr wrap="square" lIns="0" tIns="0" rIns="0" bIns="0" rtlCol="0" anchor="t"/>
          <a:lstStyle/>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Independently at home</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“Mushaf”</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Weekly objective: 15 to 20 lines (1/2 hizb per month)</a:t>
            </a:r>
            <a:endParaRPr lang="en-US" sz="1300" dirty="0"/>
          </a:p>
        </p:txBody>
      </p:sp>
      <p:sp>
        <p:nvSpPr>
          <p:cNvPr id="12" name="Shape 10"/>
          <p:cNvSpPr/>
          <p:nvPr/>
        </p:nvSpPr>
        <p:spPr>
          <a:xfrm>
            <a:off x="8138160"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8412480" y="1956816"/>
            <a:ext cx="201168" cy="201168"/>
          </a:xfrm>
          <a:prstGeom prst="ellipse">
            <a:avLst/>
          </a:prstGeom>
          <a:solidFill>
            <a:srgbClr val="9E3B4E"/>
          </a:solidFill>
          <a:ln w="12700">
            <a:solidFill>
              <a:srgbClr val="9E3B4E"/>
            </a:solidFill>
            <a:prstDash val="solid"/>
          </a:ln>
        </p:spPr>
      </p:sp>
      <p:sp>
        <p:nvSpPr>
          <p:cNvPr id="14" name="Text 12"/>
          <p:cNvSpPr/>
          <p:nvPr/>
        </p:nvSpPr>
        <p:spPr>
          <a:xfrm>
            <a:off x="8741664" y="1828800"/>
            <a:ext cx="2606040" cy="457200"/>
          </a:xfrm>
          <a:prstGeom prst="rect">
            <a:avLst/>
          </a:prstGeom>
          <a:noFill/>
          <a:ln/>
        </p:spPr>
        <p:txBody>
          <a:bodyPr wrap="square" lIns="0" tIns="0" rIns="0" bIns="0" rtlCol="0" anchor="ctr"/>
          <a:lstStyle/>
          <a:p>
            <a:pPr algn="l" indent="0" marL="0">
              <a:buNone/>
            </a:pPr>
            <a:r>
              <a:rPr lang="en-US" altLang="en-US" sz="1700" b="1" dirty="0">
                <a:solidFill>
                  <a:srgbClr val="0B3B3C"/>
                </a:solidFill>
                <a:latin typeface="Cambria" pitchFamily="34" charset="0"/>
                <a:ea typeface="Cambria" pitchFamily="34" charset="-122"/>
                <a:cs typeface="Cambria" pitchFamily="34" charset="-120"/>
              </a:rPr>
              <a:t>Revision</a:t>
            </a:r>
            <a:endParaRPr lang="en-US" sz="1700" dirty="0"/>
          </a:p>
        </p:txBody>
      </p:sp>
      <p:sp>
        <p:nvSpPr>
          <p:cNvPr id="15" name="Text 13"/>
          <p:cNvSpPr/>
          <p:nvPr/>
        </p:nvSpPr>
        <p:spPr>
          <a:xfrm>
            <a:off x="8741664" y="2395728"/>
            <a:ext cx="2560320" cy="2514600"/>
          </a:xfrm>
          <a:prstGeom prst="rect">
            <a:avLst/>
          </a:prstGeom>
          <a:noFill/>
          <a:ln/>
        </p:spPr>
        <p:txBody>
          <a:bodyPr wrap="square" lIns="0" tIns="0" rIns="0" bIns="0" rtlCol="0" anchor="t"/>
          <a:lstStyle/>
          <a:p>
            <a:pPr algn="l" marL="342900" indent="-342900">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In class</a:t>
            </a:r>
            <a:endParaRPr lang="en-US" sz="1300" dirty="0"/>
          </a:p>
          <a:p>
            <a:pPr algn="l" marL="342900" indent="-342900">
              <a:spcBef>
                <a:spcPts val="500"/>
              </a:spcBef>
              <a:spcAft>
                <a:spcPts val="700"/>
              </a:spcAft>
              <a:buSzPct val="100000"/>
              <a:buChar char="●"/>
            </a:pPr>
            <a:r>
              <a:rPr lang="en-US" altLang="en-US" sz="1300" dirty="0">
                <a:solidFill>
                  <a:srgbClr val="24403F"/>
                </a:solidFill>
                <a:latin typeface="Calibri" pitchFamily="34" charset="0"/>
                <a:ea typeface="Calibri" pitchFamily="34" charset="-122"/>
                <a:cs typeface="Calibri" pitchFamily="34" charset="-120"/>
              </a:rPr>
              <a:t>Individually, in pairs or in groups</a:t>
            </a:r>
            <a:endParaRPr lang="en-US" sz="1300" dirty="0"/>
          </a:p>
        </p:txBody>
      </p:sp>
      <p:sp>
        <p:nvSpPr>
          <p:cNvPr id="16" name="Text 14"/>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7" name="Text 15"/>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Course schedule</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45952" cy="914400"/>
        </p:xfrm>
        <a:graphic>
          <a:graphicData uri="http://schemas.openxmlformats.org/drawingml/2006/table">
            <a:tbl>
              <a:tblPr/>
              <a:tblGrid>
                <a:gridCol w="1325880"/>
                <a:gridCol w="868680"/>
                <a:gridCol w="1234440"/>
                <a:gridCol w="1280160"/>
                <a:gridCol w="2148840"/>
                <a:gridCol w="2148840"/>
                <a:gridCol w="2039112"/>
              </a:tblGrid>
              <a:tr h="402336">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LEVEL</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CARD NO.</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HIZB</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LEARNING</a:t>
                      </a:r>
                      <a:endParaRPr lang="en-US" sz="1000" dirty="0">
                        <a:latin typeface="Calibri" charset="0"/>
                        <a:ea typeface="Calibri" charset="0"/>
                        <a:cs typeface="Calibri" charset="0"/>
                      </a:endParaRPr>
                    </a:p>
                    <a:p>
                      <a:pPr algn="ctr" indent="0" marL="0">
                        <a:buNone/>
                      </a:pPr>
                      <a:r>
                        <a:rPr lang="en-US" altLang="en-US" sz="1000" b="1" dirty="0">
                          <a:solidFill>
                            <a:srgbClr val="FFFFFF"/>
                          </a:solidFill>
                          <a:latin typeface="Calibri" pitchFamily="34" charset="0"/>
                          <a:ea typeface="Calibri" pitchFamily="34" charset="-122"/>
                          <a:cs typeface="Calibri" pitchFamily="34" charset="-120"/>
                        </a:rPr>
                        <a:t>/MONTH (HIZB)</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gridSpan="2">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WEDNESDAY</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hMerge="1">
                  <a:tcPr/>
                </a:tc>
                <a:tc>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SUNDAY</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r>
              <a:tr h="329184">
                <a:tc rowSpan="2">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BEGINNER</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D9982B"/>
                    </a:solidFill>
                  </a:tcPr>
                </a:tc>
                <a:tc rowSpan="2">
                  <a:txBody>
                    <a:bodyPr/>
                    <a:lstStyle/>
                    <a:p>
                      <a:pPr algn="ctr" indent="0" marL="0">
                        <a:buNone/>
                      </a:pPr>
                      <a:r>
                        <a:rPr lang="en-US" altLang="en-US" sz="950" b="1" dirty="0">
                          <a:solidFill>
                            <a:srgbClr val="0B3B3C"/>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Revision / learning + reading (1h15)</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Islamic education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Names of ALLAH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Group learning / Recitation (2h)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rowSpan="5">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INTERMEDIATE</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2E7BA6"/>
                    </a:solidFill>
                  </a:tcPr>
                </a:tc>
                <a:tc rowSpan="2">
                  <a:txBody>
                    <a:bodyPr/>
                    <a:lstStyle/>
                    <a:p>
                      <a:pPr algn="ctr" indent="0" marL="0">
                        <a:buNone/>
                      </a:pPr>
                      <a:r>
                        <a:rPr lang="en-US" altLang="en-US" sz="950" b="1" dirty="0">
                          <a:solidFill>
                            <a:srgbClr val="0B3B3C"/>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59</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Reading (45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Qur’anic sciences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Revision (30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Recitation (2h)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274320">
                <a:tc vMerge="1">
                  <a:tcPr/>
                </a:tc>
                <a:tc gridSpan="6">
                  <a:txBody>
                    <a:bodyPr/>
                    <a:lstStyle/>
                    <a:p>
                      <a:pPr algn="ctr" indent="0" marL="0">
                        <a:buNone/>
                      </a:pPr>
                      <a:r>
                        <a:rPr lang="en-US" altLang="en-US" sz="950" b="1" i="1" dirty="0">
                          <a:solidFill>
                            <a:srgbClr val="0B3B3C"/>
                          </a:solidFill>
                          <a:latin typeface="Calibri" pitchFamily="34" charset="0"/>
                          <a:ea typeface="Calibri" pitchFamily="34" charset="-122"/>
                          <a:cs typeface="Calibri" pitchFamily="34" charset="-120"/>
                        </a:rPr>
                        <a:t>Reading proficiency + 2 hizbs acquired = AUTONOMY</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DF1DA"/>
                    </a:solidFill>
                  </a:tcPr>
                </a:tc>
                <a:tc hMerge="1">
                  <a:tcPr/>
                </a:tc>
                <a:tc hMerge="1">
                  <a:tcPr/>
                </a:tc>
                <a:tc hMerge="1">
                  <a:tcPr/>
                </a:tc>
                <a:tc hMerge="1">
                  <a:tcPr/>
                </a:tc>
                <a:tc hMerge="1">
                  <a:tcPr/>
                </a:tc>
              </a:tr>
              <a:tr h="329184">
                <a:tc vMerge="1">
                  <a:tcPr/>
                </a:tc>
                <a:tc rowSpan="2">
                  <a:txBody>
                    <a:bodyPr/>
                    <a:lstStyle/>
                    <a:p>
                      <a:pPr algn="ctr" indent="0" marL="0">
                        <a:buNone/>
                      </a:pPr>
                      <a:r>
                        <a:rPr lang="en-US" altLang="en-US" sz="950" b="1" dirty="0">
                          <a:solidFill>
                            <a:srgbClr val="0B3B3C"/>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57-58</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Tajwîd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Qur’anic sciences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Revision (1h)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Recitation (2h)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rowSpan="6">
                  <a:txBody>
                    <a:bodyPr/>
                    <a:lstStyle/>
                    <a:p>
                      <a:pPr algn="ctr" indent="0" marL="0">
                        <a:buNone/>
                      </a:pPr>
                      <a:r>
                        <a:rPr lang="en-US" altLang="en-US" sz="1000" b="1" dirty="0">
                          <a:solidFill>
                            <a:srgbClr val="FFFFFF"/>
                          </a:solidFill>
                          <a:latin typeface="Calibri" pitchFamily="34" charset="0"/>
                          <a:ea typeface="Calibri" pitchFamily="34" charset="-122"/>
                          <a:cs typeface="Calibri" pitchFamily="34" charset="-120"/>
                        </a:rPr>
                        <a:t>ADVANCED</a:t>
                      </a:r>
                      <a:endParaRPr lang="en-US" sz="100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9E3B4E"/>
                    </a:solidFill>
                  </a:tcPr>
                </a:tc>
                <a:tc rowSpan="2">
                  <a:txBody>
                    <a:bodyPr/>
                    <a:lstStyle/>
                    <a:p>
                      <a:pPr algn="ctr" indent="0" marL="0">
                        <a:buNone/>
                      </a:pPr>
                      <a:r>
                        <a:rPr lang="en-US" altLang="en-US" sz="950" b="1" dirty="0">
                          <a:solidFill>
                            <a:srgbClr val="0B3B3C"/>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53-54-55-56</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Tajwîd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Qur’anic sciences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Revision (1h)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Recitation (2h)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rowSpan="2">
                  <a:txBody>
                    <a:bodyPr/>
                    <a:lstStyle/>
                    <a:p>
                      <a:pPr algn="ctr" indent="0" marL="0">
                        <a:buNone/>
                      </a:pPr>
                      <a:r>
                        <a:rPr lang="en-US" altLang="en-US" sz="950" b="1" dirty="0">
                          <a:solidFill>
                            <a:srgbClr val="0B3B3C"/>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49-50-51-52</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Tajwîd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Qur’anic sciences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Revision (1h)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Recitation (2h)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rowSpan="2">
                  <a:txBody>
                    <a:bodyPr/>
                    <a:lstStyle/>
                    <a:p>
                      <a:pPr algn="ctr" indent="0" marL="0">
                        <a:buNone/>
                      </a:pPr>
                      <a:r>
                        <a:rPr lang="en-US" altLang="en-US" sz="950" b="1" dirty="0">
                          <a:solidFill>
                            <a:srgbClr val="0B3B3C"/>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45-46-47-48</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Tajwîd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Du‘a (5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Qur’anic sciences (15 min)</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Revision (1h)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algn="ctr" indent="0" marL="0">
                        <a:buNone/>
                      </a:pPr>
                      <a:r>
                        <a:rPr lang="en-US" altLang="en-US" sz="950" dirty="0">
                          <a:solidFill>
                            <a:srgbClr val="24403F"/>
                          </a:solidFill>
                          <a:latin typeface="Calibri" pitchFamily="34" charset="0"/>
                          <a:ea typeface="Calibri" pitchFamily="34" charset="-122"/>
                          <a:cs typeface="Calibri" pitchFamily="34" charset="-120"/>
                        </a:rPr>
                        <a:t>Recitation (2h)</a:t>
                      </a:r>
                      <a:endParaRPr lang="en-US" sz="950" dirty="0">
                        <a:latin typeface="Calibri" charset="0"/>
                        <a:ea typeface="Calibri" charset="0"/>
                        <a:cs typeface="Calibri"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bl>
          </a:graphicData>
        </a:graphic>
      </p:graphicFrame>
      <p:sp>
        <p:nvSpPr>
          <p:cNvPr id="4" name="Text 1"/>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5" name="Text 2"/>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B3C"/>
        </a:solidFill>
      </p:bgPr>
    </p:bg>
    <p:spTree>
      <p:nvGrpSpPr>
        <p:cNvPr id="1" name=""/>
        <p:cNvGrpSpPr/>
        <p:nvPr/>
      </p:nvGrpSpPr>
      <p:grpSpPr>
        <a:xfrm>
          <a:off x="0" y="0"/>
          <a:ext cx="0" cy="0"/>
          <a:chOff x="0" y="0"/>
          <a:chExt cx="0" cy="0"/>
        </a:xfrm>
      </p:grpSpPr>
      <p:sp>
        <p:nvSpPr>
          <p:cNvPr id="2" name="Text 0"/>
          <p:cNvSpPr/>
          <p:nvPr/>
        </p:nvSpPr>
        <p:spPr>
          <a:xfrm>
            <a:off x="658368" y="502920"/>
            <a:ext cx="10881360" cy="685800"/>
          </a:xfrm>
          <a:prstGeom prst="rect">
            <a:avLst/>
          </a:prstGeom>
          <a:noFill/>
          <a:ln/>
        </p:spPr>
        <p:txBody>
          <a:bodyPr wrap="square" lIns="0" tIns="0" rIns="0" bIns="0" rtlCol="0" anchor="ctr"/>
          <a:lstStyle/>
          <a:p>
            <a:pPr algn="l" indent="0" marL="0">
              <a:buNone/>
            </a:pPr>
            <a:r>
              <a:rPr lang="en-US" altLang="en-US" sz="3600" b="1" dirty="0">
                <a:solidFill>
                  <a:srgbClr val="FFFFFF"/>
                </a:solidFill>
                <a:latin typeface="Cambria" pitchFamily="34" charset="0"/>
                <a:ea typeface="Cambria" pitchFamily="34" charset="-122"/>
                <a:cs typeface="Cambria" pitchFamily="34" charset="-120"/>
              </a:rPr>
              <a:t>Reminder</a:t>
            </a:r>
            <a:endParaRPr lang="en-US" sz="3600" dirty="0"/>
          </a:p>
        </p:txBody>
      </p:sp>
      <p:sp>
        <p:nvSpPr>
          <p:cNvPr id="3" name="Shape 1"/>
          <p:cNvSpPr/>
          <p:nvPr/>
        </p:nvSpPr>
        <p:spPr>
          <a:xfrm>
            <a:off x="658368" y="1481328"/>
            <a:ext cx="10881360" cy="868680"/>
          </a:xfrm>
          <a:prstGeom prst="roundRect">
            <a:avLst>
              <a:gd name="adj" fmla="val 10526"/>
            </a:avLst>
          </a:prstGeom>
          <a:solidFill>
            <a:srgbClr val="12494A"/>
          </a:solidFill>
          <a:ln w="12700">
            <a:solidFill>
              <a:srgbClr val="1E6061"/>
            </a:solidFill>
            <a:prstDash val="solid"/>
          </a:ln>
        </p:spPr>
      </p:sp>
      <p:sp>
        <p:nvSpPr>
          <p:cNvPr id="4" name="Text 2"/>
          <p:cNvSpPr/>
          <p:nvPr/>
        </p:nvSpPr>
        <p:spPr>
          <a:xfrm>
            <a:off x="1051560" y="1481328"/>
            <a:ext cx="10058400" cy="868680"/>
          </a:xfrm>
          <a:prstGeom prst="rect">
            <a:avLst/>
          </a:prstGeom>
          <a:noFill/>
          <a:ln/>
        </p:spPr>
        <p:txBody>
          <a:bodyPr wrap="square" lIns="0" tIns="0" rIns="0" bIns="0" rtlCol="0" anchor="ctr"/>
          <a:lstStyle/>
          <a:p>
            <a:pPr algn="l" indent="0" marL="0">
              <a:buNone/>
            </a:pPr>
            <a:r>
              <a:rPr lang="en-US" altLang="en-US" sz="2000" b="1" dirty="0">
                <a:solidFill>
                  <a:srgbClr val="D9982B"/>
                </a:solidFill>
                <a:latin typeface="Calibri" pitchFamily="34" charset="0"/>
                <a:ea typeface="Calibri" pitchFamily="34" charset="-122"/>
                <a:cs typeface="Calibri" pitchFamily="34" charset="-120"/>
              </a:rPr>
              <a:t>Learning at home / Recitation in class</a:t>
            </a:r>
            <a:endParaRPr lang="en-US" sz="2000" dirty="0"/>
          </a:p>
        </p:txBody>
      </p:sp>
      <p:sp>
        <p:nvSpPr>
          <p:cNvPr id="5" name="Text 3"/>
          <p:cNvSpPr/>
          <p:nvPr/>
        </p:nvSpPr>
        <p:spPr>
          <a:xfrm>
            <a:off x="658368" y="2697480"/>
            <a:ext cx="10881360" cy="457200"/>
          </a:xfrm>
          <a:prstGeom prst="rect">
            <a:avLst/>
          </a:prstGeom>
          <a:noFill/>
          <a:ln/>
        </p:spPr>
        <p:txBody>
          <a:bodyPr wrap="square" lIns="0" tIns="0" rIns="0" bIns="0" rtlCol="0" anchor="ctr"/>
          <a:lstStyle/>
          <a:p>
            <a:pPr algn="l" indent="0" marL="0">
              <a:buNone/>
            </a:pPr>
            <a:r>
              <a:rPr lang="en-US" altLang="en-US" sz="2200" b="1" dirty="0">
                <a:solidFill>
                  <a:srgbClr val="FFFFFF"/>
                </a:solidFill>
                <a:latin typeface="Cambria" pitchFamily="34" charset="0"/>
                <a:ea typeface="Cambria" pitchFamily="34" charset="-122"/>
                <a:cs typeface="Cambria" pitchFamily="34" charset="-120"/>
              </a:rPr>
              <a:t>Parental involvement</a:t>
            </a:r>
            <a:endParaRPr lang="en-US" sz="2200" dirty="0"/>
          </a:p>
        </p:txBody>
      </p:sp>
      <p:sp>
        <p:nvSpPr>
          <p:cNvPr id="6" name="Shape 4"/>
          <p:cNvSpPr/>
          <p:nvPr/>
        </p:nvSpPr>
        <p:spPr>
          <a:xfrm>
            <a:off x="658368" y="3310128"/>
            <a:ext cx="3456432" cy="1691640"/>
          </a:xfrm>
          <a:prstGeom prst="roundRect">
            <a:avLst>
              <a:gd name="adj" fmla="val 6486"/>
            </a:avLst>
          </a:prstGeom>
          <a:solidFill>
            <a:srgbClr val="12494A"/>
          </a:solidFill>
          <a:ln w="12700">
            <a:solidFill>
              <a:srgbClr val="1E6061"/>
            </a:solidFill>
            <a:prstDash val="solid"/>
          </a:ln>
        </p:spPr>
      </p:sp>
      <p:sp>
        <p:nvSpPr>
          <p:cNvPr id="7" name="Shape 5"/>
          <p:cNvSpPr/>
          <p:nvPr/>
        </p:nvSpPr>
        <p:spPr>
          <a:xfrm>
            <a:off x="950976" y="3611880"/>
            <a:ext cx="237744" cy="237744"/>
          </a:xfrm>
          <a:prstGeom prst="ellipse">
            <a:avLst/>
          </a:prstGeom>
          <a:solidFill>
            <a:srgbClr val="58BDB2"/>
          </a:solidFill>
          <a:ln w="12700">
            <a:solidFill>
              <a:srgbClr val="58BDB2"/>
            </a:solidFill>
            <a:prstDash val="solid"/>
          </a:ln>
        </p:spPr>
      </p:sp>
      <p:sp>
        <p:nvSpPr>
          <p:cNvPr id="8" name="Text 6"/>
          <p:cNvSpPr/>
          <p:nvPr/>
        </p:nvSpPr>
        <p:spPr>
          <a:xfrm>
            <a:off x="1316736" y="3502152"/>
            <a:ext cx="2542032" cy="457200"/>
          </a:xfrm>
          <a:prstGeom prst="rect">
            <a:avLst/>
          </a:prstGeom>
          <a:noFill/>
          <a:ln/>
        </p:spPr>
        <p:txBody>
          <a:bodyPr wrap="square" lIns="0" tIns="0" rIns="0" bIns="0" rtlCol="0" anchor="ctr"/>
          <a:lstStyle/>
          <a:p>
            <a:pPr algn="l" indent="0" marL="0">
              <a:buNone/>
            </a:pPr>
            <a:r>
              <a:rPr lang="en-US" altLang="en-US" sz="1700" b="1" dirty="0">
                <a:solidFill>
                  <a:srgbClr val="58BDB2"/>
                </a:solidFill>
                <a:latin typeface="Calibri" pitchFamily="34" charset="0"/>
                <a:ea typeface="Calibri" pitchFamily="34" charset="-122"/>
                <a:cs typeface="Calibri" pitchFamily="34" charset="-120"/>
              </a:rPr>
              <a:t>Monitoring</a:t>
            </a:r>
            <a:endParaRPr lang="en-US" sz="1700" dirty="0"/>
          </a:p>
        </p:txBody>
      </p:sp>
      <p:sp>
        <p:nvSpPr>
          <p:cNvPr id="9" name="Text 7"/>
          <p:cNvSpPr/>
          <p:nvPr/>
        </p:nvSpPr>
        <p:spPr>
          <a:xfrm>
            <a:off x="950976" y="4041648"/>
            <a:ext cx="2871216" cy="868680"/>
          </a:xfrm>
          <a:prstGeom prst="rect">
            <a:avLst/>
          </a:prstGeom>
          <a:noFill/>
          <a:ln/>
        </p:spPr>
        <p:txBody>
          <a:bodyPr wrap="square" lIns="0" tIns="0" rIns="0" bIns="0" rtlCol="0" anchor="t"/>
          <a:lstStyle/>
          <a:p>
            <a:pPr algn="l" indent="0" marL="0">
              <a:buNone/>
            </a:pPr>
            <a:r>
              <a:rPr lang="en-US" altLang="en-US" sz="1400" dirty="0">
                <a:solidFill>
                  <a:srgbClr val="C8DEDC"/>
                </a:solidFill>
                <a:latin typeface="Calibri" pitchFamily="34" charset="0"/>
                <a:ea typeface="Calibri" pitchFamily="34" charset="-122"/>
                <a:cs typeface="Calibri" pitchFamily="34" charset="-120"/>
              </a:rPr>
              <a:t>Recitation card / home-school notebook</a:t>
            </a:r>
            <a:endParaRPr lang="en-US" sz="1400" dirty="0"/>
          </a:p>
        </p:txBody>
      </p:sp>
      <p:sp>
        <p:nvSpPr>
          <p:cNvPr id="10" name="Shape 8"/>
          <p:cNvSpPr/>
          <p:nvPr/>
        </p:nvSpPr>
        <p:spPr>
          <a:xfrm>
            <a:off x="4370832" y="3310128"/>
            <a:ext cx="3456432" cy="1691640"/>
          </a:xfrm>
          <a:prstGeom prst="roundRect">
            <a:avLst>
              <a:gd name="adj" fmla="val 6486"/>
            </a:avLst>
          </a:prstGeom>
          <a:solidFill>
            <a:srgbClr val="12494A"/>
          </a:solidFill>
          <a:ln w="12700">
            <a:solidFill>
              <a:srgbClr val="1E6061"/>
            </a:solidFill>
            <a:prstDash val="solid"/>
          </a:ln>
        </p:spPr>
      </p:sp>
      <p:sp>
        <p:nvSpPr>
          <p:cNvPr id="11" name="Shape 9"/>
          <p:cNvSpPr/>
          <p:nvPr/>
        </p:nvSpPr>
        <p:spPr>
          <a:xfrm>
            <a:off x="4663440" y="3611880"/>
            <a:ext cx="237744" cy="237744"/>
          </a:xfrm>
          <a:prstGeom prst="ellipse">
            <a:avLst/>
          </a:prstGeom>
          <a:solidFill>
            <a:srgbClr val="EDB349"/>
          </a:solidFill>
          <a:ln w="12700">
            <a:solidFill>
              <a:srgbClr val="EDB349"/>
            </a:solidFill>
            <a:prstDash val="solid"/>
          </a:ln>
        </p:spPr>
      </p:sp>
      <p:sp>
        <p:nvSpPr>
          <p:cNvPr id="12" name="Text 10"/>
          <p:cNvSpPr/>
          <p:nvPr/>
        </p:nvSpPr>
        <p:spPr>
          <a:xfrm>
            <a:off x="5029200" y="3502152"/>
            <a:ext cx="2542032" cy="457200"/>
          </a:xfrm>
          <a:prstGeom prst="rect">
            <a:avLst/>
          </a:prstGeom>
          <a:noFill/>
          <a:ln/>
        </p:spPr>
        <p:txBody>
          <a:bodyPr wrap="square" lIns="0" tIns="0" rIns="0" bIns="0" rtlCol="0" anchor="ctr"/>
          <a:lstStyle/>
          <a:p>
            <a:pPr algn="l" indent="0" marL="0">
              <a:buNone/>
            </a:pPr>
            <a:r>
              <a:rPr lang="en-US" altLang="en-US" sz="1700" b="1" dirty="0">
                <a:solidFill>
                  <a:srgbClr val="EDB349"/>
                </a:solidFill>
                <a:latin typeface="Calibri" pitchFamily="34" charset="0"/>
                <a:ea typeface="Calibri" pitchFamily="34" charset="-122"/>
                <a:cs typeface="Calibri" pitchFamily="34" charset="-120"/>
              </a:rPr>
              <a:t>Help</a:t>
            </a:r>
            <a:endParaRPr lang="en-US" sz="1700" dirty="0"/>
          </a:p>
        </p:txBody>
      </p:sp>
      <p:sp>
        <p:nvSpPr>
          <p:cNvPr id="13" name="Text 11"/>
          <p:cNvSpPr/>
          <p:nvPr/>
        </p:nvSpPr>
        <p:spPr>
          <a:xfrm>
            <a:off x="4663440" y="4041648"/>
            <a:ext cx="2871216" cy="868680"/>
          </a:xfrm>
          <a:prstGeom prst="rect">
            <a:avLst/>
          </a:prstGeom>
          <a:noFill/>
          <a:ln/>
        </p:spPr>
        <p:txBody>
          <a:bodyPr wrap="square" lIns="0" tIns="0" rIns="0" bIns="0" rtlCol="0" anchor="t"/>
          <a:lstStyle/>
          <a:p>
            <a:pPr algn="l" indent="0" marL="0">
              <a:buNone/>
            </a:pPr>
            <a:r>
              <a:rPr lang="en-US" altLang="en-US" sz="1400" dirty="0">
                <a:solidFill>
                  <a:srgbClr val="C8DEDC"/>
                </a:solidFill>
                <a:latin typeface="Calibri" pitchFamily="34" charset="0"/>
                <a:ea typeface="Calibri" pitchFamily="34" charset="-122"/>
                <a:cs typeface="Calibri" pitchFamily="34" charset="-120"/>
              </a:rPr>
              <a:t>At home (beginners), 15 min./day, no pressure</a:t>
            </a:r>
            <a:endParaRPr lang="en-US" sz="1400" dirty="0"/>
          </a:p>
        </p:txBody>
      </p:sp>
      <p:sp>
        <p:nvSpPr>
          <p:cNvPr id="14" name="Shape 12"/>
          <p:cNvSpPr/>
          <p:nvPr/>
        </p:nvSpPr>
        <p:spPr>
          <a:xfrm>
            <a:off x="8083296" y="3310128"/>
            <a:ext cx="3456432" cy="1691640"/>
          </a:xfrm>
          <a:prstGeom prst="roundRect">
            <a:avLst>
              <a:gd name="adj" fmla="val 6486"/>
            </a:avLst>
          </a:prstGeom>
          <a:solidFill>
            <a:srgbClr val="12494A"/>
          </a:solidFill>
          <a:ln w="12700">
            <a:solidFill>
              <a:srgbClr val="1E6061"/>
            </a:solidFill>
            <a:prstDash val="solid"/>
          </a:ln>
        </p:spPr>
      </p:sp>
      <p:sp>
        <p:nvSpPr>
          <p:cNvPr id="15" name="Shape 13"/>
          <p:cNvSpPr/>
          <p:nvPr/>
        </p:nvSpPr>
        <p:spPr>
          <a:xfrm>
            <a:off x="8375904" y="3611880"/>
            <a:ext cx="237744" cy="237744"/>
          </a:xfrm>
          <a:prstGeom prst="ellipse">
            <a:avLst/>
          </a:prstGeom>
          <a:solidFill>
            <a:srgbClr val="8CC172"/>
          </a:solidFill>
          <a:ln w="12700">
            <a:solidFill>
              <a:srgbClr val="8CC172"/>
            </a:solidFill>
            <a:prstDash val="solid"/>
          </a:ln>
        </p:spPr>
      </p:sp>
      <p:sp>
        <p:nvSpPr>
          <p:cNvPr id="16" name="Text 14"/>
          <p:cNvSpPr/>
          <p:nvPr/>
        </p:nvSpPr>
        <p:spPr>
          <a:xfrm>
            <a:off x="8741664" y="3502152"/>
            <a:ext cx="2542032" cy="457200"/>
          </a:xfrm>
          <a:prstGeom prst="rect">
            <a:avLst/>
          </a:prstGeom>
          <a:noFill/>
          <a:ln/>
        </p:spPr>
        <p:txBody>
          <a:bodyPr wrap="square" lIns="0" tIns="0" rIns="0" bIns="0" rtlCol="0" anchor="ctr"/>
          <a:lstStyle/>
          <a:p>
            <a:pPr algn="l" indent="0" marL="0">
              <a:buNone/>
            </a:pPr>
            <a:r>
              <a:rPr lang="en-US" altLang="en-US" sz="1700" b="1" dirty="0">
                <a:solidFill>
                  <a:srgbClr val="8CC172"/>
                </a:solidFill>
                <a:latin typeface="Calibri" pitchFamily="34" charset="0"/>
                <a:ea typeface="Calibri" pitchFamily="34" charset="-122"/>
                <a:cs typeface="Calibri" pitchFamily="34" charset="-120"/>
              </a:rPr>
              <a:t>Consistency</a:t>
            </a:r>
            <a:endParaRPr lang="en-US" sz="1700" dirty="0"/>
          </a:p>
        </p:txBody>
      </p:sp>
      <p:sp>
        <p:nvSpPr>
          <p:cNvPr id="17" name="Text 15"/>
          <p:cNvSpPr/>
          <p:nvPr/>
        </p:nvSpPr>
        <p:spPr>
          <a:xfrm>
            <a:off x="8375904" y="4041648"/>
            <a:ext cx="2871216" cy="868680"/>
          </a:xfrm>
          <a:prstGeom prst="rect">
            <a:avLst/>
          </a:prstGeom>
          <a:noFill/>
          <a:ln/>
        </p:spPr>
        <p:txBody>
          <a:bodyPr wrap="square" lIns="0" tIns="0" rIns="0" bIns="0" rtlCol="0" anchor="t"/>
          <a:lstStyle/>
          <a:p>
            <a:pPr algn="l" indent="0" marL="0">
              <a:buNone/>
            </a:pPr>
            <a:r>
              <a:rPr lang="en-US" altLang="en-US" sz="1400" dirty="0">
                <a:solidFill>
                  <a:srgbClr val="C8DEDC"/>
                </a:solidFill>
                <a:latin typeface="Calibri" pitchFamily="34" charset="0"/>
                <a:ea typeface="Calibri" pitchFamily="34" charset="-122"/>
                <a:cs typeface="Calibri" pitchFamily="34" charset="-120"/>
              </a:rPr>
              <a:t>Getting used to daily homework</a:t>
            </a:r>
            <a:endParaRPr lang="en-US" sz="1400" dirty="0"/>
          </a:p>
        </p:txBody>
      </p:sp>
      <p:sp>
        <p:nvSpPr>
          <p:cNvPr id="18" name="Text 16"/>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9" name="Text 17"/>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B3C"/>
        </a:solidFill>
      </p:bgPr>
    </p:bg>
    <p:spTree>
      <p:nvGrpSpPr>
        <p:cNvPr id="1" name=""/>
        <p:cNvGrpSpPr/>
        <p:nvPr/>
      </p:nvGrpSpPr>
      <p:grpSpPr>
        <a:xfrm>
          <a:off x="0" y="0"/>
          <a:ext cx="0" cy="0"/>
          <a:chOff x="0" y="0"/>
          <a:chExt cx="0" cy="0"/>
        </a:xfrm>
      </p:grpSpPr>
      <p:sp>
        <p:nvSpPr>
          <p:cNvPr id="2" name="Text 0"/>
          <p:cNvSpPr/>
          <p:nvPr/>
        </p:nvSpPr>
        <p:spPr>
          <a:xfrm>
            <a:off x="1005840" y="1874520"/>
            <a:ext cx="10149840" cy="411480"/>
          </a:xfrm>
          <a:prstGeom prst="rect">
            <a:avLst/>
          </a:prstGeom>
          <a:noFill/>
          <a:ln/>
        </p:spPr>
        <p:txBody>
          <a:bodyPr wrap="square" lIns="0" tIns="0" rIns="0" bIns="0" rtlCol="0" anchor="ctr"/>
          <a:lstStyle/>
          <a:p>
            <a:pPr algn="ctr" indent="0" marL="0">
              <a:buNone/>
            </a:pPr>
            <a:r>
              <a:rPr lang="en-US" altLang="en-US" sz="1700" spc="200" kern="0" dirty="0">
                <a:solidFill>
                  <a:srgbClr val="9DC4C2"/>
                </a:solidFill>
                <a:latin typeface="Calibri" pitchFamily="34" charset="0"/>
                <a:ea typeface="Calibri" pitchFamily="34" charset="-122"/>
                <a:cs typeface="Calibri" pitchFamily="34" charset="-120"/>
              </a:rPr>
              <a:t>Bitaqat Hifd Qor’an</a:t>
            </a:r>
            <a:endParaRPr lang="en-US" sz="1700" dirty="0"/>
          </a:p>
        </p:txBody>
      </p:sp>
      <p:sp>
        <p:nvSpPr>
          <p:cNvPr id="3" name="Text 1"/>
          <p:cNvSpPr/>
          <p:nvPr/>
        </p:nvSpPr>
        <p:spPr>
          <a:xfrm>
            <a:off x="1005840" y="2450592"/>
            <a:ext cx="10149840" cy="868680"/>
          </a:xfrm>
          <a:prstGeom prst="rect">
            <a:avLst/>
          </a:prstGeom>
          <a:noFill/>
          <a:ln/>
        </p:spPr>
        <p:txBody>
          <a:bodyPr wrap="square" lIns="0" tIns="0" rIns="0" bIns="0" rtlCol="0" anchor="ctr"/>
          <a:lstStyle/>
          <a:p>
            <a:pPr algn="ctr" indent="0" marL="0">
              <a:buNone/>
            </a:pPr>
            <a:r>
              <a:rPr lang="en-US" altLang="en-US" sz="4000" b="1" dirty="0">
                <a:solidFill>
                  <a:srgbClr val="FFFFFF"/>
                </a:solidFill>
                <a:latin typeface="Cambria" pitchFamily="34" charset="0"/>
                <a:ea typeface="Cambria" pitchFamily="34" charset="-122"/>
                <a:cs typeface="Cambria" pitchFamily="34" charset="-120"/>
              </a:rPr>
              <a:t>Questions &amp; Answers</a:t>
            </a:r>
            <a:endParaRPr lang="en-US" sz="4000" dirty="0"/>
          </a:p>
        </p:txBody>
      </p:sp>
      <p:sp>
        <p:nvSpPr>
          <p:cNvPr id="4" name="Text 2"/>
          <p:cNvSpPr/>
          <p:nvPr/>
        </p:nvSpPr>
        <p:spPr>
          <a:xfrm>
            <a:off x="1005840" y="3520440"/>
            <a:ext cx="10149840" cy="457200"/>
          </a:xfrm>
          <a:prstGeom prst="rect">
            <a:avLst/>
          </a:prstGeom>
          <a:noFill/>
          <a:ln/>
        </p:spPr>
        <p:txBody>
          <a:bodyPr wrap="square" lIns="0" tIns="0" rIns="0" bIns="0" rtlCol="0" anchor="ctr"/>
          <a:lstStyle/>
          <a:p>
            <a:pPr algn="ctr" indent="0" marL="0">
              <a:buNone/>
            </a:pPr>
            <a:r>
              <a:rPr lang="en-US" altLang="en-US" sz="2000" b="1" dirty="0">
                <a:solidFill>
                  <a:srgbClr val="D9982B"/>
                </a:solidFill>
                <a:latin typeface="Calibri" pitchFamily="34" charset="0"/>
                <a:ea typeface="Calibri" pitchFamily="34" charset="-122"/>
                <a:cs typeface="Calibri" pitchFamily="34" charset="-120"/>
              </a:rPr>
              <a:t>The recitation card system</a:t>
            </a:r>
            <a:endParaRPr lang="en-US" sz="2000" dirty="0"/>
          </a:p>
        </p:txBody>
      </p:sp>
      <p:sp>
        <p:nvSpPr>
          <p:cNvPr id="5" name="Shape 3"/>
          <p:cNvSpPr/>
          <p:nvPr/>
        </p:nvSpPr>
        <p:spPr>
          <a:xfrm>
            <a:off x="4212184" y="4892040"/>
            <a:ext cx="384048" cy="384048"/>
          </a:xfrm>
          <a:prstGeom prst="ellipse">
            <a:avLst/>
          </a:prstGeom>
          <a:solidFill>
            <a:srgbClr val="3F4A4A"/>
          </a:solidFill>
          <a:ln w="12700">
            <a:solidFill>
              <a:srgbClr val="3F4A4A"/>
            </a:solidFill>
            <a:prstDash val="solid"/>
          </a:ln>
        </p:spPr>
      </p:sp>
      <p:sp>
        <p:nvSpPr>
          <p:cNvPr id="6" name="Text 4"/>
          <p:cNvSpPr/>
          <p:nvPr/>
        </p:nvSpPr>
        <p:spPr>
          <a:xfrm>
            <a:off x="4212184"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Shape 5"/>
          <p:cNvSpPr/>
          <p:nvPr/>
        </p:nvSpPr>
        <p:spPr>
          <a:xfrm>
            <a:off x="4888840" y="4892040"/>
            <a:ext cx="384048" cy="384048"/>
          </a:xfrm>
          <a:prstGeom prst="ellipse">
            <a:avLst/>
          </a:prstGeom>
          <a:solidFill>
            <a:srgbClr val="E8B62C"/>
          </a:solidFill>
          <a:ln w="12700">
            <a:solidFill>
              <a:srgbClr val="E8B62C"/>
            </a:solidFill>
            <a:prstDash val="solid"/>
          </a:ln>
        </p:spPr>
      </p:sp>
      <p:sp>
        <p:nvSpPr>
          <p:cNvPr id="8" name="Text 6"/>
          <p:cNvSpPr/>
          <p:nvPr/>
        </p:nvSpPr>
        <p:spPr>
          <a:xfrm>
            <a:off x="4888840" y="4892040"/>
            <a:ext cx="384048" cy="384048"/>
          </a:xfrm>
          <a:prstGeom prst="rect">
            <a:avLst/>
          </a:prstGeom>
          <a:noFill/>
          <a:ln/>
        </p:spPr>
        <p:txBody>
          <a:bodyPr wrap="square" lIns="0" tIns="0" rIns="0" bIns="0" rtlCol="0" anchor="ctr"/>
          <a:lstStyle/>
          <a:p>
            <a:pPr algn="ctr" indent="0" marL="0">
              <a:buNone/>
            </a:pPr>
            <a:r>
              <a:rPr lang="en-US" sz="1100" b="1" dirty="0">
                <a:solidFill>
                  <a:srgbClr val="0B3B3C"/>
                </a:solidFill>
                <a:latin typeface="Calibri" pitchFamily="34" charset="0"/>
                <a:ea typeface="Calibri" pitchFamily="34" charset="-122"/>
                <a:cs typeface="Calibri" pitchFamily="34" charset="-120"/>
              </a:rPr>
              <a:t>2</a:t>
            </a:r>
            <a:endParaRPr lang="en-US" sz="1100" dirty="0"/>
          </a:p>
        </p:txBody>
      </p:sp>
      <p:sp>
        <p:nvSpPr>
          <p:cNvPr id="9" name="Shape 7"/>
          <p:cNvSpPr/>
          <p:nvPr/>
        </p:nvSpPr>
        <p:spPr>
          <a:xfrm>
            <a:off x="5565496" y="4892040"/>
            <a:ext cx="384048" cy="384048"/>
          </a:xfrm>
          <a:prstGeom prst="ellipse">
            <a:avLst/>
          </a:prstGeom>
          <a:solidFill>
            <a:srgbClr val="E07E38"/>
          </a:solidFill>
          <a:ln w="12700">
            <a:solidFill>
              <a:srgbClr val="E07E38"/>
            </a:solidFill>
            <a:prstDash val="solid"/>
          </a:ln>
        </p:spPr>
      </p:sp>
      <p:sp>
        <p:nvSpPr>
          <p:cNvPr id="10" name="Text 8"/>
          <p:cNvSpPr/>
          <p:nvPr/>
        </p:nvSpPr>
        <p:spPr>
          <a:xfrm>
            <a:off x="5565496"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1" name="Shape 9"/>
          <p:cNvSpPr/>
          <p:nvPr/>
        </p:nvSpPr>
        <p:spPr>
          <a:xfrm>
            <a:off x="6242152" y="4892040"/>
            <a:ext cx="384048" cy="384048"/>
          </a:xfrm>
          <a:prstGeom prst="ellipse">
            <a:avLst/>
          </a:prstGeom>
          <a:solidFill>
            <a:srgbClr val="6FA25A"/>
          </a:solidFill>
          <a:ln w="12700">
            <a:solidFill>
              <a:srgbClr val="6FA25A"/>
            </a:solidFill>
            <a:prstDash val="solid"/>
          </a:ln>
        </p:spPr>
      </p:sp>
      <p:sp>
        <p:nvSpPr>
          <p:cNvPr id="12" name="Text 10"/>
          <p:cNvSpPr/>
          <p:nvPr/>
        </p:nvSpPr>
        <p:spPr>
          <a:xfrm>
            <a:off x="6242152"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3" name="Shape 11"/>
          <p:cNvSpPr/>
          <p:nvPr/>
        </p:nvSpPr>
        <p:spPr>
          <a:xfrm>
            <a:off x="6918808" y="4892040"/>
            <a:ext cx="384048" cy="384048"/>
          </a:xfrm>
          <a:prstGeom prst="ellipse">
            <a:avLst/>
          </a:prstGeom>
          <a:solidFill>
            <a:srgbClr val="3E85BE"/>
          </a:solidFill>
          <a:ln w="12700">
            <a:solidFill>
              <a:srgbClr val="3E85BE"/>
            </a:solidFill>
            <a:prstDash val="solid"/>
          </a:ln>
        </p:spPr>
      </p:sp>
      <p:sp>
        <p:nvSpPr>
          <p:cNvPr id="14" name="Text 12"/>
          <p:cNvSpPr/>
          <p:nvPr/>
        </p:nvSpPr>
        <p:spPr>
          <a:xfrm>
            <a:off x="6918808"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5" name="Shape 13"/>
          <p:cNvSpPr/>
          <p:nvPr/>
        </p:nvSpPr>
        <p:spPr>
          <a:xfrm>
            <a:off x="7595464" y="4892040"/>
            <a:ext cx="384048" cy="384048"/>
          </a:xfrm>
          <a:prstGeom prst="ellipse">
            <a:avLst/>
          </a:prstGeom>
          <a:solidFill>
            <a:srgbClr val="B5485C"/>
          </a:solidFill>
          <a:ln w="12700">
            <a:solidFill>
              <a:srgbClr val="B5485C"/>
            </a:solidFill>
            <a:prstDash val="solid"/>
          </a:ln>
        </p:spPr>
      </p:sp>
      <p:sp>
        <p:nvSpPr>
          <p:cNvPr id="16" name="Text 14"/>
          <p:cNvSpPr/>
          <p:nvPr/>
        </p:nvSpPr>
        <p:spPr>
          <a:xfrm>
            <a:off x="7595464"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7" name="Text 15"/>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8" name="Text 1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algn="l" indent="0" marL="0">
              <a:buNone/>
            </a:pPr>
            <a:r>
              <a:rPr lang="en-US" altLang="en-US" sz="3200" b="1" dirty="0">
                <a:solidFill>
                  <a:srgbClr val="0B3B3C"/>
                </a:solidFill>
                <a:latin typeface="Cambria" pitchFamily="34" charset="0"/>
                <a:ea typeface="Cambria" pitchFamily="34" charset="-122"/>
                <a:cs typeface="Cambria" pitchFamily="34" charset="-120"/>
              </a:rPr>
              <a:t>Licence</a:t>
            </a:r>
            <a:endParaRPr lang="en-US"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algn="l" indent="0" marL="0">
              <a:buNone/>
            </a:pPr>
            <a:r>
              <a:rPr lang="en-US" altLang="en-US" sz="1500" dirty="0">
                <a:solidFill>
                  <a:srgbClr val="137A7F"/>
                </a:solidFill>
                <a:latin typeface="Calibri" pitchFamily="34" charset="0"/>
                <a:ea typeface="Calibri" pitchFamily="34" charset="-122"/>
                <a:cs typeface="Calibri" pitchFamily="34" charset="-120"/>
              </a:rPr>
              <a:t>Free work — Creative Commons BY-NC 4.0</a:t>
            </a:r>
            <a:endParaRPr lang="en-US" sz="1500" dirty="0"/>
          </a:p>
        </p:txBody>
      </p:sp>
      <p:sp>
        <p:nvSpPr>
          <p:cNvPr id="4" name="Text 2"/>
          <p:cNvSpPr/>
          <p:nvPr/>
        </p:nvSpPr>
        <p:spPr>
          <a:xfrm>
            <a:off x="566928" y="1572768"/>
            <a:ext cx="11045952" cy="548640"/>
          </a:xfrm>
          <a:prstGeom prst="rect">
            <a:avLst/>
          </a:prstGeom>
          <a:noFill/>
          <a:ln/>
        </p:spPr>
        <p:txBody>
          <a:bodyPr wrap="square" lIns="0" tIns="0" rIns="0" bIns="0" rtlCol="0" anchor="t"/>
          <a:lstStyle/>
          <a:p>
            <a:pPr algn="l" indent="0" marL="0">
              <a:buNone/>
            </a:pPr>
            <a:r>
              <a:rPr lang="en-US" altLang="en-US" sz="1500" dirty="0">
                <a:solidFill>
                  <a:srgbClr val="24403F"/>
                </a:solidFill>
                <a:latin typeface="Calibri" pitchFamily="34" charset="0"/>
                <a:ea typeface="Calibri" pitchFamily="34" charset="-122"/>
                <a:cs typeface="Calibri" pitchFamily="34" charset="-120"/>
              </a:rPr>
              <a:t>This licence covers the pedagogical resources of the Bitaqat Hifd Qor’an project: recitation cards, tracking tools and methodology documents.</a:t>
            </a:r>
            <a:endParaRPr lang="en-US" sz="1500" dirty="0"/>
          </a:p>
        </p:txBody>
      </p:sp>
      <p:sp>
        <p:nvSpPr>
          <p:cNvPr id="5" name="Shape 3"/>
          <p:cNvSpPr/>
          <p:nvPr/>
        </p:nvSpPr>
        <p:spPr>
          <a:xfrm>
            <a:off x="566928" y="2331720"/>
            <a:ext cx="5367528" cy="2331720"/>
          </a:xfrm>
          <a:prstGeom prst="roundRect">
            <a:avLst>
              <a:gd name="adj" fmla="val 4706"/>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6" name="Shape 4"/>
          <p:cNvSpPr/>
          <p:nvPr/>
        </p:nvSpPr>
        <p:spPr>
          <a:xfrm>
            <a:off x="841248" y="2624328"/>
            <a:ext cx="201168" cy="201168"/>
          </a:xfrm>
          <a:prstGeom prst="ellipse">
            <a:avLst/>
          </a:prstGeom>
          <a:solidFill>
            <a:srgbClr val="137A7F"/>
          </a:solidFill>
          <a:ln w="12700">
            <a:solidFill>
              <a:srgbClr val="137A7F"/>
            </a:solidFill>
            <a:prstDash val="solid"/>
          </a:ln>
        </p:spPr>
      </p:sp>
      <p:sp>
        <p:nvSpPr>
          <p:cNvPr id="7" name="Text 5"/>
          <p:cNvSpPr/>
          <p:nvPr/>
        </p:nvSpPr>
        <p:spPr>
          <a:xfrm>
            <a:off x="1170432" y="2496312"/>
            <a:ext cx="4498848" cy="457200"/>
          </a:xfrm>
          <a:prstGeom prst="rect">
            <a:avLst/>
          </a:prstGeom>
          <a:noFill/>
          <a:ln/>
        </p:spPr>
        <p:txBody>
          <a:bodyPr wrap="square" lIns="0" tIns="0" rIns="0" bIns="0" rtlCol="0" anchor="ctr"/>
          <a:lstStyle/>
          <a:p>
            <a:pPr algn="l" indent="0" marL="0">
              <a:buNone/>
            </a:pPr>
            <a:r>
              <a:rPr lang="en-US" altLang="en-US" sz="1800" b="1" dirty="0">
                <a:solidFill>
                  <a:srgbClr val="0B3B3C"/>
                </a:solidFill>
                <a:latin typeface="Cambria" pitchFamily="34" charset="0"/>
                <a:ea typeface="Cambria" pitchFamily="34" charset="-122"/>
                <a:cs typeface="Cambria" pitchFamily="34" charset="-120"/>
              </a:rPr>
              <a:t>You are free to</a:t>
            </a:r>
            <a:endParaRPr lang="en-US" sz="1800" dirty="0"/>
          </a:p>
        </p:txBody>
      </p:sp>
      <p:sp>
        <p:nvSpPr>
          <p:cNvPr id="8" name="Text 6"/>
          <p:cNvSpPr/>
          <p:nvPr/>
        </p:nvSpPr>
        <p:spPr>
          <a:xfrm>
            <a:off x="1170432" y="3054096"/>
            <a:ext cx="4453128" cy="1463040"/>
          </a:xfrm>
          <a:prstGeom prst="rect">
            <a:avLst/>
          </a:prstGeom>
          <a:noFill/>
          <a:ln/>
        </p:spPr>
        <p:txBody>
          <a:bodyPr wrap="square" lIns="0" tIns="0" rIns="0" bIns="0" rtlCol="0" anchor="t"/>
          <a:lstStyle/>
          <a:p>
            <a:pPr algn="l" marL="342900" indent="-342900">
              <a:spcAft>
                <a:spcPts val="1000"/>
              </a:spcAft>
              <a:buSzPct val="100000"/>
              <a:buChar char="▪"/>
            </a:pPr>
            <a:r>
              <a:rPr lang="en-US" altLang="en-US" sz="1350" dirty="0">
                <a:solidFill>
                  <a:srgbClr val="24403F"/>
                </a:solidFill>
                <a:latin typeface="Calibri" pitchFamily="34" charset="0"/>
                <a:ea typeface="Calibri" pitchFamily="34" charset="-122"/>
                <a:cs typeface="Calibri" pitchFamily="34" charset="-120"/>
              </a:rPr>
              <a:t>Share — copy and distribute the content, in any medium or format</a:t>
            </a:r>
            <a:endParaRPr lang="en-US" sz="1350" dirty="0"/>
          </a:p>
          <a:p>
            <a:pPr algn="l" marL="342900" indent="-342900">
              <a:spcAft>
                <a:spcPts val="1000"/>
              </a:spcAft>
              <a:buSzPct val="100000"/>
              <a:buChar char="▪"/>
            </a:pPr>
            <a:r>
              <a:rPr lang="en-US" altLang="en-US" sz="1350" dirty="0">
                <a:solidFill>
                  <a:srgbClr val="24403F"/>
                </a:solidFill>
                <a:latin typeface="Calibri" pitchFamily="34" charset="0"/>
                <a:ea typeface="Calibri" pitchFamily="34" charset="-122"/>
                <a:cs typeface="Calibri" pitchFamily="34" charset="-120"/>
              </a:rPr>
              <a:t>Adapt — remix, transform and build upon the content</a:t>
            </a:r>
            <a:endParaRPr lang="en-US" sz="1350" dirty="0"/>
          </a:p>
        </p:txBody>
      </p:sp>
      <p:sp>
        <p:nvSpPr>
          <p:cNvPr id="9" name="Shape 7"/>
          <p:cNvSpPr/>
          <p:nvPr/>
        </p:nvSpPr>
        <p:spPr>
          <a:xfrm>
            <a:off x="6245352" y="2331720"/>
            <a:ext cx="5367528" cy="2331720"/>
          </a:xfrm>
          <a:prstGeom prst="roundRect">
            <a:avLst>
              <a:gd name="adj" fmla="val 4706"/>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0" name="Shape 8"/>
          <p:cNvSpPr/>
          <p:nvPr/>
        </p:nvSpPr>
        <p:spPr>
          <a:xfrm>
            <a:off x="6519672" y="2624328"/>
            <a:ext cx="201168" cy="201168"/>
          </a:xfrm>
          <a:prstGeom prst="ellipse">
            <a:avLst/>
          </a:prstGeom>
          <a:solidFill>
            <a:srgbClr val="D9982B"/>
          </a:solidFill>
          <a:ln w="12700">
            <a:solidFill>
              <a:srgbClr val="D9982B"/>
            </a:solidFill>
            <a:prstDash val="solid"/>
          </a:ln>
        </p:spPr>
      </p:sp>
      <p:sp>
        <p:nvSpPr>
          <p:cNvPr id="11" name="Text 9"/>
          <p:cNvSpPr/>
          <p:nvPr/>
        </p:nvSpPr>
        <p:spPr>
          <a:xfrm>
            <a:off x="6848856" y="2496312"/>
            <a:ext cx="4498848" cy="457200"/>
          </a:xfrm>
          <a:prstGeom prst="rect">
            <a:avLst/>
          </a:prstGeom>
          <a:noFill/>
          <a:ln/>
        </p:spPr>
        <p:txBody>
          <a:bodyPr wrap="square" lIns="0" tIns="0" rIns="0" bIns="0" rtlCol="0" anchor="ctr"/>
          <a:lstStyle/>
          <a:p>
            <a:pPr algn="l" indent="0" marL="0">
              <a:buNone/>
            </a:pPr>
            <a:r>
              <a:rPr lang="en-US" altLang="en-US" sz="1800" b="1" dirty="0">
                <a:solidFill>
                  <a:srgbClr val="0B3B3C"/>
                </a:solidFill>
                <a:latin typeface="Cambria" pitchFamily="34" charset="0"/>
                <a:ea typeface="Cambria" pitchFamily="34" charset="-122"/>
                <a:cs typeface="Cambria" pitchFamily="34" charset="-120"/>
              </a:rPr>
              <a:t>Provided that you</a:t>
            </a:r>
            <a:endParaRPr lang="en-US" sz="1800" dirty="0"/>
          </a:p>
        </p:txBody>
      </p:sp>
      <p:sp>
        <p:nvSpPr>
          <p:cNvPr id="12" name="Text 10"/>
          <p:cNvSpPr/>
          <p:nvPr/>
        </p:nvSpPr>
        <p:spPr>
          <a:xfrm>
            <a:off x="6848856" y="3054096"/>
            <a:ext cx="4453128" cy="1463040"/>
          </a:xfrm>
          <a:prstGeom prst="rect">
            <a:avLst/>
          </a:prstGeom>
          <a:noFill/>
          <a:ln/>
        </p:spPr>
        <p:txBody>
          <a:bodyPr wrap="square" lIns="0" tIns="0" rIns="0" bIns="0" rtlCol="0" anchor="t"/>
          <a:lstStyle/>
          <a:p>
            <a:pPr algn="l" marL="342900" indent="-342900">
              <a:spcAft>
                <a:spcPts val="1000"/>
              </a:spcAft>
              <a:buSzPct val="100000"/>
              <a:buChar char="▪"/>
            </a:pPr>
            <a:r>
              <a:rPr lang="en-US" altLang="en-US" sz="1350" dirty="0">
                <a:solidFill>
                  <a:srgbClr val="24403F"/>
                </a:solidFill>
                <a:latin typeface="Calibri" pitchFamily="34" charset="0"/>
                <a:ea typeface="Calibri" pitchFamily="34" charset="-122"/>
                <a:cs typeface="Calibri" pitchFamily="34" charset="-120"/>
              </a:rPr>
              <a:t>Credit “Bitaqat Hifd Qor’an — bitaqat-hifd-quran.com” and indicate any changes</a:t>
            </a:r>
            <a:endParaRPr lang="en-US" sz="1350" dirty="0"/>
          </a:p>
          <a:p>
            <a:pPr algn="l" marL="342900" indent="-342900">
              <a:spcAft>
                <a:spcPts val="1000"/>
              </a:spcAft>
              <a:buSzPct val="100000"/>
              <a:buChar char="▪"/>
            </a:pPr>
            <a:r>
              <a:rPr lang="en-US" altLang="en-US" sz="1350" dirty="0">
                <a:solidFill>
                  <a:srgbClr val="24403F"/>
                </a:solidFill>
                <a:latin typeface="Calibri" pitchFamily="34" charset="0"/>
                <a:ea typeface="Calibri" pitchFamily="34" charset="-122"/>
                <a:cs typeface="Calibri" pitchFamily="34" charset="-120"/>
              </a:rPr>
              <a:t>Make no commercial use of it, and do not sell it in any form</a:t>
            </a:r>
            <a:endParaRPr lang="en-US" sz="1350" dirty="0"/>
          </a:p>
        </p:txBody>
      </p:sp>
      <p:sp>
        <p:nvSpPr>
          <p:cNvPr id="13" name="Text 11"/>
          <p:cNvSpPr/>
          <p:nvPr/>
        </p:nvSpPr>
        <p:spPr>
          <a:xfrm>
            <a:off x="566928" y="4937760"/>
            <a:ext cx="11045952" cy="365760"/>
          </a:xfrm>
          <a:prstGeom prst="rect">
            <a:avLst/>
          </a:prstGeom>
          <a:noFill/>
          <a:ln/>
        </p:spPr>
        <p:txBody>
          <a:bodyPr wrap="square" lIns="0" tIns="0" rIns="0" bIns="0" rtlCol="0" anchor="ctr"/>
          <a:lstStyle/>
          <a:p>
            <a:pPr algn="l" indent="0" marL="0">
              <a:buNone/>
            </a:pPr>
            <a:r>
              <a:rPr lang="en-US" altLang="en-US" sz="1200" i="1" dirty="0">
                <a:solidFill>
                  <a:srgbClr val="5F7574"/>
                </a:solidFill>
                <a:latin typeface="Calibri" pitchFamily="34" charset="0"/>
                <a:ea typeface="Calibri" pitchFamily="34" charset="-122"/>
                <a:cs typeface="Calibri" pitchFamily="34" charset="-120"/>
              </a:rPr>
              <a:t>Full text: creativecommons.org/licenses/by-nc/4.0/legalcode</a:t>
            </a:r>
            <a:endParaRPr lang="en-US" sz="1200" dirty="0"/>
          </a:p>
        </p:txBody>
      </p:sp>
      <p:sp>
        <p:nvSpPr>
          <p:cNvPr id="14" name="Text 12"/>
          <p:cNvSpPr/>
          <p:nvPr/>
        </p:nvSpPr>
        <p:spPr>
          <a:xfrm>
            <a:off x="566928" y="6382512"/>
            <a:ext cx="7772400" cy="274320"/>
          </a:xfrm>
          <a:prstGeom prst="rect">
            <a:avLst/>
          </a:prstGeom>
          <a:noFill/>
          <a:ln/>
        </p:spPr>
        <p:txBody>
          <a:bodyPr wrap="square" lIns="0" tIns="0" rIns="0" bIns="0" rtlCol="0" anchor="ctr"/>
          <a:lstStyle/>
          <a:p>
            <a:pPr algn="l" indent="0" marL="0">
              <a:buNone/>
            </a:pPr>
            <a:r>
              <a:rPr lang="en-US" altLang="en-US" sz="1000" dirty="0">
                <a:solidFill>
                  <a:srgbClr val="5F7574"/>
                </a:solidFill>
                <a:latin typeface="Calibri" pitchFamily="34" charset="0"/>
                <a:ea typeface="Calibri" pitchFamily="34" charset="-122"/>
                <a:cs typeface="Calibri" pitchFamily="34" charset="-120"/>
              </a:rPr>
              <a:t>Free work — Non-commercial — bitaqat-hifd-quran.com</a:t>
            </a:r>
            <a:endParaRPr lang="en-US" sz="1000" dirty="0"/>
          </a:p>
        </p:txBody>
      </p:sp>
      <p:sp>
        <p:nvSpPr>
          <p:cNvPr id="15" name="Text 13"/>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Bitaqat Hifd Qor’an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the Qur’an, step by step</dc:title>
  <dc:subject>The recitation card system</dc:subject>
  <dc:creator>Bitaqat Hifd Qor’an</dc:creator>
  <cp:lastModifiedBy>Bitaqat Hifd Qor’an</cp:lastModifiedBy>
  <cp:revision>1</cp:revision>
  <dcterms:created xsi:type="dcterms:W3CDTF">2026-07-26T11:22:21Z</dcterms:created>
  <dcterms:modified xsi:type="dcterms:W3CDTF">2026-07-26T11:22:21Z</dcterms:modified>
</cp:coreProperties>
</file>
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7A7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998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E7BA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E3B4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Récitation</c:v>
                </c:pt>
                <c:pt idx="1">
                  <c:v>Révision</c:v>
                </c:pt>
                <c:pt idx="2">
                  <c:v>Lecture / tajwîd</c:v>
                </c:pt>
                <c:pt idx="3">
                  <c:v>Éducation islamique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objectifs mensuels  (ou un objectif par sourate pour niveau débutant)
Chaque objectif est décomposé en échéances hebdomadaires
A chaque objectif hebdomadaire correspond une case
Si la récitation est correcte, le professeur valide la case en y inscrivant la date
Si l’objectif n’est pas atteint, la case reste vide - l’objectif est reporté à la semaine suivante
Si 2 objectifs consécutifs non atteints , prise de rendez-vous avec les parents
Validations intermédiaires (mensuel, bimestriel et quadri menstruel)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catégorie d’un élève se définit grâce aux critères suivants:
Maîtrise de la lecture
Degré d’autonomie d’apprentissage
Capacité quantitative d’apprentissage (seuil minimal : 1/8 de Hizb par semaine)
Pour faire partie de la catégorie « Avancé », il faut réunir les 3 critères.
Pour faire partie de la catégorie « Intermédiaire », il faut réunir les 2 1ier critères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57276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altLang="en-US" sz="1700" spc="200" kern="0" dirty="0">
                <a:solidFill>
                  <a:srgbClr val="9D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Bitaqat Hifd Qor’an</a:t>
            </a:r>
            <a:endParaRPr lang="fr-FR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alt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Apprendre le Coran, étape par étape</a:t>
            </a:r>
            <a:endParaRPr lang="fr-FR" sz="4000" dirty="0"/>
          </a:p>
        </p:txBody>
      </p:sp>
      <p:sp>
        <p:nvSpPr>
          <p:cNvPr id="4" name="Text 2"/>
          <p:cNvSpPr/>
          <p:nvPr/>
        </p:nvSpPr>
        <p:spPr>
          <a:xfrm>
            <a:off x="1005840" y="33101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altLang="en-US" sz="2000" b="1" dirty="0">
                <a:solidFill>
                  <a:srgbClr val="D99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des cartes de récitation</a:t>
            </a:r>
            <a:endParaRPr lang="fr-FR" sz="2000" dirty="0"/>
          </a:p>
        </p:txBody>
      </p:sp>
      <p:sp>
        <p:nvSpPr>
          <p:cNvPr id="5" name="Shape 3"/>
          <p:cNvSpPr/>
          <p:nvPr/>
        </p:nvSpPr>
        <p:spPr>
          <a:xfrm>
            <a:off x="4212184" y="4754880"/>
            <a:ext cx="384048" cy="384048"/>
          </a:xfrm>
          <a:prstGeom prst="ellipse">
            <a:avLst/>
          </a:prstGeom>
          <a:solidFill>
            <a:srgbClr val="3F4A4A"/>
          </a:solidFill>
          <a:ln w="12700">
            <a:solidFill>
              <a:srgbClr val="3F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12184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88840" y="4754880"/>
            <a:ext cx="384048" cy="384048"/>
          </a:xfrm>
          <a:prstGeom prst="ellipse">
            <a:avLst/>
          </a:prstGeom>
          <a:solidFill>
            <a:srgbClr val="E8B62C"/>
          </a:solidFill>
          <a:ln w="12700">
            <a:solidFill>
              <a:srgbClr val="E8B6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888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65496" y="4754880"/>
            <a:ext cx="384048" cy="384048"/>
          </a:xfrm>
          <a:prstGeom prst="ellipse">
            <a:avLst/>
          </a:prstGeom>
          <a:solidFill>
            <a:srgbClr val="E07E38"/>
          </a:solidFill>
          <a:ln w="12700">
            <a:solidFill>
              <a:srgbClr val="E07E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65496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2152" y="4754880"/>
            <a:ext cx="384048" cy="384048"/>
          </a:xfrm>
          <a:prstGeom prst="ellipse">
            <a:avLst/>
          </a:prstGeom>
          <a:solidFill>
            <a:srgbClr val="6FA25A"/>
          </a:solidFill>
          <a:ln w="12700">
            <a:solidFill>
              <a:srgbClr val="6FA2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2152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8808" y="4754880"/>
            <a:ext cx="384048" cy="384048"/>
          </a:xfrm>
          <a:prstGeom prst="ellipse">
            <a:avLst/>
          </a:prstGeom>
          <a:solidFill>
            <a:srgbClr val="3E85BE"/>
          </a:solidFill>
          <a:ln w="12700">
            <a:solidFill>
              <a:srgbClr val="3E8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8808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95464" y="4754880"/>
            <a:ext cx="384048" cy="384048"/>
          </a:xfrm>
          <a:prstGeom prst="ellipse">
            <a:avLst/>
          </a:prstGeom>
          <a:solidFill>
            <a:srgbClr val="B5485C"/>
          </a:solidFill>
          <a:ln w="12700">
            <a:solidFill>
              <a:srgbClr val="B54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95464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18" name="Text 16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</a:t>
            </a:r>
            <a:endParaRPr lang="fr-FR" sz="3200" dirty="0"/>
          </a:p>
        </p:txBody>
      </p:sp>
      <p:sp>
        <p:nvSpPr>
          <p:cNvPr id="3" name="Shape 1"/>
          <p:cNvSpPr/>
          <p:nvPr/>
        </p:nvSpPr>
        <p:spPr>
          <a:xfrm>
            <a:off x="636880" y="16916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29488" y="1993392"/>
            <a:ext cx="566928" cy="566928"/>
          </a:xfrm>
          <a:prstGeom prst="ellipse">
            <a:avLst/>
          </a:prstGeom>
          <a:solidFill>
            <a:srgbClr val="137A7F"/>
          </a:solidFill>
          <a:ln w="12700">
            <a:solidFill>
              <a:srgbClr val="137A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9488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29488" y="2761488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altLang="en-US" sz="19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Pédagogie par objectifs</a:t>
            </a:r>
            <a:endParaRPr lang="fr-FR" sz="1900" dirty="0"/>
          </a:p>
        </p:txBody>
      </p:sp>
      <p:sp>
        <p:nvSpPr>
          <p:cNvPr id="7" name="Text 5"/>
          <p:cNvSpPr/>
          <p:nvPr/>
        </p:nvSpPr>
        <p:spPr>
          <a:xfrm>
            <a:off x="929488" y="3657600"/>
            <a:ext cx="2798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▪"/>
            </a:pPr>
            <a:r>
              <a:rPr lang="fr-FR" altLang="en-US" sz="14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d’apprentissage individualisé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▪"/>
            </a:pPr>
            <a:r>
              <a:rPr lang="fr-FR" altLang="en-US" sz="14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personnalisé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4208" y="16916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6816" y="1993392"/>
            <a:ext cx="566928" cy="566928"/>
          </a:xfrm>
          <a:prstGeom prst="ellipse">
            <a:avLst/>
          </a:prstGeom>
          <a:solidFill>
            <a:srgbClr val="D9982B"/>
          </a:solidFill>
          <a:ln w="12700">
            <a:solidFill>
              <a:srgbClr val="D998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6816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6816" y="2761488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altLang="en-US" sz="19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Acteurs et Répartition des rôles</a:t>
            </a:r>
            <a:endParaRPr lang="fr-FR" sz="1900" dirty="0"/>
          </a:p>
        </p:txBody>
      </p:sp>
      <p:sp>
        <p:nvSpPr>
          <p:cNvPr id="12" name="Shape 10"/>
          <p:cNvSpPr/>
          <p:nvPr/>
        </p:nvSpPr>
        <p:spPr>
          <a:xfrm>
            <a:off x="8171536" y="16916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64144" y="1993392"/>
            <a:ext cx="566928" cy="566928"/>
          </a:xfrm>
          <a:prstGeom prst="ellipse">
            <a:avLst/>
          </a:prstGeom>
          <a:solidFill>
            <a:srgbClr val="9E3B4E"/>
          </a:solidFill>
          <a:ln w="12700">
            <a:solidFill>
              <a:srgbClr val="9E3B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4144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64144" y="2761488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altLang="en-US" sz="19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Exigences</a:t>
            </a:r>
            <a:endParaRPr lang="fr-FR" sz="1900" dirty="0"/>
          </a:p>
        </p:txBody>
      </p:sp>
      <p:sp>
        <p:nvSpPr>
          <p:cNvPr id="16" name="Text 14"/>
          <p:cNvSpPr/>
          <p:nvPr/>
        </p:nvSpPr>
        <p:spPr>
          <a:xfrm>
            <a:off x="8464144" y="3657600"/>
            <a:ext cx="2798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▪"/>
            </a:pPr>
            <a:r>
              <a:rPr lang="fr-FR" altLang="en-US" sz="14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forte de la part des parents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▪"/>
            </a:pPr>
            <a:r>
              <a:rPr lang="fr-FR" altLang="en-US" sz="14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à la maison / récitation en cours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18" name="Text 16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</a:t>
            </a:r>
            <a:endParaRPr lang="fr-FR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4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(suite)</a:t>
            </a:r>
            <a:endParaRPr lang="fr-FR" sz="1500" dirty="0"/>
          </a:p>
        </p:txBody>
      </p:sp>
      <p:sp>
        <p:nvSpPr>
          <p:cNvPr id="4" name="Shape 2"/>
          <p:cNvSpPr/>
          <p:nvPr/>
        </p:nvSpPr>
        <p:spPr>
          <a:xfrm>
            <a:off x="691744" y="178308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5792" y="2121408"/>
            <a:ext cx="256032" cy="256032"/>
          </a:xfrm>
          <a:prstGeom prst="ellipse">
            <a:avLst/>
          </a:prstGeom>
          <a:solidFill>
            <a:srgbClr val="137A7F"/>
          </a:solidFill>
          <a:ln w="12700">
            <a:solidFill>
              <a:srgbClr val="137A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6416" y="20116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2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affichés</a:t>
            </a:r>
            <a:endParaRPr lang="fr-FR" sz="2200" dirty="0"/>
          </a:p>
        </p:txBody>
      </p:sp>
      <p:sp>
        <p:nvSpPr>
          <p:cNvPr id="7" name="Text 5"/>
          <p:cNvSpPr/>
          <p:nvPr/>
        </p:nvSpPr>
        <p:spPr>
          <a:xfrm>
            <a:off x="1496416" y="2761488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▪"/>
            </a:pPr>
            <a:r>
              <a:rPr lang="fr-FR" altLang="en-US" sz="16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d’un cursus d’apprentissage du Coran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▪"/>
            </a:pPr>
            <a:r>
              <a:rPr lang="fr-FR" altLang="en-US" sz="16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¼ du Coran en 6 années (« Sabbih »  « Yâcîne »)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79312" y="178308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3360" y="2121408"/>
            <a:ext cx="256032" cy="256032"/>
          </a:xfrm>
          <a:prstGeom prst="ellipse">
            <a:avLst/>
          </a:prstGeom>
          <a:solidFill>
            <a:srgbClr val="D9982B"/>
          </a:solidFill>
          <a:ln w="12700">
            <a:solidFill>
              <a:srgbClr val="D998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83984" y="20116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2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</a:t>
            </a:r>
            <a:endParaRPr lang="fr-FR" sz="2200" dirty="0"/>
          </a:p>
        </p:txBody>
      </p:sp>
      <p:sp>
        <p:nvSpPr>
          <p:cNvPr id="11" name="Text 9"/>
          <p:cNvSpPr/>
          <p:nvPr/>
        </p:nvSpPr>
        <p:spPr>
          <a:xfrm>
            <a:off x="7183984" y="2761488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▪"/>
            </a:pPr>
            <a:r>
              <a:rPr lang="fr-FR" altLang="en-US" sz="16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de cours (Coran, photocopie, porte-vues)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▪"/>
            </a:pPr>
            <a:r>
              <a:rPr lang="fr-FR" altLang="en-US" sz="16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cartes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13" name="Text 11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 de récitation</a:t>
            </a:r>
            <a:endParaRPr lang="fr-FR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4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et fonctionnement</a:t>
            </a:r>
            <a:endParaRPr lang="fr-FR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6263640" cy="3639312"/>
          </a:xfrm>
          <a:prstGeom prst="roundRect">
            <a:avLst>
              <a:gd name="adj" fmla="val 3015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38528"/>
            <a:ext cx="5532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5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individuelle en possession de l’élève</a:t>
            </a:r>
            <a:endParaRPr lang="en-US" sz="15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élève et règles de fonctionnement</a:t>
            </a:r>
            <a:endParaRPr lang="en-US" sz="15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d’apprentissage avec objectifs annuel, à moyen, et à court terme</a:t>
            </a:r>
            <a:endParaRPr lang="en-US" sz="15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5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la progression</a:t>
            </a:r>
            <a:endParaRPr lang="en-US" sz="15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Validation/Suivi du professeur</a:t>
            </a:r>
            <a:endParaRPr lang="en-US" sz="15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la part des parents</a:t>
            </a:r>
            <a:endParaRPr lang="en-US" sz="15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5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Numérotation et code couleur</a:t>
            </a:r>
            <a:endParaRPr lang="en-US" sz="15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5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 auprès du professeur</a:t>
            </a:r>
            <a:endParaRPr lang="en-US" sz="1500" dirty="0"/>
          </a:p>
        </p:txBody>
      </p:sp>
      <p:pic>
        <p:nvPicPr>
          <p:cNvPr id="6" name="Image 0" descr="img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783080"/>
            <a:ext cx="4343400" cy="307238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3B3C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269480" y="49560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altLang="en-US" sz="1100" i="1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n° 3 — recto</a:t>
            </a:r>
            <a:endParaRPr lang="fr-FR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10" name="Text 6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 de récitation</a:t>
            </a:r>
            <a:endParaRPr lang="fr-FR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4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et fonctionnement</a:t>
            </a:r>
            <a:endParaRPr lang="fr-FR" sz="1500" dirty="0"/>
          </a:p>
        </p:txBody>
      </p:sp>
      <p:pic>
        <p:nvPicPr>
          <p:cNvPr id="4" name="Image 0" descr="img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932" y="1627632"/>
            <a:ext cx="3154680" cy="223113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B3B3C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924916" y="1499616"/>
            <a:ext cx="457200" cy="457200"/>
          </a:xfrm>
          <a:prstGeom prst="ellipse">
            <a:avLst/>
          </a:prstGeom>
          <a:solidFill>
            <a:srgbClr val="3F4A4A"/>
          </a:solidFill>
          <a:ln w="12700">
            <a:solidFill>
              <a:srgbClr val="3F4A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4916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n°1</a:t>
            </a:r>
            <a:endParaRPr lang="en-US" sz="1300" dirty="0"/>
          </a:p>
        </p:txBody>
      </p:sp>
      <p:pic>
        <p:nvPicPr>
          <p:cNvPr id="7" name="Image 1" descr="img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08" y="1627632"/>
            <a:ext cx="3154680" cy="223113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B3B3C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4390492" y="1499616"/>
            <a:ext cx="457200" cy="457200"/>
          </a:xfrm>
          <a:prstGeom prst="ellipse">
            <a:avLst/>
          </a:prstGeom>
          <a:solidFill>
            <a:srgbClr val="E8B62C"/>
          </a:solidFill>
          <a:ln w="12700">
            <a:solidFill>
              <a:srgbClr val="E8B62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390492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n°2</a:t>
            </a:r>
            <a:endParaRPr lang="en-US" sz="1300" dirty="0"/>
          </a:p>
        </p:txBody>
      </p:sp>
      <p:pic>
        <p:nvPicPr>
          <p:cNvPr id="10" name="Image 2" descr="img/imag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084" y="1627632"/>
            <a:ext cx="3154680" cy="223113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B3B3C">
                <a:alpha val="18000"/>
              </a:srgbClr>
            </a:outerShdw>
          </a:effectLst>
        </p:spPr>
      </p:pic>
      <p:sp>
        <p:nvSpPr>
          <p:cNvPr id="11" name="Shape 6"/>
          <p:cNvSpPr/>
          <p:nvPr/>
        </p:nvSpPr>
        <p:spPr>
          <a:xfrm>
            <a:off x="7856068" y="1499616"/>
            <a:ext cx="457200" cy="457200"/>
          </a:xfrm>
          <a:prstGeom prst="ellipse">
            <a:avLst/>
          </a:prstGeom>
          <a:solidFill>
            <a:srgbClr val="E07E38"/>
          </a:solidFill>
          <a:ln w="12700">
            <a:solidFill>
              <a:srgbClr val="E07E3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856068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n°3</a:t>
            </a:r>
            <a:endParaRPr lang="en-US" sz="1300" dirty="0"/>
          </a:p>
        </p:txBody>
      </p:sp>
      <p:pic>
        <p:nvPicPr>
          <p:cNvPr id="13" name="Image 3" descr="img/image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932" y="4224528"/>
            <a:ext cx="3154680" cy="223113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B3B3C">
                <a:alpha val="18000"/>
              </a:srgbClr>
            </a:outerShdw>
          </a:effectLst>
        </p:spPr>
      </p:pic>
      <p:sp>
        <p:nvSpPr>
          <p:cNvPr id="14" name="Shape 8"/>
          <p:cNvSpPr/>
          <p:nvPr/>
        </p:nvSpPr>
        <p:spPr>
          <a:xfrm>
            <a:off x="924916" y="4096512"/>
            <a:ext cx="457200" cy="457200"/>
          </a:xfrm>
          <a:prstGeom prst="ellipse">
            <a:avLst/>
          </a:prstGeom>
          <a:solidFill>
            <a:srgbClr val="6FA25A"/>
          </a:solidFill>
          <a:ln w="12700">
            <a:solidFill>
              <a:srgbClr val="6FA25A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924916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n°4</a:t>
            </a:r>
            <a:endParaRPr lang="en-US" sz="1300" dirty="0"/>
          </a:p>
        </p:txBody>
      </p:sp>
      <p:pic>
        <p:nvPicPr>
          <p:cNvPr id="16" name="Image 4" descr="img/image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508" y="4224528"/>
            <a:ext cx="3154680" cy="223113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B3B3C">
                <a:alpha val="18000"/>
              </a:srgbClr>
            </a:outerShdw>
          </a:effectLst>
        </p:spPr>
      </p:pic>
      <p:sp>
        <p:nvSpPr>
          <p:cNvPr id="17" name="Shape 10"/>
          <p:cNvSpPr/>
          <p:nvPr/>
        </p:nvSpPr>
        <p:spPr>
          <a:xfrm>
            <a:off x="4390492" y="4096512"/>
            <a:ext cx="457200" cy="457200"/>
          </a:xfrm>
          <a:prstGeom prst="ellipse">
            <a:avLst/>
          </a:prstGeom>
          <a:solidFill>
            <a:srgbClr val="3E85BE"/>
          </a:solidFill>
          <a:ln w="12700">
            <a:solidFill>
              <a:srgbClr val="3E85BE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39049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n°5</a:t>
            </a:r>
            <a:endParaRPr lang="en-US" sz="1300" dirty="0"/>
          </a:p>
        </p:txBody>
      </p:sp>
      <p:pic>
        <p:nvPicPr>
          <p:cNvPr id="19" name="Image 5" descr="img/image1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4084" y="4224528"/>
            <a:ext cx="3154680" cy="223113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B3B3C">
                <a:alpha val="18000"/>
              </a:srgbClr>
            </a:outerShdw>
          </a:effectLst>
        </p:spPr>
      </p:pic>
      <p:sp>
        <p:nvSpPr>
          <p:cNvPr id="20" name="Shape 12"/>
          <p:cNvSpPr/>
          <p:nvPr/>
        </p:nvSpPr>
        <p:spPr>
          <a:xfrm>
            <a:off x="7856068" y="4096512"/>
            <a:ext cx="457200" cy="457200"/>
          </a:xfrm>
          <a:prstGeom prst="ellipse">
            <a:avLst/>
          </a:prstGeom>
          <a:solidFill>
            <a:srgbClr val="B5485C"/>
          </a:solidFill>
          <a:ln w="12700">
            <a:solidFill>
              <a:srgbClr val="B5485C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7856068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n°6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23" name="Text 15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 de récitation</a:t>
            </a:r>
            <a:endParaRPr lang="fr-FR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4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et niveaux</a:t>
            </a:r>
            <a:endParaRPr lang="fr-FR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532120" cy="1874520"/>
          </a:xfrm>
          <a:prstGeom prst="roundRect">
            <a:avLst>
              <a:gd name="adj" fmla="val 5854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2880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cartes de n° et de couleurs différents</a:t>
            </a:r>
            <a:endParaRPr lang="en-US" sz="14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2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objectifs (annuel et hebdomadaires) et prérequis distincts</a:t>
            </a:r>
            <a:endParaRPr lang="en-US" sz="14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2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 d’apprentissage progressive</a:t>
            </a:r>
            <a:endParaRPr lang="en-US" sz="14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2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hizb 60 (« Sabbih ») au hizb 45 inclus (Sourate « Yâcîne »)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46520" y="162763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Réparties en 3 niveaux</a:t>
            </a:r>
            <a:endParaRPr lang="fr-FR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2121408"/>
            <a:ext cx="5166360" cy="512064"/>
          </a:xfrm>
          <a:prstGeom prst="roundRect">
            <a:avLst>
              <a:gd name="adj" fmla="val 17857"/>
            </a:avLst>
          </a:prstGeom>
          <a:solidFill>
            <a:srgbClr val="EAF4F2"/>
          </a:solidFill>
          <a:ln w="12700">
            <a:solidFill>
              <a:srgbClr val="D5E7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2267712"/>
            <a:ext cx="219456" cy="219456"/>
          </a:xfrm>
          <a:prstGeom prst="ellipse">
            <a:avLst/>
          </a:prstGeom>
          <a:solidFill>
            <a:srgbClr val="D9982B"/>
          </a:solidFill>
          <a:ln w="12700">
            <a:solidFill>
              <a:srgbClr val="D99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212140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Débutant</a:t>
            </a:r>
            <a:endParaRPr lang="fr-FR" sz="1500" dirty="0"/>
          </a:p>
        </p:txBody>
      </p:sp>
      <p:sp>
        <p:nvSpPr>
          <p:cNvPr id="10" name="Text 8"/>
          <p:cNvSpPr/>
          <p:nvPr/>
        </p:nvSpPr>
        <p:spPr>
          <a:xfrm>
            <a:off x="9326880" y="212140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altLang="en-US" sz="1500" b="1" dirty="0">
                <a:solidFill>
                  <a:srgbClr val="D99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1</a:t>
            </a:r>
            <a:endParaRPr lang="fr-FR" sz="1500" dirty="0"/>
          </a:p>
        </p:txBody>
      </p:sp>
      <p:sp>
        <p:nvSpPr>
          <p:cNvPr id="11" name="Shape 9"/>
          <p:cNvSpPr/>
          <p:nvPr/>
        </p:nvSpPr>
        <p:spPr>
          <a:xfrm>
            <a:off x="6446520" y="2743200"/>
            <a:ext cx="5166360" cy="512064"/>
          </a:xfrm>
          <a:prstGeom prst="roundRect">
            <a:avLst>
              <a:gd name="adj" fmla="val 17857"/>
            </a:avLst>
          </a:prstGeom>
          <a:solidFill>
            <a:srgbClr val="EAF4F2"/>
          </a:solidFill>
          <a:ln w="12700">
            <a:solidFill>
              <a:srgbClr val="D5E7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889504"/>
            <a:ext cx="219456" cy="219456"/>
          </a:xfrm>
          <a:prstGeom prst="ellipse">
            <a:avLst/>
          </a:prstGeom>
          <a:solidFill>
            <a:srgbClr val="2E7BA6"/>
          </a:solidFill>
          <a:ln w="12700">
            <a:solidFill>
              <a:srgbClr val="2E7B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7432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fr-FR" sz="1500" dirty="0"/>
          </a:p>
        </p:txBody>
      </p:sp>
      <p:sp>
        <p:nvSpPr>
          <p:cNvPr id="14" name="Text 12"/>
          <p:cNvSpPr/>
          <p:nvPr/>
        </p:nvSpPr>
        <p:spPr>
          <a:xfrm>
            <a:off x="9326880" y="274320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altLang="en-US" sz="1500" b="1" dirty="0">
                <a:solidFill>
                  <a:srgbClr val="2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2 et 3</a:t>
            </a:r>
            <a:endParaRPr lang="fr-FR" sz="1500" dirty="0"/>
          </a:p>
        </p:txBody>
      </p:sp>
      <p:sp>
        <p:nvSpPr>
          <p:cNvPr id="15" name="Shape 13"/>
          <p:cNvSpPr/>
          <p:nvPr/>
        </p:nvSpPr>
        <p:spPr>
          <a:xfrm>
            <a:off x="6446520" y="3364992"/>
            <a:ext cx="5166360" cy="512064"/>
          </a:xfrm>
          <a:prstGeom prst="roundRect">
            <a:avLst>
              <a:gd name="adj" fmla="val 17857"/>
            </a:avLst>
          </a:prstGeom>
          <a:solidFill>
            <a:srgbClr val="EAF4F2"/>
          </a:solidFill>
          <a:ln w="12700">
            <a:solidFill>
              <a:srgbClr val="D5E7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3511296"/>
            <a:ext cx="219456" cy="219456"/>
          </a:xfrm>
          <a:prstGeom prst="ellipse">
            <a:avLst/>
          </a:prstGeom>
          <a:solidFill>
            <a:srgbClr val="9E3B4E"/>
          </a:solidFill>
          <a:ln w="12700">
            <a:solidFill>
              <a:srgbClr val="9E3B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36499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</a:t>
            </a:r>
            <a:endParaRPr lang="fr-FR" sz="1500" dirty="0"/>
          </a:p>
        </p:txBody>
      </p:sp>
      <p:sp>
        <p:nvSpPr>
          <p:cNvPr id="18" name="Text 16"/>
          <p:cNvSpPr/>
          <p:nvPr/>
        </p:nvSpPr>
        <p:spPr>
          <a:xfrm>
            <a:off x="9326880" y="336499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altLang="en-US" sz="1500" b="1" dirty="0">
                <a:solidFill>
                  <a:srgbClr val="9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4, 5 et 6</a:t>
            </a:r>
            <a:endParaRPr lang="fr-FR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4160520"/>
            <a:ext cx="11045952" cy="1234440"/>
          </a:xfrm>
          <a:prstGeom prst="roundRect">
            <a:avLst>
              <a:gd name="adj" fmla="val 8889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43708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indépendantes des classes et des années d’ancienneté de l’élève</a:t>
            </a:r>
            <a:endParaRPr lang="en-US" sz="14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2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objectif annuel atteint, l’élève reçoit une carte de n° supérieur (même en cours d’année)</a:t>
            </a:r>
            <a:endParaRPr lang="en-US" sz="14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changement de carte une récompense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23" name="Text 2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et niveaux</a:t>
            </a:r>
            <a:endParaRPr lang="fr-FR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459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868680"/>
                <a:gridCol w="1600200"/>
                <a:gridCol w="1463040"/>
                <a:gridCol w="1600200"/>
                <a:gridCol w="1234440"/>
                <a:gridCol w="1051560"/>
                <a:gridCol w="1901952"/>
              </a:tblGrid>
              <a:tr h="38404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 de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Pré-requis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(nb de « hizb »)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Apprentissage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</a:tr>
              <a:tr h="45720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Année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(nb de « hizb »)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Cumulé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(nb de « hizb »)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Semaine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(nb de ligne)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(nb de ligne)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A7F"/>
                    </a:solidFill>
                  </a:tcPr>
                </a:tc>
                <a:tc vMerge="1"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Débutant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Alphabet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(n° 60)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(Sabbih)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classe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(répétition collective)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Intermédiaire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B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(Sabbih)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(n° 59)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(Amma)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 maison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(semi-autonome)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(Amma)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(n° 58 + 57)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(Tabâraka)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7-10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 maison (autonome)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Avancé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3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(Tabâraka)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(n° 56 - 52)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(Addhariyâte)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 maison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(Addhariyâti)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(n° 51 - 48)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(Ashoûrâ)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 maison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(Ashoûrâ)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(n° 47 - 44)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(Yâcîn)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10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 maison</a:t>
                      </a:r>
                      <a:endParaRPr lang="fr-FR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5" name="Text 2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 de récitation</a:t>
            </a:r>
            <a:endParaRPr lang="fr-FR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4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application</a:t>
            </a:r>
            <a:endParaRPr lang="fr-FR" sz="1500" dirty="0"/>
          </a:p>
        </p:txBody>
      </p:sp>
      <p:sp>
        <p:nvSpPr>
          <p:cNvPr id="4" name="Shape 2"/>
          <p:cNvSpPr/>
          <p:nvPr/>
        </p:nvSpPr>
        <p:spPr>
          <a:xfrm>
            <a:off x="403708" y="196596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0112" y="2286000"/>
            <a:ext cx="713232" cy="713232"/>
          </a:xfrm>
          <a:prstGeom prst="ellipse">
            <a:avLst/>
          </a:prstGeom>
          <a:solidFill>
            <a:srgbClr val="137A7F"/>
          </a:solidFill>
          <a:ln w="12700">
            <a:solidFill>
              <a:srgbClr val="137A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0112" y="22860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1452" y="3218688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FR" altLang="en-US" sz="14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Répertorier l’état d’avancement des élèves (déjà effectué)</a:t>
            </a:r>
            <a:endParaRPr lang="fr-FR" sz="1400" dirty="0"/>
          </a:p>
        </p:txBody>
      </p:sp>
      <p:sp>
        <p:nvSpPr>
          <p:cNvPr id="8" name="Shape 6"/>
          <p:cNvSpPr/>
          <p:nvPr/>
        </p:nvSpPr>
        <p:spPr>
          <a:xfrm>
            <a:off x="3329788" y="196596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76192" y="2286000"/>
            <a:ext cx="713232" cy="713232"/>
          </a:xfrm>
          <a:prstGeom prst="ellipse">
            <a:avLst/>
          </a:prstGeom>
          <a:solidFill>
            <a:srgbClr val="D9982B"/>
          </a:solidFill>
          <a:ln w="12700">
            <a:solidFill>
              <a:srgbClr val="D998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6192" y="22860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7532" y="3218688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FR" altLang="en-US" sz="14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Attribuer les cartes en fonction des niveaux de « hifdh »</a:t>
            </a:r>
            <a:endParaRPr lang="fr-FR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196596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02272" y="2286000"/>
            <a:ext cx="713232" cy="713232"/>
          </a:xfrm>
          <a:prstGeom prst="ellipse">
            <a:avLst/>
          </a:prstGeom>
          <a:solidFill>
            <a:srgbClr val="2E7BA6"/>
          </a:solidFill>
          <a:ln w="12700">
            <a:solidFill>
              <a:srgbClr val="2E7B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2272" y="22860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3612" y="3218688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FR" altLang="en-US" sz="14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programme individualisé de révision/remise à niveau</a:t>
            </a:r>
            <a:endParaRPr lang="fr-FR" sz="1400" dirty="0"/>
          </a:p>
        </p:txBody>
      </p:sp>
      <p:sp>
        <p:nvSpPr>
          <p:cNvPr id="16" name="Shape 14"/>
          <p:cNvSpPr/>
          <p:nvPr/>
        </p:nvSpPr>
        <p:spPr>
          <a:xfrm>
            <a:off x="9181948" y="196596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128352" y="2286000"/>
            <a:ext cx="713232" cy="713232"/>
          </a:xfrm>
          <a:prstGeom prst="ellipse">
            <a:avLst/>
          </a:prstGeom>
          <a:solidFill>
            <a:srgbClr val="9E3B4E"/>
          </a:solidFill>
          <a:ln w="12700">
            <a:solidFill>
              <a:srgbClr val="9E3B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28352" y="22860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19692" y="3218688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r-FR" altLang="en-US" sz="14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sur mesure pour les élèves atypiques</a:t>
            </a:r>
            <a:endParaRPr lang="fr-FR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21" name="Text 19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des cours</a:t>
            </a:r>
            <a:endParaRPr lang="fr-FR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554480"/>
          <a:ext cx="4389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120640" y="1664208"/>
            <a:ext cx="6510528" cy="566928"/>
          </a:xfrm>
          <a:prstGeom prst="roundRect">
            <a:avLst>
              <a:gd name="adj" fmla="val 16129"/>
            </a:avLst>
          </a:prstGeom>
          <a:solidFill>
            <a:srgbClr val="EAF4F2"/>
          </a:solidFill>
          <a:ln w="12700">
            <a:solidFill>
              <a:srgbClr val="D5E7E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21808" y="1837944"/>
            <a:ext cx="219456" cy="219456"/>
          </a:xfrm>
          <a:prstGeom prst="ellipse">
            <a:avLst/>
          </a:prstGeom>
          <a:solidFill>
            <a:srgbClr val="137A7F"/>
          </a:solidFill>
          <a:ln w="12700">
            <a:solidFill>
              <a:srgbClr val="137A7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87568" y="16642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Récitation (40%)</a:t>
            </a:r>
            <a:endParaRPr lang="fr-FR" sz="1400" dirty="0"/>
          </a:p>
        </p:txBody>
      </p:sp>
      <p:sp>
        <p:nvSpPr>
          <p:cNvPr id="7" name="Text 4"/>
          <p:cNvSpPr/>
          <p:nvPr/>
        </p:nvSpPr>
        <p:spPr>
          <a:xfrm>
            <a:off x="10241280" y="166420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altLang="en-US" sz="1300" b="1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Dimanche</a:t>
            </a:r>
            <a:endParaRPr lang="fr-FR" sz="1300" dirty="0"/>
          </a:p>
        </p:txBody>
      </p:sp>
      <p:sp>
        <p:nvSpPr>
          <p:cNvPr id="8" name="Shape 5"/>
          <p:cNvSpPr/>
          <p:nvPr/>
        </p:nvSpPr>
        <p:spPr>
          <a:xfrm>
            <a:off x="5120640" y="2322576"/>
            <a:ext cx="6510528" cy="566928"/>
          </a:xfrm>
          <a:prstGeom prst="roundRect">
            <a:avLst>
              <a:gd name="adj" fmla="val 16129"/>
            </a:avLst>
          </a:prstGeom>
          <a:solidFill>
            <a:srgbClr val="EAF4F2"/>
          </a:solidFill>
          <a:ln w="12700">
            <a:solidFill>
              <a:srgbClr val="D5E7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21808" y="2496312"/>
            <a:ext cx="219456" cy="219456"/>
          </a:xfrm>
          <a:prstGeom prst="ellipse">
            <a:avLst/>
          </a:prstGeom>
          <a:solidFill>
            <a:srgbClr val="D9982B"/>
          </a:solidFill>
          <a:ln w="12700">
            <a:solidFill>
              <a:srgbClr val="D998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568" y="23225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(30%)</a:t>
            </a:r>
            <a:endParaRPr lang="fr-FR" sz="1400" dirty="0"/>
          </a:p>
        </p:txBody>
      </p:sp>
      <p:sp>
        <p:nvSpPr>
          <p:cNvPr id="11" name="Text 8"/>
          <p:cNvSpPr/>
          <p:nvPr/>
        </p:nvSpPr>
        <p:spPr>
          <a:xfrm>
            <a:off x="10241280" y="232257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altLang="en-US" sz="1300" b="1" dirty="0">
                <a:solidFill>
                  <a:srgbClr val="D99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</a:t>
            </a:r>
            <a:endParaRPr lang="fr-FR" sz="1300" dirty="0"/>
          </a:p>
        </p:txBody>
      </p:sp>
      <p:sp>
        <p:nvSpPr>
          <p:cNvPr id="12" name="Shape 9"/>
          <p:cNvSpPr/>
          <p:nvPr/>
        </p:nvSpPr>
        <p:spPr>
          <a:xfrm>
            <a:off x="5120640" y="2980944"/>
            <a:ext cx="6510528" cy="566928"/>
          </a:xfrm>
          <a:prstGeom prst="roundRect">
            <a:avLst>
              <a:gd name="adj" fmla="val 16129"/>
            </a:avLst>
          </a:prstGeom>
          <a:solidFill>
            <a:srgbClr val="EAF4F2"/>
          </a:solidFill>
          <a:ln w="12700">
            <a:solidFill>
              <a:srgbClr val="D5E7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21808" y="3154680"/>
            <a:ext cx="219456" cy="219456"/>
          </a:xfrm>
          <a:prstGeom prst="ellipse">
            <a:avLst/>
          </a:prstGeom>
          <a:solidFill>
            <a:srgbClr val="2E7BA6"/>
          </a:solidFill>
          <a:ln w="12700">
            <a:solidFill>
              <a:srgbClr val="2E7B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87568" y="29809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Perfectionnement de la lecture / tajwîd (20%)</a:t>
            </a:r>
            <a:endParaRPr lang="fr-FR" sz="1400" dirty="0"/>
          </a:p>
        </p:txBody>
      </p:sp>
      <p:sp>
        <p:nvSpPr>
          <p:cNvPr id="15" name="Text 12"/>
          <p:cNvSpPr/>
          <p:nvPr/>
        </p:nvSpPr>
        <p:spPr>
          <a:xfrm>
            <a:off x="10241280" y="29809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altLang="en-US" sz="1300" b="1" dirty="0">
                <a:solidFill>
                  <a:srgbClr val="2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</a:t>
            </a:r>
            <a:endParaRPr lang="fr-FR" sz="1300" dirty="0"/>
          </a:p>
        </p:txBody>
      </p:sp>
      <p:sp>
        <p:nvSpPr>
          <p:cNvPr id="16" name="Shape 13"/>
          <p:cNvSpPr/>
          <p:nvPr/>
        </p:nvSpPr>
        <p:spPr>
          <a:xfrm>
            <a:off x="5120640" y="3639312"/>
            <a:ext cx="6510528" cy="566928"/>
          </a:xfrm>
          <a:prstGeom prst="roundRect">
            <a:avLst>
              <a:gd name="adj" fmla="val 16129"/>
            </a:avLst>
          </a:prstGeom>
          <a:solidFill>
            <a:srgbClr val="EAF4F2"/>
          </a:solidFill>
          <a:ln w="12700">
            <a:solidFill>
              <a:srgbClr val="D5E7E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21808" y="3813048"/>
            <a:ext cx="219456" cy="219456"/>
          </a:xfrm>
          <a:prstGeom prst="ellipse">
            <a:avLst/>
          </a:prstGeom>
          <a:solidFill>
            <a:srgbClr val="9E3B4E"/>
          </a:solidFill>
          <a:ln w="12700">
            <a:solidFill>
              <a:srgbClr val="9E3B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36393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islamique et sciences du Coran (10%)</a:t>
            </a:r>
            <a:endParaRPr lang="fr-FR" sz="1400" dirty="0"/>
          </a:p>
        </p:txBody>
      </p:sp>
      <p:sp>
        <p:nvSpPr>
          <p:cNvPr id="19" name="Text 16"/>
          <p:cNvSpPr/>
          <p:nvPr/>
        </p:nvSpPr>
        <p:spPr>
          <a:xfrm>
            <a:off x="10241280" y="363931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altLang="en-US" sz="1300" b="1" dirty="0">
                <a:solidFill>
                  <a:srgbClr val="9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</a:t>
            </a:r>
            <a:endParaRPr lang="fr-FR" sz="1300" dirty="0"/>
          </a:p>
        </p:txBody>
      </p:sp>
      <p:sp>
        <p:nvSpPr>
          <p:cNvPr id="20" name="Shape 17"/>
          <p:cNvSpPr/>
          <p:nvPr/>
        </p:nvSpPr>
        <p:spPr>
          <a:xfrm>
            <a:off x="5120640" y="4370832"/>
            <a:ext cx="6510528" cy="1207008"/>
          </a:xfrm>
          <a:prstGeom prst="roundRect">
            <a:avLst>
              <a:gd name="adj" fmla="val 9091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440680" y="4553712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▪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Débutant : Noms d’Allah / Invocations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▪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 : Contexte de la révélation / Valeur et mérites du Coran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▪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 : Contexte de la révélation / Ethique &amp; Morale coranique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23" name="Text 20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des cours</a:t>
            </a:r>
            <a:endParaRPr lang="fr-FR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4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dirty="0">
                <a:solidFill>
                  <a:srgbClr val="D99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« débutant »</a:t>
            </a:r>
            <a:endParaRPr lang="fr-FR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67528" cy="2084832"/>
          </a:xfrm>
          <a:prstGeom prst="roundRect">
            <a:avLst>
              <a:gd name="adj" fmla="val 5263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182880" cy="182880"/>
          </a:xfrm>
          <a:prstGeom prst="ellipse">
            <a:avLst/>
          </a:prstGeom>
          <a:solidFill>
            <a:srgbClr val="D9982B"/>
          </a:solidFill>
          <a:ln w="12700">
            <a:solidFill>
              <a:srgbClr val="D99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1773936"/>
            <a:ext cx="4544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6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</a:t>
            </a:r>
            <a:endParaRPr lang="fr-FR" sz="1600" dirty="0"/>
          </a:p>
        </p:txBody>
      </p:sp>
      <p:sp>
        <p:nvSpPr>
          <p:cNvPr id="7" name="Text 5"/>
          <p:cNvSpPr/>
          <p:nvPr/>
        </p:nvSpPr>
        <p:spPr>
          <a:xfrm>
            <a:off x="1133856" y="2231136"/>
            <a:ext cx="44988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2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Coran</a:t>
            </a:r>
            <a:endParaRPr lang="en-US" sz="125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05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hizb « Sabbih » (n° 60)</a:t>
            </a:r>
            <a:endParaRPr lang="en-US" sz="125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2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5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05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de la lecture (méthode syllabique « An-Nourâniyyâ »)</a:t>
            </a:r>
            <a:endParaRPr lang="en-US" sz="125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05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progressive de l’autonomie dans l’apprentissage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627632"/>
            <a:ext cx="5367528" cy="2084832"/>
          </a:xfrm>
          <a:prstGeom prst="roundRect">
            <a:avLst>
              <a:gd name="adj" fmla="val 5263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9672" y="1892808"/>
            <a:ext cx="182880" cy="182880"/>
          </a:xfrm>
          <a:prstGeom prst="ellipse">
            <a:avLst/>
          </a:prstGeom>
          <a:solidFill>
            <a:srgbClr val="D9982B"/>
          </a:solidFill>
          <a:ln w="12700">
            <a:solidFill>
              <a:srgbClr val="D998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773936"/>
            <a:ext cx="4544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6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d’apprentissage (1ier semestre)</a:t>
            </a:r>
            <a:endParaRPr lang="fr-FR" sz="1600" dirty="0"/>
          </a:p>
        </p:txBody>
      </p:sp>
      <p:sp>
        <p:nvSpPr>
          <p:cNvPr id="11" name="Text 9"/>
          <p:cNvSpPr/>
          <p:nvPr/>
        </p:nvSpPr>
        <p:spPr>
          <a:xfrm>
            <a:off x="6812280" y="2231136"/>
            <a:ext cx="44988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2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classe et en groupe</a:t>
            </a:r>
            <a:endParaRPr lang="en-US" sz="125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2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Sourates courtes (« Wad-Douhâ » jusqu’à « An-Nâss »)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023360"/>
            <a:ext cx="5367528" cy="2084832"/>
          </a:xfrm>
          <a:prstGeom prst="roundRect">
            <a:avLst>
              <a:gd name="adj" fmla="val 5263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4288536"/>
            <a:ext cx="182880" cy="182880"/>
          </a:xfrm>
          <a:prstGeom prst="ellipse">
            <a:avLst/>
          </a:prstGeom>
          <a:solidFill>
            <a:srgbClr val="D9982B"/>
          </a:solidFill>
          <a:ln w="12700">
            <a:solidFill>
              <a:srgbClr val="D998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4169664"/>
            <a:ext cx="4544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6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d’apprentissage (2ième semestre)</a:t>
            </a:r>
            <a:endParaRPr lang="fr-FR" sz="1600" dirty="0"/>
          </a:p>
        </p:txBody>
      </p:sp>
      <p:sp>
        <p:nvSpPr>
          <p:cNvPr id="15" name="Text 13"/>
          <p:cNvSpPr/>
          <p:nvPr/>
        </p:nvSpPr>
        <p:spPr>
          <a:xfrm>
            <a:off x="1133856" y="4626864"/>
            <a:ext cx="44988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2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classe et à la maison avec aide des parents</a:t>
            </a:r>
            <a:endParaRPr lang="en-US" sz="125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2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Photocopie de la section à apprendre avec format adapté (porte-vues)</a:t>
            </a:r>
            <a:endParaRPr lang="en-US" sz="125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2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hebdomadaire : 3 à 5 lignes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45352" y="4023360"/>
            <a:ext cx="5367528" cy="2084832"/>
          </a:xfrm>
          <a:prstGeom prst="roundRect">
            <a:avLst>
              <a:gd name="adj" fmla="val 5263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9672" y="4288536"/>
            <a:ext cx="182880" cy="182880"/>
          </a:xfrm>
          <a:prstGeom prst="ellipse">
            <a:avLst/>
          </a:prstGeom>
          <a:solidFill>
            <a:srgbClr val="D9982B"/>
          </a:solidFill>
          <a:ln w="12700">
            <a:solidFill>
              <a:srgbClr val="D998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4169664"/>
            <a:ext cx="4544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6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Révision</a:t>
            </a:r>
            <a:endParaRPr lang="fr-FR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4626864"/>
            <a:ext cx="44988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2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classe</a:t>
            </a:r>
            <a:endParaRPr lang="en-US" sz="125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2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groupe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21" name="Text 19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des cours</a:t>
            </a:r>
            <a:endParaRPr lang="fr-FR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4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dirty="0">
                <a:solidFill>
                  <a:srgbClr val="2E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« intermédiaire »</a:t>
            </a:r>
            <a:endParaRPr lang="fr-FR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3474720" cy="3337560"/>
          </a:xfrm>
          <a:prstGeom prst="roundRect">
            <a:avLst>
              <a:gd name="adj" fmla="val 3288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56816"/>
            <a:ext cx="201168" cy="201168"/>
          </a:xfrm>
          <a:prstGeom prst="ellipse">
            <a:avLst/>
          </a:prstGeom>
          <a:solidFill>
            <a:srgbClr val="2E7BA6"/>
          </a:solidFill>
          <a:ln w="12700">
            <a:solidFill>
              <a:srgbClr val="2E7B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7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</a:t>
            </a:r>
            <a:endParaRPr lang="fr-FR" sz="1700" dirty="0"/>
          </a:p>
        </p:txBody>
      </p:sp>
      <p:sp>
        <p:nvSpPr>
          <p:cNvPr id="7" name="Text 5"/>
          <p:cNvSpPr/>
          <p:nvPr/>
        </p:nvSpPr>
        <p:spPr>
          <a:xfrm>
            <a:off x="1170432" y="2395728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Coran</a:t>
            </a:r>
            <a:endParaRPr lang="en-US" sz="13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1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Atteindre l’objectif annuel de la carte de récitation (n° 2 ou 3)</a:t>
            </a:r>
            <a:endParaRPr lang="en-US" sz="13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1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les « hizb » des années précédentes</a:t>
            </a:r>
            <a:endParaRPr lang="en-US" sz="13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3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1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Maitrise de la lecture et connaissance des règles simples de tajwîd</a:t>
            </a:r>
            <a:endParaRPr lang="en-US" sz="13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1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d’une autonomie complète dans l’apprentissage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64208"/>
            <a:ext cx="3474720" cy="3337560"/>
          </a:xfrm>
          <a:prstGeom prst="roundRect">
            <a:avLst>
              <a:gd name="adj" fmla="val 3288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1956816"/>
            <a:ext cx="201168" cy="201168"/>
          </a:xfrm>
          <a:prstGeom prst="ellipse">
            <a:avLst/>
          </a:prstGeom>
          <a:solidFill>
            <a:srgbClr val="2E7BA6"/>
          </a:solidFill>
          <a:ln w="12700">
            <a:solidFill>
              <a:srgbClr val="2E7B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7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d’apprentissage</a:t>
            </a:r>
            <a:endParaRPr lang="fr-FR" sz="1700" dirty="0"/>
          </a:p>
        </p:txBody>
      </p:sp>
      <p:sp>
        <p:nvSpPr>
          <p:cNvPr id="11" name="Text 9"/>
          <p:cNvSpPr/>
          <p:nvPr/>
        </p:nvSpPr>
        <p:spPr>
          <a:xfrm>
            <a:off x="4956048" y="2395728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maison</a:t>
            </a:r>
            <a:endParaRPr lang="en-US" sz="13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Photocopie de la section à apprendre (porte-vues) et « Moushaf »</a:t>
            </a:r>
            <a:endParaRPr lang="en-US" sz="13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hebdomadaire : 3 à 5 lignes ou 7-10 lignes selon n° de la carte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64208"/>
            <a:ext cx="3474720" cy="3337560"/>
          </a:xfrm>
          <a:prstGeom prst="roundRect">
            <a:avLst>
              <a:gd name="adj" fmla="val 3288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956816"/>
            <a:ext cx="201168" cy="201168"/>
          </a:xfrm>
          <a:prstGeom prst="ellipse">
            <a:avLst/>
          </a:prstGeom>
          <a:solidFill>
            <a:srgbClr val="2E7BA6"/>
          </a:solidFill>
          <a:ln w="12700">
            <a:solidFill>
              <a:srgbClr val="2E7B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41664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7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Révision</a:t>
            </a:r>
            <a:endParaRPr lang="fr-FR" sz="1700" dirty="0"/>
          </a:p>
        </p:txBody>
      </p:sp>
      <p:sp>
        <p:nvSpPr>
          <p:cNvPr id="15" name="Text 13"/>
          <p:cNvSpPr/>
          <p:nvPr/>
        </p:nvSpPr>
        <p:spPr>
          <a:xfrm>
            <a:off x="8741664" y="2395728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classe</a:t>
            </a:r>
            <a:endParaRPr lang="en-US" sz="13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groupe, individuel ou par binôme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17" name="Text 15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des cours</a:t>
            </a:r>
            <a:endParaRPr lang="fr-FR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4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dirty="0">
                <a:solidFill>
                  <a:srgbClr val="9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« avancé »</a:t>
            </a:r>
            <a:endParaRPr lang="fr-FR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3474720" cy="3337560"/>
          </a:xfrm>
          <a:prstGeom prst="roundRect">
            <a:avLst>
              <a:gd name="adj" fmla="val 3288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56816"/>
            <a:ext cx="201168" cy="201168"/>
          </a:xfrm>
          <a:prstGeom prst="ellipse">
            <a:avLst/>
          </a:prstGeom>
          <a:solidFill>
            <a:srgbClr val="9E3B4E"/>
          </a:solidFill>
          <a:ln w="12700">
            <a:solidFill>
              <a:srgbClr val="9E3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7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</a:t>
            </a:r>
            <a:endParaRPr lang="fr-FR" sz="1700" dirty="0"/>
          </a:p>
        </p:txBody>
      </p:sp>
      <p:sp>
        <p:nvSpPr>
          <p:cNvPr id="7" name="Text 5"/>
          <p:cNvSpPr/>
          <p:nvPr/>
        </p:nvSpPr>
        <p:spPr>
          <a:xfrm>
            <a:off x="1170432" y="2395728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Coran</a:t>
            </a:r>
            <a:endParaRPr lang="en-US" sz="13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1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Atteindre l’objectif annuel de la carte de récitation (selon n°)</a:t>
            </a:r>
            <a:endParaRPr lang="en-US" sz="13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1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les « hizb » des années précédentes</a:t>
            </a:r>
            <a:endParaRPr lang="en-US" sz="13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3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1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Maitrise des règles de Tajwîd</a:t>
            </a:r>
            <a:endParaRPr lang="en-US" sz="1300" dirty="0"/>
          </a:p>
          <a:p>
            <a:pPr algn="l" lvl="1" marL="685800" indent="-342900">
              <a:spcAft>
                <a:spcPts val="300"/>
              </a:spcAft>
              <a:buSzPct val="100000"/>
              <a:buChar char="▪"/>
            </a:pPr>
            <a:r>
              <a:rPr lang="fr-FR" altLang="en-US" sz="11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volume d’apprentissage/révision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64208"/>
            <a:ext cx="3474720" cy="3337560"/>
          </a:xfrm>
          <a:prstGeom prst="roundRect">
            <a:avLst>
              <a:gd name="adj" fmla="val 3288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1956816"/>
            <a:ext cx="201168" cy="201168"/>
          </a:xfrm>
          <a:prstGeom prst="ellipse">
            <a:avLst/>
          </a:prstGeom>
          <a:solidFill>
            <a:srgbClr val="9E3B4E"/>
          </a:solidFill>
          <a:ln w="12700">
            <a:solidFill>
              <a:srgbClr val="9E3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7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d’apprentissage</a:t>
            </a:r>
            <a:endParaRPr lang="fr-FR" sz="1700" dirty="0"/>
          </a:p>
        </p:txBody>
      </p:sp>
      <p:sp>
        <p:nvSpPr>
          <p:cNvPr id="11" name="Text 9"/>
          <p:cNvSpPr/>
          <p:nvPr/>
        </p:nvSpPr>
        <p:spPr>
          <a:xfrm>
            <a:off x="4956048" y="2395728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 à la maison</a:t>
            </a:r>
            <a:endParaRPr lang="en-US" sz="13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Moushaf »</a:t>
            </a:r>
            <a:endParaRPr lang="en-US" sz="13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hebdomadaire : 15 à 20 lignes (1/2 hizb par mois)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64208"/>
            <a:ext cx="3474720" cy="3337560"/>
          </a:xfrm>
          <a:prstGeom prst="roundRect">
            <a:avLst>
              <a:gd name="adj" fmla="val 3288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956816"/>
            <a:ext cx="201168" cy="201168"/>
          </a:xfrm>
          <a:prstGeom prst="ellipse">
            <a:avLst/>
          </a:prstGeom>
          <a:solidFill>
            <a:srgbClr val="9E3B4E"/>
          </a:solidFill>
          <a:ln w="12700">
            <a:solidFill>
              <a:srgbClr val="9E3B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41664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7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Révision</a:t>
            </a:r>
            <a:endParaRPr lang="fr-FR" sz="1700" dirty="0"/>
          </a:p>
        </p:txBody>
      </p:sp>
      <p:sp>
        <p:nvSpPr>
          <p:cNvPr id="15" name="Text 13"/>
          <p:cNvSpPr/>
          <p:nvPr/>
        </p:nvSpPr>
        <p:spPr>
          <a:xfrm>
            <a:off x="8741664" y="2395728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classe</a:t>
            </a:r>
            <a:endParaRPr lang="en-US" sz="1300" dirty="0"/>
          </a:p>
          <a:p>
            <a:pPr algn="l" marL="342900" indent="-342900">
              <a:spcBef>
                <a:spcPts val="500"/>
              </a:spcBef>
              <a:spcAft>
                <a:spcPts val="700"/>
              </a:spcAft>
              <a:buSzPct val="100000"/>
              <a:buChar char="●"/>
            </a:pPr>
            <a:r>
              <a:rPr lang="fr-FR" altLang="en-US" sz="13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Individuel, par binôme ou en groupe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17" name="Text 15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des cours</a:t>
            </a:r>
            <a:endParaRPr lang="fr-FR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459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868680"/>
                <a:gridCol w="1234440"/>
                <a:gridCol w="1280160"/>
                <a:gridCol w="2148840"/>
                <a:gridCol w="2148840"/>
                <a:gridCol w="203911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 CARTE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HIZB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APPRENTISSAGE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/MOIS (HIZB)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MERCREDI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DIMANCHE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</a:tr>
              <a:tr h="329184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DEBUTANT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82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1/8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Révision /Apprentissage + lecture (1h15)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islamique (15mn)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Noms d’ALLAH (15mn)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Apprentissage groupe / Récitation (2h)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row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INTERMEDIAIRE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BA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1/8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(45mn)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Sciences du Coran (15mn)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Révision (30mn)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Récitation (2h)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 vMerge="1">
                  <a:tcPr/>
                </a:tc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b="1" i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Maîtrise de la lecture + Acquision de 2 hizbs = AUTONOMIE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v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57-58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Tajwîd (15mn)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Sciences du Coran (15mn)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Révision (1h)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Récitation (2h)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row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</a:t>
                      </a:r>
                      <a:endParaRPr lang="fr-FR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3B4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53-54-55-56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Tajwîd (15mn)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Sciences du Coran (15mn)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Révision (1h)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Récitation (2h)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49-50-51-52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Tajwîd (15mn)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Sciences du Coran (15mn)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Révision (1h)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Récitation (2h)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45-46-47-48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Tajwîd (15mn)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Douaa (5mn)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Sciences du Coran (15mn)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Révision (1h)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fr-FR" altLang="en-US" sz="950" dirty="0">
                          <a:solidFill>
                            <a:srgbClr val="244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Récitation (2h)</a:t>
                      </a:r>
                      <a:endParaRPr lang="fr-FR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5" name="Text 2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</a:t>
            </a:r>
            <a:endParaRPr lang="fr-FR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48132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2494A"/>
          </a:solidFill>
          <a:ln w="12700">
            <a:solidFill>
              <a:srgbClr val="1E60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48132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2000" b="1" dirty="0">
                <a:solidFill>
                  <a:srgbClr val="D99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à la maison / Récitation en cours</a:t>
            </a:r>
            <a:endParaRPr lang="fr-FR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 des parents</a:t>
            </a:r>
            <a:endParaRPr lang="fr-FR" sz="2200" dirty="0"/>
          </a:p>
        </p:txBody>
      </p:sp>
      <p:sp>
        <p:nvSpPr>
          <p:cNvPr id="6" name="Shape 4"/>
          <p:cNvSpPr/>
          <p:nvPr/>
        </p:nvSpPr>
        <p:spPr>
          <a:xfrm>
            <a:off x="658368" y="3310128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12494A"/>
          </a:solidFill>
          <a:ln w="12700">
            <a:solidFill>
              <a:srgbClr val="1E60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3611880"/>
            <a:ext cx="237744" cy="237744"/>
          </a:xfrm>
          <a:prstGeom prst="ellipse">
            <a:avLst/>
          </a:prstGeom>
          <a:solidFill>
            <a:srgbClr val="58BDB2"/>
          </a:solidFill>
          <a:ln w="12700">
            <a:solidFill>
              <a:srgbClr val="58BD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16736" y="350215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700" b="1" dirty="0">
                <a:solidFill>
                  <a:srgbClr val="5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fr-FR" sz="1700" dirty="0"/>
          </a:p>
        </p:txBody>
      </p:sp>
      <p:sp>
        <p:nvSpPr>
          <p:cNvPr id="9" name="Text 7"/>
          <p:cNvSpPr/>
          <p:nvPr/>
        </p:nvSpPr>
        <p:spPr>
          <a:xfrm>
            <a:off x="950976" y="404164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altLang="en-US" sz="1400" dirty="0">
                <a:solidFill>
                  <a:srgbClr val="C8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 récitation / carnet de correspondance</a:t>
            </a:r>
            <a:endParaRPr lang="fr-FR" sz="1400" dirty="0"/>
          </a:p>
        </p:txBody>
      </p:sp>
      <p:sp>
        <p:nvSpPr>
          <p:cNvPr id="10" name="Shape 8"/>
          <p:cNvSpPr/>
          <p:nvPr/>
        </p:nvSpPr>
        <p:spPr>
          <a:xfrm>
            <a:off x="4370832" y="3310128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12494A"/>
          </a:solidFill>
          <a:ln w="12700">
            <a:solidFill>
              <a:srgbClr val="1E60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3611880"/>
            <a:ext cx="237744" cy="237744"/>
          </a:xfrm>
          <a:prstGeom prst="ellipse">
            <a:avLst/>
          </a:prstGeom>
          <a:solidFill>
            <a:srgbClr val="EDB349"/>
          </a:solidFill>
          <a:ln w="12700">
            <a:solidFill>
              <a:srgbClr val="EDB3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50215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700" b="1" dirty="0">
                <a:solidFill>
                  <a:srgbClr val="EDB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</a:t>
            </a:r>
            <a:endParaRPr lang="fr-FR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404164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altLang="en-US" sz="1400" dirty="0">
                <a:solidFill>
                  <a:srgbClr val="C8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maison (débutants) , 15 min./jour sans contrainte</a:t>
            </a:r>
            <a:endParaRPr lang="fr-FR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3310128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12494A"/>
          </a:solidFill>
          <a:ln w="12700">
            <a:solidFill>
              <a:srgbClr val="1E60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3611880"/>
            <a:ext cx="237744" cy="237744"/>
          </a:xfrm>
          <a:prstGeom prst="ellipse">
            <a:avLst/>
          </a:prstGeom>
          <a:solidFill>
            <a:srgbClr val="8CC172"/>
          </a:solidFill>
          <a:ln w="12700">
            <a:solidFill>
              <a:srgbClr val="8CC1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41664" y="350215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700" b="1" dirty="0">
                <a:solidFill>
                  <a:srgbClr val="8CC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Régularité</a:t>
            </a:r>
            <a:endParaRPr lang="fr-FR" sz="1700" dirty="0"/>
          </a:p>
        </p:txBody>
      </p:sp>
      <p:sp>
        <p:nvSpPr>
          <p:cNvPr id="17" name="Text 15"/>
          <p:cNvSpPr/>
          <p:nvPr/>
        </p:nvSpPr>
        <p:spPr>
          <a:xfrm>
            <a:off x="8375904" y="404164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altLang="en-US" sz="1400" dirty="0">
                <a:solidFill>
                  <a:srgbClr val="C8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S’habituer à des devoirs quotidiens</a:t>
            </a:r>
            <a:endParaRPr lang="fr-FR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19" name="Text 17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8745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altLang="en-US" sz="1700" spc="200" kern="0" dirty="0">
                <a:solidFill>
                  <a:srgbClr val="9D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Bitaqat Hifd Qor’an</a:t>
            </a:r>
            <a:endParaRPr lang="fr-FR" sz="1700" dirty="0"/>
          </a:p>
        </p:txBody>
      </p:sp>
      <p:sp>
        <p:nvSpPr>
          <p:cNvPr id="3" name="Text 1"/>
          <p:cNvSpPr/>
          <p:nvPr/>
        </p:nvSpPr>
        <p:spPr>
          <a:xfrm>
            <a:off x="1005840" y="245059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alt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/ Réponses</a:t>
            </a:r>
            <a:endParaRPr lang="fr-FR" sz="4000" dirty="0"/>
          </a:p>
        </p:txBody>
      </p:sp>
      <p:sp>
        <p:nvSpPr>
          <p:cNvPr id="4" name="Text 2"/>
          <p:cNvSpPr/>
          <p:nvPr/>
        </p:nvSpPr>
        <p:spPr>
          <a:xfrm>
            <a:off x="1005840" y="35204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altLang="en-US" sz="2000" b="1" dirty="0">
                <a:solidFill>
                  <a:srgbClr val="D99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des cartes de récitation</a:t>
            </a:r>
            <a:endParaRPr lang="fr-FR" sz="2000" dirty="0"/>
          </a:p>
        </p:txBody>
      </p:sp>
      <p:sp>
        <p:nvSpPr>
          <p:cNvPr id="5" name="Shape 3"/>
          <p:cNvSpPr/>
          <p:nvPr/>
        </p:nvSpPr>
        <p:spPr>
          <a:xfrm>
            <a:off x="4212184" y="4892040"/>
            <a:ext cx="384048" cy="384048"/>
          </a:xfrm>
          <a:prstGeom prst="ellipse">
            <a:avLst/>
          </a:prstGeom>
          <a:solidFill>
            <a:srgbClr val="3F4A4A"/>
          </a:solidFill>
          <a:ln w="12700">
            <a:solidFill>
              <a:srgbClr val="3F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12184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88840" y="4892040"/>
            <a:ext cx="384048" cy="384048"/>
          </a:xfrm>
          <a:prstGeom prst="ellipse">
            <a:avLst/>
          </a:prstGeom>
          <a:solidFill>
            <a:srgbClr val="E8B62C"/>
          </a:solidFill>
          <a:ln w="12700">
            <a:solidFill>
              <a:srgbClr val="E8B6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888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65496" y="4892040"/>
            <a:ext cx="384048" cy="384048"/>
          </a:xfrm>
          <a:prstGeom prst="ellipse">
            <a:avLst/>
          </a:prstGeom>
          <a:solidFill>
            <a:srgbClr val="E07E38"/>
          </a:solidFill>
          <a:ln w="12700">
            <a:solidFill>
              <a:srgbClr val="E07E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65496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2152" y="4892040"/>
            <a:ext cx="384048" cy="384048"/>
          </a:xfrm>
          <a:prstGeom prst="ellipse">
            <a:avLst/>
          </a:prstGeom>
          <a:solidFill>
            <a:srgbClr val="6FA25A"/>
          </a:solidFill>
          <a:ln w="12700">
            <a:solidFill>
              <a:srgbClr val="6FA2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2152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8808" y="4892040"/>
            <a:ext cx="384048" cy="384048"/>
          </a:xfrm>
          <a:prstGeom prst="ellipse">
            <a:avLst/>
          </a:prstGeom>
          <a:solidFill>
            <a:srgbClr val="3E85BE"/>
          </a:solidFill>
          <a:ln w="12700">
            <a:solidFill>
              <a:srgbClr val="3E8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8808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95464" y="4892040"/>
            <a:ext cx="384048" cy="384048"/>
          </a:xfrm>
          <a:prstGeom prst="ellipse">
            <a:avLst/>
          </a:prstGeom>
          <a:solidFill>
            <a:srgbClr val="B5485C"/>
          </a:solidFill>
          <a:ln w="12700">
            <a:solidFill>
              <a:srgbClr val="B54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95464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18" name="Text 16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45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32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Licence</a:t>
            </a:r>
            <a:endParaRPr lang="fr-FR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4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500" dirty="0">
                <a:solidFill>
                  <a:srgbClr val="13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Creative Commons BY-NC 4.0</a:t>
            </a:r>
            <a:endParaRPr lang="fr-FR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1045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altLang="en-US" sz="150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licence couvre les ressources pédagogiques du projet Bitaqat Hifd Qor’an : cartes de récitation, outils de suivi et documents de méthodologie.</a:t>
            </a:r>
            <a:endParaRPr lang="fr-FR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367528" cy="2331720"/>
          </a:xfrm>
          <a:prstGeom prst="roundRect">
            <a:avLst>
              <a:gd name="adj" fmla="val 4706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624328"/>
            <a:ext cx="201168" cy="201168"/>
          </a:xfrm>
          <a:prstGeom prst="ellipse">
            <a:avLst/>
          </a:prstGeom>
          <a:solidFill>
            <a:srgbClr val="137A7F"/>
          </a:solidFill>
          <a:ln w="12700">
            <a:solidFill>
              <a:srgbClr val="137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496312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êtes libre de</a:t>
            </a:r>
            <a:endParaRPr lang="fr-FR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3054096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fr-FR" altLang="en-US" sz="13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— copier et distribuer le contenu, par tous moyens et sous tous formats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fr-FR" altLang="en-US" sz="13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— remixer, transformer et créer à partir du contenu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331720"/>
            <a:ext cx="5367528" cy="2331720"/>
          </a:xfrm>
          <a:prstGeom prst="roundRect">
            <a:avLst>
              <a:gd name="adj" fmla="val 4706"/>
            </a:avLst>
          </a:prstGeom>
          <a:solidFill>
            <a:srgbClr val="F5FAF9"/>
          </a:solidFill>
          <a:ln w="12700">
            <a:solidFill>
              <a:srgbClr val="D5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624328"/>
            <a:ext cx="201168" cy="201168"/>
          </a:xfrm>
          <a:prstGeom prst="ellipse">
            <a:avLst/>
          </a:prstGeom>
          <a:solidFill>
            <a:srgbClr val="D9982B"/>
          </a:solidFill>
          <a:ln w="12700">
            <a:solidFill>
              <a:srgbClr val="D99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48856" y="2496312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condition de</a:t>
            </a:r>
            <a:endParaRPr lang="fr-FR" sz="1800" dirty="0"/>
          </a:p>
        </p:txBody>
      </p:sp>
      <p:sp>
        <p:nvSpPr>
          <p:cNvPr id="12" name="Text 10"/>
          <p:cNvSpPr/>
          <p:nvPr/>
        </p:nvSpPr>
        <p:spPr>
          <a:xfrm>
            <a:off x="6848856" y="3054096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fr-FR" altLang="en-US" sz="13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Créditer « Bitaqat Hifd Qor’an — bitaqat-hifd-quran.com » et signaler les modifications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fr-FR" altLang="en-US" sz="1350" dirty="0">
                <a:solidFill>
                  <a:srgbClr val="244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en faire un usage commercial, ni le vendre sous quelque forme que ce soit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4937760"/>
            <a:ext cx="11045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200" i="1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complet : creativecommons.org/licenses/by-nc/4.0/legalcode</a:t>
            </a:r>
            <a:endParaRPr lang="fr-FR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alt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 libre — Non commercialisable — bitaqat-hifd-quran.com</a:t>
            </a:r>
            <a:endParaRPr lang="fr-FR" sz="1000" dirty="0"/>
          </a:p>
        </p:txBody>
      </p:sp>
      <p:sp>
        <p:nvSpPr>
          <p:cNvPr id="15" name="Text 13"/>
          <p:cNvSpPr/>
          <p:nvPr/>
        </p:nvSpPr>
        <p:spPr>
          <a:xfrm>
            <a:off x="1141445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Bitaqat Hifd Qor’an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Apprendre le Coran, étape par étape</dc:title>
  <dc:subject>Le système des cartes de récitation</dc:subject>
  <dc:creator>Bitaqat Hifd Qor’an</dc:creator>
  <cp:lastModifiedBy>Bitaqat Hifd Qor’an</cp:lastModifiedBy>
  <cp:revision>1</cp:revision>
  <dcterms:created xsi:type="dcterms:W3CDTF">2026-07-26T11:22:21Z</dcterms:created>
  <dcterms:modified xsi:type="dcterms:W3CDTF">2026-07-26T11:22:21Z</dcterms:modified>
</cp:coreProperties>
</file>
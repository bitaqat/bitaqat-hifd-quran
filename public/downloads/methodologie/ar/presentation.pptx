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التوزيع</c:v>
                </c:pt>
              </c:strCache>
            </c:strRef>
          </c:tx>
          <c:spPr>
            <a:solidFill>
              <a:schemeClr val="accent1"/>
            </a:solidFill>
            <a:ln w="9525" cap="flat">
              <a:solidFill>
                <a:srgbClr val="F9F9F9"/>
              </a:solidFill>
              <a:prstDash val="solid"/>
              <a:round/>
            </a:ln>
            <a:effectLst/>
          </c:spPr>
          <c:dPt>
            <c:idx val="0"/>
            <c:bubble3D val="0"/>
            <c:spPr>
              <a:solidFill>
                <a:srgbClr val="137A7F"/>
              </a:solidFill>
              <a:ln w="25400" cap="flat">
                <a:solidFill>
                  <a:srgbClr val="FFFFFF"/>
                </a:solidFill>
                <a:prstDash val="solid"/>
                <a:round/>
              </a:ln>
              <a:effectLst/>
            </c:spPr>
          </c:dPt>
          <c:dPt>
            <c:idx val="1"/>
            <c:bubble3D val="0"/>
            <c:spPr>
              <a:solidFill>
                <a:srgbClr val="D9982B"/>
              </a:solidFill>
              <a:ln w="25400" cap="flat">
                <a:solidFill>
                  <a:srgbClr val="FFFFFF"/>
                </a:solidFill>
                <a:prstDash val="solid"/>
                <a:round/>
              </a:ln>
              <a:effectLst/>
            </c:spPr>
          </c:dPt>
          <c:dPt>
            <c:idx val="2"/>
            <c:bubble3D val="0"/>
            <c:spPr>
              <a:solidFill>
                <a:srgbClr val="2E7BA6"/>
              </a:solidFill>
              <a:ln w="25400" cap="flat">
                <a:solidFill>
                  <a:srgbClr val="FFFFFF"/>
                </a:solidFill>
                <a:prstDash val="solid"/>
                <a:round/>
              </a:ln>
              <a:effectLst/>
            </c:spPr>
          </c:dPt>
          <c:dPt>
            <c:idx val="3"/>
            <c:bubble3D val="0"/>
            <c:spPr>
              <a:solidFill>
                <a:srgbClr val="9E3B4E"/>
              </a:solidFill>
              <a:ln w="25400" cap="flat">
                <a:solidFill>
                  <a:srgbClr val="FFFFFF"/>
                </a:solidFill>
                <a:prstDash val="solid"/>
                <a:round/>
              </a:ln>
              <a:effectLst/>
            </c:spPr>
          </c:dPt>
          <c:dLbls>
            <c:dLbl>
              <c:idx val="0"/>
              <c:numFmt formatCode="0&quot;%&quot;" sourceLinked="0"/>
              <c:spPr/>
              <c:txPr>
                <a:bodyPr/>
                <a:lstStyle/>
                <a:p>
                  <a:pPr>
                    <a:defRPr sz="1300" b="1"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300" b="1"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300" b="1" i="0" u="none" strike="noStrike">
                      <a:solidFill>
                        <a:srgbClr val="FFFFFF"/>
                      </a:solidFill>
                      <a:latin typeface="Arial"/>
                    </a:defRPr>
                  </a:pPr>
                </a:p>
              </c:txPr>
              <c:showLegendKey val="0"/>
              <c:showVal val="1"/>
              <c:showCatName val="0"/>
              <c:showSerName val="0"/>
              <c:showPercent val="0"/>
              <c:showBubbleSize val="0"/>
            </c:dLbl>
            <c:dLbl>
              <c:idx val="3"/>
              <c:numFmt formatCode="0&quot;%&quot;" sourceLinked="0"/>
              <c:spPr/>
              <c:txPr>
                <a:bodyPr/>
                <a:lstStyle/>
                <a:p>
                  <a:pPr>
                    <a:defRPr sz="1300" b="1"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التسميع</c:v>
                </c:pt>
                <c:pt idx="1">
                  <c:v>المراجعة</c:v>
                </c:pt>
                <c:pt idx="2">
                  <c:v>القراءة / التجويد</c:v>
                </c:pt>
                <c:pt idx="3">
                  <c:v>التربية الإسلامية</c:v>
                </c:pt>
              </c:strCache>
            </c:strRef>
          </c:cat>
          <c:val>
            <c:numRef>
              <c:f>Sheet1!$B$2:$B$5</c:f>
              <c:numCache>
                <c:ptCount val="4"/>
                <c:pt idx="0">
                  <c:v>40</c:v>
                </c:pt>
                <c:pt idx="1">
                  <c:v>30</c:v>
                </c:pt>
                <c:pt idx="2">
                  <c:v>20</c:v>
                </c:pt>
                <c:pt idx="3">
                  <c:v>10</c:v>
                </c:pt>
              </c:numCache>
            </c:numRef>
          </c:val>
        </c:ser>
        <c:firstSliceAng val="0"/>
        <c:holeSize val="52"/>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ar-SA" alt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ar-SA" alt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ar-SA" alt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ar-SA" alt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ar-SA" alt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ar-SA" alt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أهداف شهرية (أو هدف لكل سورة بالنسبة للمستوى المبتدئ)
كل هدف مقسّم إلى آجال أسبوعية
لكل هدف أسبوعي خانة مقابلة
إذا كان التسميع صحيحًا، يصادق الأستاذ على الخانة بتدوين التاريخ فيها
إذا لم يتحقق الهدف تبقى الخانة فارغة، ويُؤجَّل الهدف إلى الأسبوع الموالي
إذا لم يتحقق هدفان متتاليان، يُحدَّد موعد مع الأولياء
مصادقات مرحلية (شهرية، وكل شهرين، وكل أربعة أشهر)</a:t>
            </a:r>
            <a:endParaRPr lang="ar-SA" alt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ar-SA" alt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ar-SA" alt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ar-SA" alt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تُحدَّد فئة التلميذ وفق المعايير التالية:
إتقان القراءة
درجة الاستقلالية في الحفظ
القدرة الكمية على الحفظ (الحد الأدنى: ثُمن حزب في الأسبوع)
للانتماء إلى فئة «المتقدّم» يجب استيفاء المعايير الثلاثة.
للانتماء إلى فئة «المتوسط» يجب استيفاء المعيارين الأولين.</a:t>
            </a:r>
            <a:endParaRPr lang="ar-SA" alt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ar-SA" alt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ar-SA" alt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ar-SA" alt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ar-SA" alt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ar-SA" alt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ar-SA" alt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ar-SA" alt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ar-SA" alt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ar-SA" alt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ar-SA" alt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ar-SA" alt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ar-SA" alt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ar-SA" alt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ar-SA" alt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ar-SA" alt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ar-SA" alt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ar-SA" alt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ar-SA" alt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ar-SA" alt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ar-SA" alt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ar-SA" alt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B3C"/>
        </a:solidFill>
      </p:bgPr>
    </p:bg>
    <p:spTree>
      <p:nvGrpSpPr>
        <p:cNvPr id="1" name=""/>
        <p:cNvGrpSpPr/>
        <p:nvPr/>
      </p:nvGrpSpPr>
      <p:grpSpPr>
        <a:xfrm>
          <a:off x="0" y="0"/>
          <a:ext cx="0" cy="0"/>
          <a:chOff x="0" y="0"/>
          <a:chExt cx="0" cy="0"/>
        </a:xfrm>
      </p:grpSpPr>
      <p:sp>
        <p:nvSpPr>
          <p:cNvPr id="2" name="Text 0"/>
          <p:cNvSpPr/>
          <p:nvPr/>
        </p:nvSpPr>
        <p:spPr>
          <a:xfrm>
            <a:off x="1005840" y="1572768"/>
            <a:ext cx="10149840" cy="411480"/>
          </a:xfrm>
          <a:prstGeom prst="rect">
            <a:avLst/>
          </a:prstGeom>
          <a:noFill/>
          <a:ln/>
        </p:spPr>
        <p:txBody>
          <a:bodyPr wrap="square" lIns="0" tIns="0" rIns="0" bIns="0" rtlCol="0" anchor="ctr"/>
          <a:lstStyle/>
          <a:p>
            <a:pPr rtl="1" algn="ctr" indent="0" marL="0">
              <a:buNone/>
            </a:pPr>
            <a:r>
              <a:rPr lang="ar-SA" altLang="en-US" sz="1700" spc="200" kern="0" dirty="0">
                <a:solidFill>
                  <a:srgbClr val="9DC4C2"/>
                </a:solidFill>
                <a:latin typeface="Arial" pitchFamily="34" charset="0"/>
                <a:ea typeface="Arial" pitchFamily="34" charset="-122"/>
                <a:cs typeface="Arial" pitchFamily="34" charset="-120"/>
              </a:rPr>
              <a:t>بطاقات حفظ القرآن</a:t>
            </a:r>
            <a:endParaRPr lang="ar-SA" sz="1700" dirty="0"/>
          </a:p>
        </p:txBody>
      </p:sp>
      <p:sp>
        <p:nvSpPr>
          <p:cNvPr id="3" name="Text 1"/>
          <p:cNvSpPr/>
          <p:nvPr/>
        </p:nvSpPr>
        <p:spPr>
          <a:xfrm>
            <a:off x="640080" y="2148840"/>
            <a:ext cx="10908792" cy="960120"/>
          </a:xfrm>
          <a:prstGeom prst="rect">
            <a:avLst/>
          </a:prstGeom>
          <a:noFill/>
          <a:ln/>
        </p:spPr>
        <p:txBody>
          <a:bodyPr wrap="square" lIns="0" tIns="0" rIns="0" bIns="0" rtlCol="0" anchor="ctr"/>
          <a:lstStyle/>
          <a:p>
            <a:pPr rtl="1" algn="ctr" indent="0" marL="0">
              <a:buNone/>
            </a:pPr>
            <a:r>
              <a:rPr lang="ar-SA" altLang="en-US" sz="4000" b="1" dirty="0">
                <a:solidFill>
                  <a:srgbClr val="FFFFFF"/>
                </a:solidFill>
                <a:latin typeface="Arial" pitchFamily="34" charset="0"/>
                <a:ea typeface="Arial" pitchFamily="34" charset="-122"/>
                <a:cs typeface="Arial" pitchFamily="34" charset="-120"/>
              </a:rPr>
              <a:t>تعلّم القرآن خطوة بخطوة</a:t>
            </a:r>
            <a:endParaRPr lang="ar-SA" sz="4000" dirty="0"/>
          </a:p>
        </p:txBody>
      </p:sp>
      <p:sp>
        <p:nvSpPr>
          <p:cNvPr id="4" name="Text 2"/>
          <p:cNvSpPr/>
          <p:nvPr/>
        </p:nvSpPr>
        <p:spPr>
          <a:xfrm>
            <a:off x="1005840" y="3310128"/>
            <a:ext cx="10149840" cy="457200"/>
          </a:xfrm>
          <a:prstGeom prst="rect">
            <a:avLst/>
          </a:prstGeom>
          <a:noFill/>
          <a:ln/>
        </p:spPr>
        <p:txBody>
          <a:bodyPr wrap="square" lIns="0" tIns="0" rIns="0" bIns="0" rtlCol="0" anchor="ctr"/>
          <a:lstStyle/>
          <a:p>
            <a:pPr rtl="1" algn="ctr" indent="0" marL="0">
              <a:buNone/>
            </a:pPr>
            <a:r>
              <a:rPr lang="ar-SA" altLang="en-US" sz="2000" b="1" dirty="0">
                <a:solidFill>
                  <a:srgbClr val="D9982B"/>
                </a:solidFill>
                <a:latin typeface="Arial" pitchFamily="34" charset="0"/>
                <a:ea typeface="Arial" pitchFamily="34" charset="-122"/>
                <a:cs typeface="Arial" pitchFamily="34" charset="-120"/>
              </a:rPr>
              <a:t>نظام بطاقات التسميع</a:t>
            </a:r>
            <a:endParaRPr lang="ar-SA" sz="2000" dirty="0"/>
          </a:p>
        </p:txBody>
      </p:sp>
      <p:sp>
        <p:nvSpPr>
          <p:cNvPr id="5" name="Shape 3"/>
          <p:cNvSpPr/>
          <p:nvPr/>
        </p:nvSpPr>
        <p:spPr>
          <a:xfrm>
            <a:off x="7595464" y="4754880"/>
            <a:ext cx="384048" cy="384048"/>
          </a:xfrm>
          <a:prstGeom prst="ellipse">
            <a:avLst/>
          </a:prstGeom>
          <a:solidFill>
            <a:srgbClr val="3F4A4A"/>
          </a:solidFill>
          <a:ln w="12700">
            <a:solidFill>
              <a:srgbClr val="3F4A4A"/>
            </a:solidFill>
            <a:prstDash val="solid"/>
          </a:ln>
        </p:spPr>
      </p:sp>
      <p:sp>
        <p:nvSpPr>
          <p:cNvPr id="6" name="Text 4"/>
          <p:cNvSpPr/>
          <p:nvPr/>
        </p:nvSpPr>
        <p:spPr>
          <a:xfrm>
            <a:off x="7595464" y="475488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ar-SA" altLang="en-US" sz="1100" dirty="0"/>
          </a:p>
        </p:txBody>
      </p:sp>
      <p:sp>
        <p:nvSpPr>
          <p:cNvPr id="7" name="Shape 5"/>
          <p:cNvSpPr/>
          <p:nvPr/>
        </p:nvSpPr>
        <p:spPr>
          <a:xfrm>
            <a:off x="6918808" y="4754880"/>
            <a:ext cx="384048" cy="384048"/>
          </a:xfrm>
          <a:prstGeom prst="ellipse">
            <a:avLst/>
          </a:prstGeom>
          <a:solidFill>
            <a:srgbClr val="E8B62C"/>
          </a:solidFill>
          <a:ln w="12700">
            <a:solidFill>
              <a:srgbClr val="E8B62C"/>
            </a:solidFill>
            <a:prstDash val="solid"/>
          </a:ln>
        </p:spPr>
      </p:sp>
      <p:sp>
        <p:nvSpPr>
          <p:cNvPr id="8" name="Text 6"/>
          <p:cNvSpPr/>
          <p:nvPr/>
        </p:nvSpPr>
        <p:spPr>
          <a:xfrm>
            <a:off x="6918808" y="4754880"/>
            <a:ext cx="384048" cy="384048"/>
          </a:xfrm>
          <a:prstGeom prst="rect">
            <a:avLst/>
          </a:prstGeom>
          <a:noFill/>
          <a:ln/>
        </p:spPr>
        <p:txBody>
          <a:bodyPr wrap="square" lIns="0" tIns="0" rIns="0" bIns="0" rtlCol="0" anchor="ctr"/>
          <a:lstStyle/>
          <a:p>
            <a:pPr algn="ctr" indent="0" marL="0">
              <a:buNone/>
            </a:pPr>
            <a:r>
              <a:rPr lang="en-US" sz="1100" b="1" dirty="0">
                <a:solidFill>
                  <a:srgbClr val="0B3B3C"/>
                </a:solidFill>
                <a:latin typeface="Arial" pitchFamily="34" charset="0"/>
                <a:ea typeface="Arial" pitchFamily="34" charset="-122"/>
                <a:cs typeface="Arial" pitchFamily="34" charset="-120"/>
              </a:rPr>
              <a:t>2</a:t>
            </a:r>
            <a:endParaRPr lang="ar-SA" altLang="en-US" sz="1100" dirty="0"/>
          </a:p>
        </p:txBody>
      </p:sp>
      <p:sp>
        <p:nvSpPr>
          <p:cNvPr id="9" name="Shape 7"/>
          <p:cNvSpPr/>
          <p:nvPr/>
        </p:nvSpPr>
        <p:spPr>
          <a:xfrm>
            <a:off x="6242152" y="4754880"/>
            <a:ext cx="384048" cy="384048"/>
          </a:xfrm>
          <a:prstGeom prst="ellipse">
            <a:avLst/>
          </a:prstGeom>
          <a:solidFill>
            <a:srgbClr val="E07E38"/>
          </a:solidFill>
          <a:ln w="12700">
            <a:solidFill>
              <a:srgbClr val="E07E38"/>
            </a:solidFill>
            <a:prstDash val="solid"/>
          </a:ln>
        </p:spPr>
      </p:sp>
      <p:sp>
        <p:nvSpPr>
          <p:cNvPr id="10" name="Text 8"/>
          <p:cNvSpPr/>
          <p:nvPr/>
        </p:nvSpPr>
        <p:spPr>
          <a:xfrm>
            <a:off x="6242152" y="475488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ar-SA" altLang="en-US" sz="1100" dirty="0"/>
          </a:p>
        </p:txBody>
      </p:sp>
      <p:sp>
        <p:nvSpPr>
          <p:cNvPr id="11" name="Shape 9"/>
          <p:cNvSpPr/>
          <p:nvPr/>
        </p:nvSpPr>
        <p:spPr>
          <a:xfrm>
            <a:off x="5565496" y="4754880"/>
            <a:ext cx="384048" cy="384048"/>
          </a:xfrm>
          <a:prstGeom prst="ellipse">
            <a:avLst/>
          </a:prstGeom>
          <a:solidFill>
            <a:srgbClr val="6FA25A"/>
          </a:solidFill>
          <a:ln w="12700">
            <a:solidFill>
              <a:srgbClr val="6FA25A"/>
            </a:solidFill>
            <a:prstDash val="solid"/>
          </a:ln>
        </p:spPr>
      </p:sp>
      <p:sp>
        <p:nvSpPr>
          <p:cNvPr id="12" name="Text 10"/>
          <p:cNvSpPr/>
          <p:nvPr/>
        </p:nvSpPr>
        <p:spPr>
          <a:xfrm>
            <a:off x="5565496" y="475488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ar-SA" altLang="en-US" sz="1100" dirty="0"/>
          </a:p>
        </p:txBody>
      </p:sp>
      <p:sp>
        <p:nvSpPr>
          <p:cNvPr id="13" name="Shape 11"/>
          <p:cNvSpPr/>
          <p:nvPr/>
        </p:nvSpPr>
        <p:spPr>
          <a:xfrm>
            <a:off x="4888840" y="4754880"/>
            <a:ext cx="384048" cy="384048"/>
          </a:xfrm>
          <a:prstGeom prst="ellipse">
            <a:avLst/>
          </a:prstGeom>
          <a:solidFill>
            <a:srgbClr val="3E85BE"/>
          </a:solidFill>
          <a:ln w="12700">
            <a:solidFill>
              <a:srgbClr val="3E85BE"/>
            </a:solidFill>
            <a:prstDash val="solid"/>
          </a:ln>
        </p:spPr>
      </p:sp>
      <p:sp>
        <p:nvSpPr>
          <p:cNvPr id="14" name="Text 12"/>
          <p:cNvSpPr/>
          <p:nvPr/>
        </p:nvSpPr>
        <p:spPr>
          <a:xfrm>
            <a:off x="4888840" y="475488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ar-SA" altLang="en-US" sz="1100" dirty="0"/>
          </a:p>
        </p:txBody>
      </p:sp>
      <p:sp>
        <p:nvSpPr>
          <p:cNvPr id="15" name="Shape 13"/>
          <p:cNvSpPr/>
          <p:nvPr/>
        </p:nvSpPr>
        <p:spPr>
          <a:xfrm>
            <a:off x="4212184" y="4754880"/>
            <a:ext cx="384048" cy="384048"/>
          </a:xfrm>
          <a:prstGeom prst="ellipse">
            <a:avLst/>
          </a:prstGeom>
          <a:solidFill>
            <a:srgbClr val="B5485C"/>
          </a:solidFill>
          <a:ln w="12700">
            <a:solidFill>
              <a:srgbClr val="B5485C"/>
            </a:solidFill>
            <a:prstDash val="solid"/>
          </a:ln>
        </p:spPr>
      </p:sp>
      <p:sp>
        <p:nvSpPr>
          <p:cNvPr id="16" name="Text 14"/>
          <p:cNvSpPr/>
          <p:nvPr/>
        </p:nvSpPr>
        <p:spPr>
          <a:xfrm>
            <a:off x="4212184" y="475488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ar-SA" altLang="en-US" sz="1100" dirty="0"/>
          </a:p>
        </p:txBody>
      </p:sp>
      <p:sp>
        <p:nvSpPr>
          <p:cNvPr id="17" name="Text 15"/>
          <p:cNvSpPr/>
          <p:nvPr/>
        </p:nvSpPr>
        <p:spPr>
          <a:xfrm>
            <a:off x="566928" y="6382512"/>
            <a:ext cx="7772400" cy="274320"/>
          </a:xfrm>
          <a:prstGeom prst="rect">
            <a:avLst/>
          </a:prstGeom>
          <a:noFill/>
          <a:ln/>
        </p:spPr>
        <p:txBody>
          <a:bodyPr wrap="square" lIns="0" tIns="0" rIns="0" bIns="0" rtlCol="0" anchor="ctr"/>
          <a:lstStyle/>
          <a:p>
            <a:pPr rtl="1" algn="r" indent="0" marL="0">
              <a:buNone/>
            </a:pPr>
            <a:r>
              <a:rPr lang="ar-SA" altLang="en-US" sz="1000" dirty="0">
                <a:solidFill>
                  <a:srgbClr val="5F7574"/>
                </a:solidFill>
                <a:latin typeface="Arial" pitchFamily="34" charset="0"/>
                <a:ea typeface="Arial" pitchFamily="34" charset="-122"/>
                <a:cs typeface="Arial" pitchFamily="34" charset="-120"/>
              </a:rPr>
              <a:t>عمل حرّ — غير قابل للاستغلال التجاري — bitaqat-hifd-quran.com</a:t>
            </a:r>
            <a:endParaRPr lang="ar-SA" sz="1000" dirty="0"/>
          </a:p>
        </p:txBody>
      </p:sp>
      <p:sp>
        <p:nvSpPr>
          <p:cNvPr id="18" name="Text 16"/>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Arial" pitchFamily="34" charset="0"/>
                <a:ea typeface="Arial" pitchFamily="34" charset="-122"/>
                <a:cs typeface="Arial" pitchFamily="34" charset="-120"/>
              </a:rPr>
              <a:t>1</a:t>
            </a:r>
            <a:endParaRPr lang="ar-SA" alt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rtl="1" algn="r" indent="0" marL="0">
              <a:buNone/>
            </a:pPr>
            <a:r>
              <a:rPr lang="ar-SA" altLang="en-US" sz="3200" b="1" dirty="0">
                <a:solidFill>
                  <a:srgbClr val="0B3B3C"/>
                </a:solidFill>
                <a:latin typeface="Arial" pitchFamily="34" charset="0"/>
                <a:ea typeface="Arial" pitchFamily="34" charset="-122"/>
                <a:cs typeface="Arial" pitchFamily="34" charset="-120"/>
              </a:rPr>
              <a:t>المنهجية</a:t>
            </a:r>
            <a:endParaRPr lang="ar-SA" sz="3200" dirty="0"/>
          </a:p>
        </p:txBody>
      </p:sp>
      <p:sp>
        <p:nvSpPr>
          <p:cNvPr id="3" name="Shape 1"/>
          <p:cNvSpPr/>
          <p:nvPr/>
        </p:nvSpPr>
        <p:spPr>
          <a:xfrm>
            <a:off x="8171536" y="1691640"/>
            <a:ext cx="3383280" cy="3246120"/>
          </a:xfrm>
          <a:prstGeom prst="roundRect">
            <a:avLst>
              <a:gd name="adj" fmla="val 3380"/>
            </a:avLst>
          </a:prstGeom>
          <a:solidFill>
            <a:srgbClr val="EAF4F2"/>
          </a:solidFill>
          <a:ln w="12700">
            <a:solidFill>
              <a:srgbClr val="EAF4F2"/>
            </a:solidFill>
            <a:prstDash val="solid"/>
          </a:ln>
          <a:effectLst>
            <a:outerShdw sx="100000" sy="100000" kx="0" ky="0" algn="bl" rotWithShape="0" blurRad="101600" dist="25400" dir="5400000">
              <a:srgbClr val="0B3B3C">
                <a:alpha val="10000"/>
              </a:srgbClr>
            </a:outerShdw>
          </a:effectLst>
        </p:spPr>
      </p:sp>
      <p:sp>
        <p:nvSpPr>
          <p:cNvPr id="4" name="Shape 2"/>
          <p:cNvSpPr/>
          <p:nvPr/>
        </p:nvSpPr>
        <p:spPr>
          <a:xfrm>
            <a:off x="10695280" y="1993392"/>
            <a:ext cx="566928" cy="566928"/>
          </a:xfrm>
          <a:prstGeom prst="ellipse">
            <a:avLst/>
          </a:prstGeom>
          <a:solidFill>
            <a:srgbClr val="137A7F"/>
          </a:solidFill>
          <a:ln w="12700">
            <a:solidFill>
              <a:srgbClr val="137A7F"/>
            </a:solidFill>
            <a:prstDash val="solid"/>
          </a:ln>
        </p:spPr>
      </p:sp>
      <p:sp>
        <p:nvSpPr>
          <p:cNvPr id="5" name="Text 3"/>
          <p:cNvSpPr/>
          <p:nvPr/>
        </p:nvSpPr>
        <p:spPr>
          <a:xfrm>
            <a:off x="10695280" y="199339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ar-SA" altLang="en-US" sz="1600" dirty="0"/>
          </a:p>
        </p:txBody>
      </p:sp>
      <p:sp>
        <p:nvSpPr>
          <p:cNvPr id="6" name="Text 4"/>
          <p:cNvSpPr/>
          <p:nvPr/>
        </p:nvSpPr>
        <p:spPr>
          <a:xfrm>
            <a:off x="8464144" y="2761488"/>
            <a:ext cx="2798064" cy="868680"/>
          </a:xfrm>
          <a:prstGeom prst="rect">
            <a:avLst/>
          </a:prstGeom>
          <a:noFill/>
          <a:ln/>
        </p:spPr>
        <p:txBody>
          <a:bodyPr wrap="square" lIns="0" tIns="0" rIns="0" bIns="0" rtlCol="0" anchor="t"/>
          <a:lstStyle/>
          <a:p>
            <a:pPr rtl="1" algn="r" indent="0" marL="0">
              <a:buNone/>
            </a:pPr>
            <a:r>
              <a:rPr lang="ar-SA" altLang="en-US" sz="1900" b="1" dirty="0">
                <a:solidFill>
                  <a:srgbClr val="0B3B3C"/>
                </a:solidFill>
                <a:latin typeface="Arial" pitchFamily="34" charset="0"/>
                <a:ea typeface="Arial" pitchFamily="34" charset="-122"/>
                <a:cs typeface="Arial" pitchFamily="34" charset="-120"/>
              </a:rPr>
              <a:t>بيداغوجيا الأهداف</a:t>
            </a:r>
            <a:endParaRPr lang="ar-SA" sz="1900" dirty="0"/>
          </a:p>
        </p:txBody>
      </p:sp>
      <p:sp>
        <p:nvSpPr>
          <p:cNvPr id="7" name="Text 5"/>
          <p:cNvSpPr/>
          <p:nvPr/>
        </p:nvSpPr>
        <p:spPr>
          <a:xfrm>
            <a:off x="8464144" y="3657600"/>
            <a:ext cx="2798064" cy="1463040"/>
          </a:xfrm>
          <a:prstGeom prst="rect">
            <a:avLst/>
          </a:prstGeom>
          <a:noFill/>
          <a:ln/>
        </p:spPr>
        <p:txBody>
          <a:bodyPr wrap="square" lIns="0" tIns="0" rIns="0" bIns="0" rtlCol="0" anchor="t"/>
          <a:lstStyle/>
          <a:p>
            <a:pPr rtl="1" algn="r" marL="342900" indent="-342900">
              <a:spcAft>
                <a:spcPts val="800"/>
              </a:spcAft>
              <a:buSzPct val="100000"/>
              <a:buChar char="▪"/>
            </a:pPr>
            <a:r>
              <a:rPr lang="ar-SA" altLang="en-US" sz="1400" dirty="0">
                <a:solidFill>
                  <a:srgbClr val="24403F"/>
                </a:solidFill>
                <a:latin typeface="Arial" pitchFamily="34" charset="0"/>
                <a:ea typeface="Arial" pitchFamily="34" charset="-122"/>
                <a:cs typeface="Arial" pitchFamily="34" charset="-120"/>
              </a:rPr>
              <a:t>برنامج تعلّم فردي</a:t>
            </a:r>
            <a:endParaRPr lang="ar-SA" altLang="en-US" sz="1400" dirty="0"/>
          </a:p>
          <a:p>
            <a:pPr rtl="1" algn="r" marL="342900" indent="-342900">
              <a:spcAft>
                <a:spcPts val="800"/>
              </a:spcAft>
              <a:buSzPct val="100000"/>
              <a:buChar char="▪"/>
            </a:pPr>
            <a:r>
              <a:rPr lang="ar-SA" altLang="en-US" sz="1400" dirty="0">
                <a:solidFill>
                  <a:srgbClr val="24403F"/>
                </a:solidFill>
                <a:latin typeface="Arial" pitchFamily="34" charset="0"/>
                <a:ea typeface="Arial" pitchFamily="34" charset="-122"/>
                <a:cs typeface="Arial" pitchFamily="34" charset="-120"/>
              </a:rPr>
              <a:t>متابعة شخصية</a:t>
            </a:r>
            <a:endParaRPr lang="ar-SA" altLang="en-US" sz="1400" dirty="0"/>
          </a:p>
        </p:txBody>
      </p:sp>
      <p:sp>
        <p:nvSpPr>
          <p:cNvPr id="8" name="Shape 6"/>
          <p:cNvSpPr/>
          <p:nvPr/>
        </p:nvSpPr>
        <p:spPr>
          <a:xfrm>
            <a:off x="4404208" y="1691640"/>
            <a:ext cx="3383280" cy="3246120"/>
          </a:xfrm>
          <a:prstGeom prst="roundRect">
            <a:avLst>
              <a:gd name="adj" fmla="val 3380"/>
            </a:avLst>
          </a:prstGeom>
          <a:solidFill>
            <a:srgbClr val="EAF4F2"/>
          </a:solidFill>
          <a:ln w="12700">
            <a:solidFill>
              <a:srgbClr val="EAF4F2"/>
            </a:solidFill>
            <a:prstDash val="solid"/>
          </a:ln>
          <a:effectLst>
            <a:outerShdw sx="100000" sy="100000" kx="0" ky="0" algn="bl" rotWithShape="0" blurRad="101600" dist="25400" dir="5400000">
              <a:srgbClr val="0B3B3C">
                <a:alpha val="10000"/>
              </a:srgbClr>
            </a:outerShdw>
          </a:effectLst>
        </p:spPr>
      </p:sp>
      <p:sp>
        <p:nvSpPr>
          <p:cNvPr id="9" name="Shape 7"/>
          <p:cNvSpPr/>
          <p:nvPr/>
        </p:nvSpPr>
        <p:spPr>
          <a:xfrm>
            <a:off x="6927952" y="1993392"/>
            <a:ext cx="566928" cy="566928"/>
          </a:xfrm>
          <a:prstGeom prst="ellipse">
            <a:avLst/>
          </a:prstGeom>
          <a:solidFill>
            <a:srgbClr val="D9982B"/>
          </a:solidFill>
          <a:ln w="12700">
            <a:solidFill>
              <a:srgbClr val="D9982B"/>
            </a:solidFill>
            <a:prstDash val="solid"/>
          </a:ln>
        </p:spPr>
      </p:sp>
      <p:sp>
        <p:nvSpPr>
          <p:cNvPr id="10" name="Text 8"/>
          <p:cNvSpPr/>
          <p:nvPr/>
        </p:nvSpPr>
        <p:spPr>
          <a:xfrm>
            <a:off x="6927952" y="199339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ar-SA" altLang="en-US" sz="1600" dirty="0"/>
          </a:p>
        </p:txBody>
      </p:sp>
      <p:sp>
        <p:nvSpPr>
          <p:cNvPr id="11" name="Text 9"/>
          <p:cNvSpPr/>
          <p:nvPr/>
        </p:nvSpPr>
        <p:spPr>
          <a:xfrm>
            <a:off x="4696816" y="2761488"/>
            <a:ext cx="2798064" cy="868680"/>
          </a:xfrm>
          <a:prstGeom prst="rect">
            <a:avLst/>
          </a:prstGeom>
          <a:noFill/>
          <a:ln/>
        </p:spPr>
        <p:txBody>
          <a:bodyPr wrap="square" lIns="0" tIns="0" rIns="0" bIns="0" rtlCol="0" anchor="t"/>
          <a:lstStyle/>
          <a:p>
            <a:pPr rtl="1" algn="r" indent="0" marL="0">
              <a:buNone/>
            </a:pPr>
            <a:r>
              <a:rPr lang="ar-SA" altLang="en-US" sz="1900" b="1" dirty="0">
                <a:solidFill>
                  <a:srgbClr val="0B3B3C"/>
                </a:solidFill>
                <a:latin typeface="Arial" pitchFamily="34" charset="0"/>
                <a:ea typeface="Arial" pitchFamily="34" charset="-122"/>
                <a:cs typeface="Arial" pitchFamily="34" charset="-120"/>
              </a:rPr>
              <a:t>الفاعلون وتوزيع الأدوار</a:t>
            </a:r>
            <a:endParaRPr lang="ar-SA" sz="1900" dirty="0"/>
          </a:p>
        </p:txBody>
      </p:sp>
      <p:sp>
        <p:nvSpPr>
          <p:cNvPr id="12" name="Shape 10"/>
          <p:cNvSpPr/>
          <p:nvPr/>
        </p:nvSpPr>
        <p:spPr>
          <a:xfrm>
            <a:off x="636880" y="1691640"/>
            <a:ext cx="3383280" cy="3246120"/>
          </a:xfrm>
          <a:prstGeom prst="roundRect">
            <a:avLst>
              <a:gd name="adj" fmla="val 3380"/>
            </a:avLst>
          </a:prstGeom>
          <a:solidFill>
            <a:srgbClr val="EAF4F2"/>
          </a:solidFill>
          <a:ln w="12700">
            <a:solidFill>
              <a:srgbClr val="EAF4F2"/>
            </a:solidFill>
            <a:prstDash val="solid"/>
          </a:ln>
          <a:effectLst>
            <a:outerShdw sx="100000" sy="100000" kx="0" ky="0" algn="bl" rotWithShape="0" blurRad="101600" dist="25400" dir="5400000">
              <a:srgbClr val="0B3B3C">
                <a:alpha val="10000"/>
              </a:srgbClr>
            </a:outerShdw>
          </a:effectLst>
        </p:spPr>
      </p:sp>
      <p:sp>
        <p:nvSpPr>
          <p:cNvPr id="13" name="Shape 11"/>
          <p:cNvSpPr/>
          <p:nvPr/>
        </p:nvSpPr>
        <p:spPr>
          <a:xfrm>
            <a:off x="3160624" y="1993392"/>
            <a:ext cx="566928" cy="566928"/>
          </a:xfrm>
          <a:prstGeom prst="ellipse">
            <a:avLst/>
          </a:prstGeom>
          <a:solidFill>
            <a:srgbClr val="9E3B4E"/>
          </a:solidFill>
          <a:ln w="12700">
            <a:solidFill>
              <a:srgbClr val="9E3B4E"/>
            </a:solidFill>
            <a:prstDash val="solid"/>
          </a:ln>
        </p:spPr>
      </p:sp>
      <p:sp>
        <p:nvSpPr>
          <p:cNvPr id="14" name="Text 12"/>
          <p:cNvSpPr/>
          <p:nvPr/>
        </p:nvSpPr>
        <p:spPr>
          <a:xfrm>
            <a:off x="3160624" y="1993392"/>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ar-SA" altLang="en-US" sz="1600" dirty="0"/>
          </a:p>
        </p:txBody>
      </p:sp>
      <p:sp>
        <p:nvSpPr>
          <p:cNvPr id="15" name="Text 13"/>
          <p:cNvSpPr/>
          <p:nvPr/>
        </p:nvSpPr>
        <p:spPr>
          <a:xfrm>
            <a:off x="929488" y="2761488"/>
            <a:ext cx="2798064" cy="868680"/>
          </a:xfrm>
          <a:prstGeom prst="rect">
            <a:avLst/>
          </a:prstGeom>
          <a:noFill/>
          <a:ln/>
        </p:spPr>
        <p:txBody>
          <a:bodyPr wrap="square" lIns="0" tIns="0" rIns="0" bIns="0" rtlCol="0" anchor="t"/>
          <a:lstStyle/>
          <a:p>
            <a:pPr rtl="1" algn="r" indent="0" marL="0">
              <a:buNone/>
            </a:pPr>
            <a:r>
              <a:rPr lang="ar-SA" altLang="en-US" sz="1900" b="1" dirty="0">
                <a:solidFill>
                  <a:srgbClr val="0B3B3C"/>
                </a:solidFill>
                <a:latin typeface="Arial" pitchFamily="34" charset="0"/>
                <a:ea typeface="Arial" pitchFamily="34" charset="-122"/>
                <a:cs typeface="Arial" pitchFamily="34" charset="-120"/>
              </a:rPr>
              <a:t>المتطلبات</a:t>
            </a:r>
            <a:endParaRPr lang="ar-SA" sz="1900" dirty="0"/>
          </a:p>
        </p:txBody>
      </p:sp>
      <p:sp>
        <p:nvSpPr>
          <p:cNvPr id="16" name="Text 14"/>
          <p:cNvSpPr/>
          <p:nvPr/>
        </p:nvSpPr>
        <p:spPr>
          <a:xfrm>
            <a:off x="929488" y="3657600"/>
            <a:ext cx="2798064" cy="1463040"/>
          </a:xfrm>
          <a:prstGeom prst="rect">
            <a:avLst/>
          </a:prstGeom>
          <a:noFill/>
          <a:ln/>
        </p:spPr>
        <p:txBody>
          <a:bodyPr wrap="square" lIns="0" tIns="0" rIns="0" bIns="0" rtlCol="0" anchor="t"/>
          <a:lstStyle/>
          <a:p>
            <a:pPr rtl="1" algn="r" marL="342900" indent="-342900">
              <a:spcAft>
                <a:spcPts val="800"/>
              </a:spcAft>
              <a:buSzPct val="100000"/>
              <a:buChar char="▪"/>
            </a:pPr>
            <a:r>
              <a:rPr lang="ar-SA" altLang="en-US" sz="1400" dirty="0">
                <a:solidFill>
                  <a:srgbClr val="24403F"/>
                </a:solidFill>
                <a:latin typeface="Arial" pitchFamily="34" charset="0"/>
                <a:ea typeface="Arial" pitchFamily="34" charset="-122"/>
                <a:cs typeface="Arial" pitchFamily="34" charset="-120"/>
              </a:rPr>
              <a:t>انخراط قوي من الأولياء</a:t>
            </a:r>
            <a:endParaRPr lang="ar-SA" altLang="en-US" sz="1400" dirty="0"/>
          </a:p>
          <a:p>
            <a:pPr rtl="1" algn="r" marL="342900" indent="-342900">
              <a:spcAft>
                <a:spcPts val="800"/>
              </a:spcAft>
              <a:buSzPct val="100000"/>
              <a:buChar char="▪"/>
            </a:pPr>
            <a:r>
              <a:rPr lang="ar-SA" altLang="en-US" sz="1400" dirty="0">
                <a:solidFill>
                  <a:srgbClr val="24403F"/>
                </a:solidFill>
                <a:latin typeface="Arial" pitchFamily="34" charset="0"/>
                <a:ea typeface="Arial" pitchFamily="34" charset="-122"/>
                <a:cs typeface="Arial" pitchFamily="34" charset="-120"/>
              </a:rPr>
              <a:t>الحفظ في البيت / التسميع في القسم</a:t>
            </a:r>
            <a:endParaRPr lang="ar-SA" altLang="en-US" sz="1400" dirty="0"/>
          </a:p>
        </p:txBody>
      </p:sp>
      <p:sp>
        <p:nvSpPr>
          <p:cNvPr id="17" name="Text 15"/>
          <p:cNvSpPr/>
          <p:nvPr/>
        </p:nvSpPr>
        <p:spPr>
          <a:xfrm>
            <a:off x="566928" y="6382512"/>
            <a:ext cx="7772400" cy="274320"/>
          </a:xfrm>
          <a:prstGeom prst="rect">
            <a:avLst/>
          </a:prstGeom>
          <a:noFill/>
          <a:ln/>
        </p:spPr>
        <p:txBody>
          <a:bodyPr wrap="square" lIns="0" tIns="0" rIns="0" bIns="0" rtlCol="0" anchor="ctr"/>
          <a:lstStyle/>
          <a:p>
            <a:pPr rtl="1" algn="r" indent="0" marL="0">
              <a:buNone/>
            </a:pPr>
            <a:r>
              <a:rPr lang="ar-SA" altLang="en-US" sz="1000" dirty="0">
                <a:solidFill>
                  <a:srgbClr val="5F7574"/>
                </a:solidFill>
                <a:latin typeface="Arial" pitchFamily="34" charset="0"/>
                <a:ea typeface="Arial" pitchFamily="34" charset="-122"/>
                <a:cs typeface="Arial" pitchFamily="34" charset="-120"/>
              </a:rPr>
              <a:t>عمل حرّ — غير قابل للاستغلال التجاري — bitaqat-hifd-quran.com</a:t>
            </a:r>
            <a:endParaRPr lang="ar-SA" sz="1000" dirty="0"/>
          </a:p>
        </p:txBody>
      </p:sp>
      <p:sp>
        <p:nvSpPr>
          <p:cNvPr id="18" name="Text 16"/>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Arial" pitchFamily="34" charset="0"/>
                <a:ea typeface="Arial" pitchFamily="34" charset="-122"/>
                <a:cs typeface="Arial" pitchFamily="34" charset="-120"/>
              </a:rPr>
              <a:t>2</a:t>
            </a:r>
            <a:endParaRPr lang="ar-SA" alt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rtl="1" algn="r" indent="0" marL="0">
              <a:buNone/>
            </a:pPr>
            <a:r>
              <a:rPr lang="ar-SA" altLang="en-US" sz="3200" b="1" dirty="0">
                <a:solidFill>
                  <a:srgbClr val="0B3B3C"/>
                </a:solidFill>
                <a:latin typeface="Arial" pitchFamily="34" charset="0"/>
                <a:ea typeface="Arial" pitchFamily="34" charset="-122"/>
                <a:cs typeface="Arial" pitchFamily="34" charset="-120"/>
              </a:rPr>
              <a:t>المنهجية</a:t>
            </a:r>
            <a:endParaRPr lang="ar-SA" sz="3200" dirty="0"/>
          </a:p>
        </p:txBody>
      </p:sp>
      <p:sp>
        <p:nvSpPr>
          <p:cNvPr id="3" name="Text 1"/>
          <p:cNvSpPr/>
          <p:nvPr/>
        </p:nvSpPr>
        <p:spPr>
          <a:xfrm>
            <a:off x="566928" y="914400"/>
            <a:ext cx="11045952" cy="329184"/>
          </a:xfrm>
          <a:prstGeom prst="rect">
            <a:avLst/>
          </a:prstGeom>
          <a:noFill/>
          <a:ln/>
        </p:spPr>
        <p:txBody>
          <a:bodyPr wrap="square" lIns="0" tIns="0" rIns="0" bIns="0" rtlCol="0" anchor="ctr"/>
          <a:lstStyle/>
          <a:p>
            <a:pPr rtl="1" algn="r" indent="0" marL="0">
              <a:buNone/>
            </a:pPr>
            <a:r>
              <a:rPr lang="ar-SA" altLang="en-US" sz="1500" dirty="0">
                <a:solidFill>
                  <a:srgbClr val="137A7F"/>
                </a:solidFill>
                <a:latin typeface="Arial" pitchFamily="34" charset="0"/>
                <a:ea typeface="Arial" pitchFamily="34" charset="-122"/>
                <a:cs typeface="Arial" pitchFamily="34" charset="-120"/>
              </a:rPr>
              <a:t>(تابع)</a:t>
            </a:r>
            <a:endParaRPr lang="ar-SA" sz="1500" dirty="0"/>
          </a:p>
        </p:txBody>
      </p:sp>
      <p:sp>
        <p:nvSpPr>
          <p:cNvPr id="4" name="Shape 2"/>
          <p:cNvSpPr/>
          <p:nvPr/>
        </p:nvSpPr>
        <p:spPr>
          <a:xfrm>
            <a:off x="6379312" y="1783080"/>
            <a:ext cx="5120640" cy="2331720"/>
          </a:xfrm>
          <a:prstGeom prst="roundRect">
            <a:avLst>
              <a:gd name="adj" fmla="val 4706"/>
            </a:avLst>
          </a:prstGeom>
          <a:solidFill>
            <a:srgbClr val="EAF4F2"/>
          </a:solidFill>
          <a:ln w="12700">
            <a:solidFill>
              <a:srgbClr val="EAF4F2"/>
            </a:solidFill>
            <a:prstDash val="solid"/>
          </a:ln>
          <a:effectLst>
            <a:outerShdw sx="100000" sy="100000" kx="0" ky="0" algn="bl" rotWithShape="0" blurRad="101600" dist="25400" dir="5400000">
              <a:srgbClr val="0B3B3C">
                <a:alpha val="10000"/>
              </a:srgbClr>
            </a:outerShdw>
          </a:effectLst>
        </p:spPr>
      </p:sp>
      <p:sp>
        <p:nvSpPr>
          <p:cNvPr id="5" name="Shape 3"/>
          <p:cNvSpPr/>
          <p:nvPr/>
        </p:nvSpPr>
        <p:spPr>
          <a:xfrm>
            <a:off x="10859872" y="2121408"/>
            <a:ext cx="256032" cy="256032"/>
          </a:xfrm>
          <a:prstGeom prst="ellipse">
            <a:avLst/>
          </a:prstGeom>
          <a:solidFill>
            <a:srgbClr val="137A7F"/>
          </a:solidFill>
          <a:ln w="12700">
            <a:solidFill>
              <a:srgbClr val="137A7F"/>
            </a:solidFill>
            <a:prstDash val="solid"/>
          </a:ln>
        </p:spPr>
      </p:sp>
      <p:sp>
        <p:nvSpPr>
          <p:cNvPr id="6" name="Text 4"/>
          <p:cNvSpPr/>
          <p:nvPr/>
        </p:nvSpPr>
        <p:spPr>
          <a:xfrm>
            <a:off x="6763360" y="2011680"/>
            <a:ext cx="3931920" cy="475488"/>
          </a:xfrm>
          <a:prstGeom prst="rect">
            <a:avLst/>
          </a:prstGeom>
          <a:noFill/>
          <a:ln/>
        </p:spPr>
        <p:txBody>
          <a:bodyPr wrap="square" lIns="0" tIns="0" rIns="0" bIns="0" rtlCol="0" anchor="ctr"/>
          <a:lstStyle/>
          <a:p>
            <a:pPr rtl="1" algn="r" indent="0" marL="0">
              <a:buNone/>
            </a:pPr>
            <a:r>
              <a:rPr lang="ar-SA" altLang="en-US" sz="2200" b="1" dirty="0">
                <a:solidFill>
                  <a:srgbClr val="0B3B3C"/>
                </a:solidFill>
                <a:latin typeface="Arial" pitchFamily="34" charset="0"/>
                <a:ea typeface="Arial" pitchFamily="34" charset="-122"/>
                <a:cs typeface="Arial" pitchFamily="34" charset="-120"/>
              </a:rPr>
              <a:t>الأهداف المعلنة</a:t>
            </a:r>
            <a:endParaRPr lang="ar-SA" sz="2200" dirty="0"/>
          </a:p>
        </p:txBody>
      </p:sp>
      <p:sp>
        <p:nvSpPr>
          <p:cNvPr id="7" name="Text 5"/>
          <p:cNvSpPr/>
          <p:nvPr/>
        </p:nvSpPr>
        <p:spPr>
          <a:xfrm>
            <a:off x="6763360" y="2761488"/>
            <a:ext cx="3931920" cy="1280160"/>
          </a:xfrm>
          <a:prstGeom prst="rect">
            <a:avLst/>
          </a:prstGeom>
          <a:noFill/>
          <a:ln/>
        </p:spPr>
        <p:txBody>
          <a:bodyPr wrap="square" lIns="0" tIns="0" rIns="0" bIns="0" rtlCol="0" anchor="t"/>
          <a:lstStyle/>
          <a:p>
            <a:pPr rtl="1" algn="r" marL="342900" indent="-342900">
              <a:spcAft>
                <a:spcPts val="1400"/>
              </a:spcAft>
              <a:buSzPct val="100000"/>
              <a:buChar char="▪"/>
            </a:pPr>
            <a:r>
              <a:rPr lang="ar-SA" altLang="en-US" sz="1600" dirty="0">
                <a:solidFill>
                  <a:srgbClr val="24403F"/>
                </a:solidFill>
                <a:latin typeface="Arial" pitchFamily="34" charset="0"/>
                <a:ea typeface="Arial" pitchFamily="34" charset="-122"/>
                <a:cs typeface="Arial" pitchFamily="34" charset="-120"/>
              </a:rPr>
              <a:t>وضع مسار لتعلّم القرآن الكريم</a:t>
            </a:r>
            <a:endParaRPr lang="ar-SA" altLang="en-US" sz="1600" dirty="0"/>
          </a:p>
          <a:p>
            <a:pPr rtl="1" algn="r" marL="342900" indent="-342900">
              <a:spcAft>
                <a:spcPts val="1400"/>
              </a:spcAft>
              <a:buSzPct val="100000"/>
              <a:buChar char="▪"/>
            </a:pPr>
            <a:r>
              <a:rPr lang="ar-SA" altLang="en-US" sz="1600" dirty="0">
                <a:solidFill>
                  <a:srgbClr val="24403F"/>
                </a:solidFill>
                <a:latin typeface="Arial" pitchFamily="34" charset="0"/>
                <a:ea typeface="Arial" pitchFamily="34" charset="-122"/>
                <a:cs typeface="Arial" pitchFamily="34" charset="-120"/>
              </a:rPr>
              <a:t>حفظ ربع القرآن في 6 سنوات (من «سبّح» إلى «يس»)</a:t>
            </a:r>
            <a:endParaRPr lang="ar-SA" altLang="en-US" sz="1600" dirty="0"/>
          </a:p>
        </p:txBody>
      </p:sp>
      <p:sp>
        <p:nvSpPr>
          <p:cNvPr id="8" name="Shape 6"/>
          <p:cNvSpPr/>
          <p:nvPr/>
        </p:nvSpPr>
        <p:spPr>
          <a:xfrm>
            <a:off x="691744" y="1783080"/>
            <a:ext cx="5120640" cy="2331720"/>
          </a:xfrm>
          <a:prstGeom prst="roundRect">
            <a:avLst>
              <a:gd name="adj" fmla="val 4706"/>
            </a:avLst>
          </a:prstGeom>
          <a:solidFill>
            <a:srgbClr val="EAF4F2"/>
          </a:solidFill>
          <a:ln w="12700">
            <a:solidFill>
              <a:srgbClr val="EAF4F2"/>
            </a:solidFill>
            <a:prstDash val="solid"/>
          </a:ln>
          <a:effectLst>
            <a:outerShdw sx="100000" sy="100000" kx="0" ky="0" algn="bl" rotWithShape="0" blurRad="101600" dist="25400" dir="5400000">
              <a:srgbClr val="0B3B3C">
                <a:alpha val="10000"/>
              </a:srgbClr>
            </a:outerShdw>
          </a:effectLst>
        </p:spPr>
      </p:sp>
      <p:sp>
        <p:nvSpPr>
          <p:cNvPr id="9" name="Shape 7"/>
          <p:cNvSpPr/>
          <p:nvPr/>
        </p:nvSpPr>
        <p:spPr>
          <a:xfrm>
            <a:off x="5172304" y="2121408"/>
            <a:ext cx="256032" cy="256032"/>
          </a:xfrm>
          <a:prstGeom prst="ellipse">
            <a:avLst/>
          </a:prstGeom>
          <a:solidFill>
            <a:srgbClr val="D9982B"/>
          </a:solidFill>
          <a:ln w="12700">
            <a:solidFill>
              <a:srgbClr val="D9982B"/>
            </a:solidFill>
            <a:prstDash val="solid"/>
          </a:ln>
        </p:spPr>
      </p:sp>
      <p:sp>
        <p:nvSpPr>
          <p:cNvPr id="10" name="Text 8"/>
          <p:cNvSpPr/>
          <p:nvPr/>
        </p:nvSpPr>
        <p:spPr>
          <a:xfrm>
            <a:off x="1075792" y="2011680"/>
            <a:ext cx="3931920" cy="475488"/>
          </a:xfrm>
          <a:prstGeom prst="rect">
            <a:avLst/>
          </a:prstGeom>
          <a:noFill/>
          <a:ln/>
        </p:spPr>
        <p:txBody>
          <a:bodyPr wrap="square" lIns="0" tIns="0" rIns="0" bIns="0" rtlCol="0" anchor="ctr"/>
          <a:lstStyle/>
          <a:p>
            <a:pPr rtl="1" algn="r" indent="0" marL="0">
              <a:buNone/>
            </a:pPr>
            <a:r>
              <a:rPr lang="ar-SA" altLang="en-US" sz="2200" b="1" dirty="0">
                <a:solidFill>
                  <a:srgbClr val="0B3B3C"/>
                </a:solidFill>
                <a:latin typeface="Arial" pitchFamily="34" charset="0"/>
                <a:ea typeface="Arial" pitchFamily="34" charset="-122"/>
                <a:cs typeface="Arial" pitchFamily="34" charset="-120"/>
              </a:rPr>
              <a:t>الوسائل</a:t>
            </a:r>
            <a:endParaRPr lang="ar-SA" sz="2200" dirty="0"/>
          </a:p>
        </p:txBody>
      </p:sp>
      <p:sp>
        <p:nvSpPr>
          <p:cNvPr id="11" name="Text 9"/>
          <p:cNvSpPr/>
          <p:nvPr/>
        </p:nvSpPr>
        <p:spPr>
          <a:xfrm>
            <a:off x="1075792" y="2761488"/>
            <a:ext cx="3931920" cy="1280160"/>
          </a:xfrm>
          <a:prstGeom prst="rect">
            <a:avLst/>
          </a:prstGeom>
          <a:noFill/>
          <a:ln/>
        </p:spPr>
        <p:txBody>
          <a:bodyPr wrap="square" lIns="0" tIns="0" rIns="0" bIns="0" rtlCol="0" anchor="t"/>
          <a:lstStyle/>
          <a:p>
            <a:pPr rtl="1" algn="r" marL="342900" indent="-342900">
              <a:spcAft>
                <a:spcPts val="1400"/>
              </a:spcAft>
              <a:buSzPct val="100000"/>
              <a:buChar char="▪"/>
            </a:pPr>
            <a:r>
              <a:rPr lang="ar-SA" altLang="en-US" sz="1600" dirty="0">
                <a:solidFill>
                  <a:srgbClr val="24403F"/>
                </a:solidFill>
                <a:latin typeface="Arial" pitchFamily="34" charset="0"/>
                <a:ea typeface="Arial" pitchFamily="34" charset="-122"/>
                <a:cs typeface="Arial" pitchFamily="34" charset="-120"/>
              </a:rPr>
              <a:t>وسائل الدرس (المصحف، النسخ، الملف الشفاف)</a:t>
            </a:r>
            <a:endParaRPr lang="ar-SA" altLang="en-US" sz="1600" dirty="0"/>
          </a:p>
          <a:p>
            <a:pPr rtl="1" algn="r" marL="342900" indent="-342900">
              <a:spcAft>
                <a:spcPts val="1400"/>
              </a:spcAft>
              <a:buSzPct val="100000"/>
              <a:buChar char="▪"/>
            </a:pPr>
            <a:r>
              <a:rPr lang="ar-SA" altLang="en-US" sz="1600" dirty="0">
                <a:solidFill>
                  <a:srgbClr val="24403F"/>
                </a:solidFill>
                <a:latin typeface="Arial" pitchFamily="34" charset="0"/>
                <a:ea typeface="Arial" pitchFamily="34" charset="-122"/>
                <a:cs typeface="Arial" pitchFamily="34" charset="-120"/>
              </a:rPr>
              <a:t>نظام البطاقات</a:t>
            </a:r>
            <a:endParaRPr lang="ar-SA" altLang="en-US" sz="1600" dirty="0"/>
          </a:p>
        </p:txBody>
      </p:sp>
      <p:sp>
        <p:nvSpPr>
          <p:cNvPr id="12" name="Text 10"/>
          <p:cNvSpPr/>
          <p:nvPr/>
        </p:nvSpPr>
        <p:spPr>
          <a:xfrm>
            <a:off x="566928" y="6382512"/>
            <a:ext cx="7772400" cy="274320"/>
          </a:xfrm>
          <a:prstGeom prst="rect">
            <a:avLst/>
          </a:prstGeom>
          <a:noFill/>
          <a:ln/>
        </p:spPr>
        <p:txBody>
          <a:bodyPr wrap="square" lIns="0" tIns="0" rIns="0" bIns="0" rtlCol="0" anchor="ctr"/>
          <a:lstStyle/>
          <a:p>
            <a:pPr rtl="1" algn="r" indent="0" marL="0">
              <a:buNone/>
            </a:pPr>
            <a:r>
              <a:rPr lang="ar-SA" altLang="en-US" sz="1000" dirty="0">
                <a:solidFill>
                  <a:srgbClr val="5F7574"/>
                </a:solidFill>
                <a:latin typeface="Arial" pitchFamily="34" charset="0"/>
                <a:ea typeface="Arial" pitchFamily="34" charset="-122"/>
                <a:cs typeface="Arial" pitchFamily="34" charset="-120"/>
              </a:rPr>
              <a:t>عمل حرّ — غير قابل للاستغلال التجاري — bitaqat-hifd-quran.com</a:t>
            </a:r>
            <a:endParaRPr lang="ar-SA" sz="1000" dirty="0"/>
          </a:p>
        </p:txBody>
      </p:sp>
      <p:sp>
        <p:nvSpPr>
          <p:cNvPr id="13" name="Text 11"/>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Arial" pitchFamily="34" charset="0"/>
                <a:ea typeface="Arial" pitchFamily="34" charset="-122"/>
                <a:cs typeface="Arial" pitchFamily="34" charset="-120"/>
              </a:rPr>
              <a:t>3</a:t>
            </a:r>
            <a:endParaRPr lang="ar-SA" alt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rtl="1" algn="r" indent="0" marL="0">
              <a:buNone/>
            </a:pPr>
            <a:r>
              <a:rPr lang="ar-SA" altLang="en-US" sz="3200" b="1" dirty="0">
                <a:solidFill>
                  <a:srgbClr val="0B3B3C"/>
                </a:solidFill>
                <a:latin typeface="Arial" pitchFamily="34" charset="0"/>
                <a:ea typeface="Arial" pitchFamily="34" charset="-122"/>
                <a:cs typeface="Arial" pitchFamily="34" charset="-120"/>
              </a:rPr>
              <a:t>بطاقة التسميع</a:t>
            </a:r>
            <a:endParaRPr lang="ar-SA" sz="3200" dirty="0"/>
          </a:p>
        </p:txBody>
      </p:sp>
      <p:sp>
        <p:nvSpPr>
          <p:cNvPr id="3" name="Text 1"/>
          <p:cNvSpPr/>
          <p:nvPr/>
        </p:nvSpPr>
        <p:spPr>
          <a:xfrm>
            <a:off x="566928" y="914400"/>
            <a:ext cx="11045952" cy="329184"/>
          </a:xfrm>
          <a:prstGeom prst="rect">
            <a:avLst/>
          </a:prstGeom>
          <a:noFill/>
          <a:ln/>
        </p:spPr>
        <p:txBody>
          <a:bodyPr wrap="square" lIns="0" tIns="0" rIns="0" bIns="0" rtlCol="0" anchor="ctr"/>
          <a:lstStyle/>
          <a:p>
            <a:pPr rtl="1" algn="r" indent="0" marL="0">
              <a:buNone/>
            </a:pPr>
            <a:r>
              <a:rPr lang="ar-SA" altLang="en-US" sz="1500" dirty="0">
                <a:solidFill>
                  <a:srgbClr val="137A7F"/>
                </a:solidFill>
                <a:latin typeface="Arial" pitchFamily="34" charset="0"/>
                <a:ea typeface="Arial" pitchFamily="34" charset="-122"/>
                <a:cs typeface="Arial" pitchFamily="34" charset="-120"/>
              </a:rPr>
              <a:t>المبدأ وطريقة العمل</a:t>
            </a:r>
            <a:endParaRPr lang="ar-SA" sz="1500" dirty="0"/>
          </a:p>
        </p:txBody>
      </p:sp>
      <p:sp>
        <p:nvSpPr>
          <p:cNvPr id="4" name="Shape 2"/>
          <p:cNvSpPr/>
          <p:nvPr/>
        </p:nvSpPr>
        <p:spPr>
          <a:xfrm>
            <a:off x="566928" y="1627632"/>
            <a:ext cx="6263640" cy="3639312"/>
          </a:xfrm>
          <a:prstGeom prst="roundRect">
            <a:avLst>
              <a:gd name="adj" fmla="val 3015"/>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5" name="Text 3"/>
          <p:cNvSpPr/>
          <p:nvPr/>
        </p:nvSpPr>
        <p:spPr>
          <a:xfrm>
            <a:off x="932688" y="1938528"/>
            <a:ext cx="5532120" cy="3108960"/>
          </a:xfrm>
          <a:prstGeom prst="rect">
            <a:avLst/>
          </a:prstGeom>
          <a:noFill/>
          <a:ln/>
        </p:spPr>
        <p:txBody>
          <a:bodyPr wrap="square" lIns="0" tIns="0" rIns="0" bIns="0" rtlCol="0" anchor="t"/>
          <a:lstStyle/>
          <a:p>
            <a:pPr rtl="1" algn="r" marL="342900" indent="-342900">
              <a:spcAft>
                <a:spcPts val="700"/>
              </a:spcAft>
              <a:buSzPct val="100000"/>
              <a:buChar char="●"/>
            </a:pPr>
            <a:r>
              <a:rPr lang="ar-SA" altLang="en-US" sz="1500" b="1" dirty="0">
                <a:solidFill>
                  <a:srgbClr val="0B3B3C"/>
                </a:solidFill>
                <a:latin typeface="Arial" pitchFamily="34" charset="0"/>
                <a:ea typeface="Arial" pitchFamily="34" charset="-122"/>
                <a:cs typeface="Arial" pitchFamily="34" charset="-120"/>
              </a:rPr>
              <a:t>بطاقة فردية يحتفظ بها التلميذ</a:t>
            </a:r>
            <a:endParaRPr lang="ar-SA" altLang="en-US" sz="1500" dirty="0"/>
          </a:p>
          <a:p>
            <a:pPr rtl="1" algn="r" lvl="1" marL="685800" indent="-342900">
              <a:spcAft>
                <a:spcPts val="300"/>
              </a:spcAft>
              <a:buSzPct val="100000"/>
              <a:buChar char="▪"/>
            </a:pPr>
            <a:r>
              <a:rPr lang="ar-SA" altLang="en-US" sz="1300" dirty="0">
                <a:solidFill>
                  <a:srgbClr val="24403F"/>
                </a:solidFill>
                <a:latin typeface="Arial" pitchFamily="34" charset="0"/>
                <a:ea typeface="Arial" pitchFamily="34" charset="-122"/>
                <a:cs typeface="Arial" pitchFamily="34" charset="-120"/>
              </a:rPr>
              <a:t>معلومات التلميذ وقواعد الاستعمال</a:t>
            </a:r>
            <a:endParaRPr lang="ar-SA" altLang="en-US" sz="1500" dirty="0"/>
          </a:p>
          <a:p>
            <a:pPr rtl="1" algn="r" lvl="1" marL="685800" indent="-342900">
              <a:spcAft>
                <a:spcPts val="300"/>
              </a:spcAft>
              <a:buSzPct val="100000"/>
              <a:buChar char="▪"/>
            </a:pPr>
            <a:r>
              <a:rPr lang="ar-SA" altLang="en-US" sz="1300" dirty="0">
                <a:solidFill>
                  <a:srgbClr val="24403F"/>
                </a:solidFill>
                <a:latin typeface="Arial" pitchFamily="34" charset="0"/>
                <a:ea typeface="Arial" pitchFamily="34" charset="-122"/>
                <a:cs typeface="Arial" pitchFamily="34" charset="-120"/>
              </a:rPr>
              <a:t>برنامج حفظ بأهداف سنوية ومتوسطة وقصيرة المدى</a:t>
            </a:r>
            <a:endParaRPr lang="ar-SA" altLang="en-US" sz="1500" dirty="0"/>
          </a:p>
          <a:p>
            <a:pPr rtl="1" algn="r" marL="342900" indent="-342900">
              <a:spcBef>
                <a:spcPts val="500"/>
              </a:spcBef>
              <a:spcAft>
                <a:spcPts val="700"/>
              </a:spcAft>
              <a:buSzPct val="100000"/>
              <a:buChar char="●"/>
            </a:pPr>
            <a:r>
              <a:rPr lang="ar-SA" altLang="en-US" sz="1500" b="1" dirty="0">
                <a:solidFill>
                  <a:srgbClr val="0B3B3C"/>
                </a:solidFill>
                <a:latin typeface="Arial" pitchFamily="34" charset="0"/>
                <a:ea typeface="Arial" pitchFamily="34" charset="-122"/>
                <a:cs typeface="Arial" pitchFamily="34" charset="-120"/>
              </a:rPr>
              <a:t>متابعة التقدّم</a:t>
            </a:r>
            <a:endParaRPr lang="ar-SA" altLang="en-US" sz="1500" dirty="0"/>
          </a:p>
          <a:p>
            <a:pPr rtl="1" algn="r" lvl="1" marL="685800" indent="-342900">
              <a:spcAft>
                <a:spcPts val="300"/>
              </a:spcAft>
              <a:buSzPct val="100000"/>
              <a:buChar char="▪"/>
            </a:pPr>
            <a:r>
              <a:rPr lang="ar-SA" altLang="en-US" sz="1300" dirty="0">
                <a:solidFill>
                  <a:srgbClr val="24403F"/>
                </a:solidFill>
                <a:latin typeface="Arial" pitchFamily="34" charset="0"/>
                <a:ea typeface="Arial" pitchFamily="34" charset="-122"/>
                <a:cs typeface="Arial" pitchFamily="34" charset="-120"/>
              </a:rPr>
              <a:t>مصادقة ومتابعة الأستاذ</a:t>
            </a:r>
            <a:endParaRPr lang="ar-SA" altLang="en-US" sz="1500" dirty="0"/>
          </a:p>
          <a:p>
            <a:pPr rtl="1" algn="r" lvl="1" marL="685800" indent="-342900">
              <a:spcAft>
                <a:spcPts val="300"/>
              </a:spcAft>
              <a:buSzPct val="100000"/>
              <a:buChar char="▪"/>
            </a:pPr>
            <a:r>
              <a:rPr lang="ar-SA" altLang="en-US" sz="1300" dirty="0">
                <a:solidFill>
                  <a:srgbClr val="24403F"/>
                </a:solidFill>
                <a:latin typeface="Arial" pitchFamily="34" charset="0"/>
                <a:ea typeface="Arial" pitchFamily="34" charset="-122"/>
                <a:cs typeface="Arial" pitchFamily="34" charset="-120"/>
              </a:rPr>
              <a:t>متابعة الأولياء</a:t>
            </a:r>
            <a:endParaRPr lang="ar-SA" altLang="en-US" sz="1500" dirty="0"/>
          </a:p>
          <a:p>
            <a:pPr rtl="1" algn="r" marL="342900" indent="-342900">
              <a:spcBef>
                <a:spcPts val="500"/>
              </a:spcBef>
              <a:spcAft>
                <a:spcPts val="700"/>
              </a:spcAft>
              <a:buSzPct val="100000"/>
              <a:buChar char="●"/>
            </a:pPr>
            <a:r>
              <a:rPr lang="ar-SA" altLang="en-US" sz="1500" b="1" dirty="0">
                <a:solidFill>
                  <a:srgbClr val="0B3B3C"/>
                </a:solidFill>
                <a:latin typeface="Arial" pitchFamily="34" charset="0"/>
                <a:ea typeface="Arial" pitchFamily="34" charset="-122"/>
                <a:cs typeface="Arial" pitchFamily="34" charset="-120"/>
              </a:rPr>
              <a:t>الترقيم ورمز الألوان</a:t>
            </a:r>
            <a:endParaRPr lang="ar-SA" altLang="en-US" sz="1500" dirty="0"/>
          </a:p>
          <a:p>
            <a:pPr rtl="1" algn="r" marL="342900" indent="-342900">
              <a:spcBef>
                <a:spcPts val="500"/>
              </a:spcBef>
              <a:spcAft>
                <a:spcPts val="700"/>
              </a:spcAft>
              <a:buSzPct val="100000"/>
              <a:buChar char="●"/>
            </a:pPr>
            <a:r>
              <a:rPr lang="ar-SA" altLang="en-US" sz="1500" b="1" dirty="0">
                <a:solidFill>
                  <a:srgbClr val="0B3B3C"/>
                </a:solidFill>
                <a:latin typeface="Arial" pitchFamily="34" charset="0"/>
                <a:ea typeface="Arial" pitchFamily="34" charset="-122"/>
                <a:cs typeface="Arial" pitchFamily="34" charset="-120"/>
              </a:rPr>
              <a:t>نسخة لدى الأستاذ</a:t>
            </a:r>
            <a:endParaRPr lang="ar-SA" altLang="en-US" sz="1500" dirty="0"/>
          </a:p>
        </p:txBody>
      </p:sp>
      <p:pic>
        <p:nvPicPr>
          <p:cNvPr id="6" name="Image 0" descr="img/image8.png">    </p:cNvPr>
          <p:cNvPicPr>
            <a:picLocks noChangeAspect="1"/>
          </p:cNvPicPr>
          <p:nvPr/>
        </p:nvPicPr>
        <p:blipFill>
          <a:blip r:embed="rId1"/>
          <a:stretch>
            <a:fillRect/>
          </a:stretch>
        </p:blipFill>
        <p:spPr>
          <a:xfrm>
            <a:off x="7269480" y="1783080"/>
            <a:ext cx="4343400" cy="3072384"/>
          </a:xfrm>
          <a:prstGeom prst="rect">
            <a:avLst/>
          </a:prstGeom>
          <a:effectLst>
            <a:outerShdw sx="100000" sy="100000" kx="0" ky="0" algn="bl" rotWithShape="0" blurRad="177800" dist="50800" dir="5400000">
              <a:srgbClr val="0B3B3C">
                <a:alpha val="22000"/>
              </a:srgbClr>
            </a:outerShdw>
          </a:effectLst>
        </p:spPr>
      </p:pic>
      <p:sp>
        <p:nvSpPr>
          <p:cNvPr id="7" name="Text 4"/>
          <p:cNvSpPr/>
          <p:nvPr/>
        </p:nvSpPr>
        <p:spPr>
          <a:xfrm>
            <a:off x="7269480" y="4956048"/>
            <a:ext cx="4343400" cy="274320"/>
          </a:xfrm>
          <a:prstGeom prst="rect">
            <a:avLst/>
          </a:prstGeom>
          <a:noFill/>
          <a:ln/>
        </p:spPr>
        <p:txBody>
          <a:bodyPr wrap="square" lIns="0" tIns="0" rIns="0" bIns="0" rtlCol="0" anchor="ctr"/>
          <a:lstStyle/>
          <a:p>
            <a:pPr rtl="1" algn="ctr" indent="0" marL="0">
              <a:buNone/>
            </a:pPr>
            <a:r>
              <a:rPr lang="ar-SA" altLang="en-US" sz="1100" i="1" dirty="0">
                <a:solidFill>
                  <a:srgbClr val="5F7574"/>
                </a:solidFill>
                <a:latin typeface="Arial" pitchFamily="34" charset="0"/>
                <a:ea typeface="Arial" pitchFamily="34" charset="-122"/>
                <a:cs typeface="Arial" pitchFamily="34" charset="-120"/>
              </a:rPr>
              <a:t>البطاقة رقم 3 — الوجه</a:t>
            </a:r>
            <a:endParaRPr lang="ar-SA" sz="1100" dirty="0"/>
          </a:p>
        </p:txBody>
      </p:sp>
      <p:sp>
        <p:nvSpPr>
          <p:cNvPr id="9" name="Text 5"/>
          <p:cNvSpPr/>
          <p:nvPr/>
        </p:nvSpPr>
        <p:spPr>
          <a:xfrm>
            <a:off x="566928" y="6382512"/>
            <a:ext cx="7772400" cy="274320"/>
          </a:xfrm>
          <a:prstGeom prst="rect">
            <a:avLst/>
          </a:prstGeom>
          <a:noFill/>
          <a:ln/>
        </p:spPr>
        <p:txBody>
          <a:bodyPr wrap="square" lIns="0" tIns="0" rIns="0" bIns="0" rtlCol="0" anchor="ctr"/>
          <a:lstStyle/>
          <a:p>
            <a:pPr rtl="1" algn="r" indent="0" marL="0">
              <a:buNone/>
            </a:pPr>
            <a:r>
              <a:rPr lang="ar-SA" altLang="en-US" sz="1000" dirty="0">
                <a:solidFill>
                  <a:srgbClr val="5F7574"/>
                </a:solidFill>
                <a:latin typeface="Arial" pitchFamily="34" charset="0"/>
                <a:ea typeface="Arial" pitchFamily="34" charset="-122"/>
                <a:cs typeface="Arial" pitchFamily="34" charset="-120"/>
              </a:rPr>
              <a:t>عمل حرّ — غير قابل للاستغلال التجاري — bitaqat-hifd-quran.com</a:t>
            </a:r>
            <a:endParaRPr lang="ar-SA" sz="1000" dirty="0"/>
          </a:p>
        </p:txBody>
      </p:sp>
      <p:sp>
        <p:nvSpPr>
          <p:cNvPr id="10" name="Text 6"/>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Arial" pitchFamily="34" charset="0"/>
                <a:ea typeface="Arial" pitchFamily="34" charset="-122"/>
                <a:cs typeface="Arial" pitchFamily="34" charset="-120"/>
              </a:rPr>
              <a:t>4</a:t>
            </a:r>
            <a:endParaRPr lang="ar-SA" alt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rtl="1" algn="r" indent="0" marL="0">
              <a:buNone/>
            </a:pPr>
            <a:r>
              <a:rPr lang="ar-SA" altLang="en-US" sz="3200" b="1" dirty="0">
                <a:solidFill>
                  <a:srgbClr val="0B3B3C"/>
                </a:solidFill>
                <a:latin typeface="Arial" pitchFamily="34" charset="0"/>
                <a:ea typeface="Arial" pitchFamily="34" charset="-122"/>
                <a:cs typeface="Arial" pitchFamily="34" charset="-120"/>
              </a:rPr>
              <a:t>بطاقة التسميع</a:t>
            </a:r>
            <a:endParaRPr lang="ar-SA" sz="3200" dirty="0"/>
          </a:p>
        </p:txBody>
      </p:sp>
      <p:sp>
        <p:nvSpPr>
          <p:cNvPr id="3" name="Text 1"/>
          <p:cNvSpPr/>
          <p:nvPr/>
        </p:nvSpPr>
        <p:spPr>
          <a:xfrm>
            <a:off x="566928" y="914400"/>
            <a:ext cx="11045952" cy="329184"/>
          </a:xfrm>
          <a:prstGeom prst="rect">
            <a:avLst/>
          </a:prstGeom>
          <a:noFill/>
          <a:ln/>
        </p:spPr>
        <p:txBody>
          <a:bodyPr wrap="square" lIns="0" tIns="0" rIns="0" bIns="0" rtlCol="0" anchor="ctr"/>
          <a:lstStyle/>
          <a:p>
            <a:pPr rtl="1" algn="r" indent="0" marL="0">
              <a:buNone/>
            </a:pPr>
            <a:r>
              <a:rPr lang="ar-SA" altLang="en-US" sz="1500" dirty="0">
                <a:solidFill>
                  <a:srgbClr val="137A7F"/>
                </a:solidFill>
                <a:latin typeface="Arial" pitchFamily="34" charset="0"/>
                <a:ea typeface="Arial" pitchFamily="34" charset="-122"/>
                <a:cs typeface="Arial" pitchFamily="34" charset="-120"/>
              </a:rPr>
              <a:t>المبدأ وطريقة العمل</a:t>
            </a:r>
            <a:endParaRPr lang="ar-SA" sz="1500" dirty="0"/>
          </a:p>
        </p:txBody>
      </p:sp>
      <p:pic>
        <p:nvPicPr>
          <p:cNvPr id="4" name="Image 0" descr="img/image6.png">    </p:cNvPr>
          <p:cNvPicPr>
            <a:picLocks noChangeAspect="1"/>
          </p:cNvPicPr>
          <p:nvPr/>
        </p:nvPicPr>
        <p:blipFill>
          <a:blip r:embed="rId1"/>
          <a:stretch>
            <a:fillRect/>
          </a:stretch>
        </p:blipFill>
        <p:spPr>
          <a:xfrm>
            <a:off x="7984084" y="1627632"/>
            <a:ext cx="3154680" cy="2231136"/>
          </a:xfrm>
          <a:prstGeom prst="rect">
            <a:avLst/>
          </a:prstGeom>
          <a:effectLst>
            <a:outerShdw sx="100000" sy="100000" kx="0" ky="0" algn="bl" rotWithShape="0" blurRad="127000" dist="38100" dir="5400000">
              <a:srgbClr val="0B3B3C">
                <a:alpha val="18000"/>
              </a:srgbClr>
            </a:outerShdw>
          </a:effectLst>
        </p:spPr>
      </p:pic>
      <p:sp>
        <p:nvSpPr>
          <p:cNvPr id="5" name="Shape 2"/>
          <p:cNvSpPr/>
          <p:nvPr/>
        </p:nvSpPr>
        <p:spPr>
          <a:xfrm>
            <a:off x="10809580" y="1499616"/>
            <a:ext cx="457200" cy="457200"/>
          </a:xfrm>
          <a:prstGeom prst="ellipse">
            <a:avLst/>
          </a:prstGeom>
          <a:solidFill>
            <a:srgbClr val="3F4A4A"/>
          </a:solidFill>
          <a:ln w="12700">
            <a:solidFill>
              <a:srgbClr val="3F4A4A"/>
            </a:solidFill>
            <a:prstDash val="solid"/>
          </a:ln>
        </p:spPr>
      </p:sp>
      <p:sp>
        <p:nvSpPr>
          <p:cNvPr id="6" name="Text 3"/>
          <p:cNvSpPr/>
          <p:nvPr/>
        </p:nvSpPr>
        <p:spPr>
          <a:xfrm>
            <a:off x="10809580" y="14996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ar-SA" altLang="en-US" sz="1300" dirty="0"/>
          </a:p>
        </p:txBody>
      </p:sp>
      <p:pic>
        <p:nvPicPr>
          <p:cNvPr id="7" name="Image 1" descr="img/image7.png">    </p:cNvPr>
          <p:cNvPicPr>
            <a:picLocks noChangeAspect="1"/>
          </p:cNvPicPr>
          <p:nvPr/>
        </p:nvPicPr>
        <p:blipFill>
          <a:blip r:embed="rId2"/>
          <a:stretch>
            <a:fillRect/>
          </a:stretch>
        </p:blipFill>
        <p:spPr>
          <a:xfrm>
            <a:off x="4518508" y="1627632"/>
            <a:ext cx="3154680" cy="2231136"/>
          </a:xfrm>
          <a:prstGeom prst="rect">
            <a:avLst/>
          </a:prstGeom>
          <a:effectLst>
            <a:outerShdw sx="100000" sy="100000" kx="0" ky="0" algn="bl" rotWithShape="0" blurRad="127000" dist="38100" dir="5400000">
              <a:srgbClr val="0B3B3C">
                <a:alpha val="18000"/>
              </a:srgbClr>
            </a:outerShdw>
          </a:effectLst>
        </p:spPr>
      </p:pic>
      <p:sp>
        <p:nvSpPr>
          <p:cNvPr id="8" name="Shape 4"/>
          <p:cNvSpPr/>
          <p:nvPr/>
        </p:nvSpPr>
        <p:spPr>
          <a:xfrm>
            <a:off x="7344004" y="1499616"/>
            <a:ext cx="457200" cy="457200"/>
          </a:xfrm>
          <a:prstGeom prst="ellipse">
            <a:avLst/>
          </a:prstGeom>
          <a:solidFill>
            <a:srgbClr val="E8B62C"/>
          </a:solidFill>
          <a:ln w="12700">
            <a:solidFill>
              <a:srgbClr val="E8B62C"/>
            </a:solidFill>
            <a:prstDash val="solid"/>
          </a:ln>
        </p:spPr>
      </p:sp>
      <p:sp>
        <p:nvSpPr>
          <p:cNvPr id="9" name="Text 5"/>
          <p:cNvSpPr/>
          <p:nvPr/>
        </p:nvSpPr>
        <p:spPr>
          <a:xfrm>
            <a:off x="7344004" y="1499616"/>
            <a:ext cx="457200" cy="457200"/>
          </a:xfrm>
          <a:prstGeom prst="rect">
            <a:avLst/>
          </a:prstGeom>
          <a:noFill/>
          <a:ln/>
        </p:spPr>
        <p:txBody>
          <a:bodyPr wrap="square" lIns="0" tIns="0" rIns="0" bIns="0" rtlCol="0" anchor="ctr"/>
          <a:lstStyle/>
          <a:p>
            <a:pPr algn="ctr" indent="0" marL="0">
              <a:buNone/>
            </a:pPr>
            <a:r>
              <a:rPr lang="en-US" sz="1300" b="1" dirty="0">
                <a:solidFill>
                  <a:srgbClr val="0B3B3C"/>
                </a:solidFill>
                <a:latin typeface="Arial" pitchFamily="34" charset="0"/>
                <a:ea typeface="Arial" pitchFamily="34" charset="-122"/>
                <a:cs typeface="Arial" pitchFamily="34" charset="-120"/>
              </a:rPr>
              <a:t>2</a:t>
            </a:r>
            <a:endParaRPr lang="ar-SA" altLang="en-US" sz="1300" dirty="0"/>
          </a:p>
        </p:txBody>
      </p:sp>
      <p:pic>
        <p:nvPicPr>
          <p:cNvPr id="10" name="Image 2" descr="img/image8.png">    </p:cNvPr>
          <p:cNvPicPr>
            <a:picLocks noChangeAspect="1"/>
          </p:cNvPicPr>
          <p:nvPr/>
        </p:nvPicPr>
        <p:blipFill>
          <a:blip r:embed="rId3"/>
          <a:stretch>
            <a:fillRect/>
          </a:stretch>
        </p:blipFill>
        <p:spPr>
          <a:xfrm>
            <a:off x="1052932" y="1627632"/>
            <a:ext cx="3154680" cy="2231136"/>
          </a:xfrm>
          <a:prstGeom prst="rect">
            <a:avLst/>
          </a:prstGeom>
          <a:effectLst>
            <a:outerShdw sx="100000" sy="100000" kx="0" ky="0" algn="bl" rotWithShape="0" blurRad="127000" dist="38100" dir="5400000">
              <a:srgbClr val="0B3B3C">
                <a:alpha val="18000"/>
              </a:srgbClr>
            </a:outerShdw>
          </a:effectLst>
        </p:spPr>
      </p:pic>
      <p:sp>
        <p:nvSpPr>
          <p:cNvPr id="11" name="Shape 6"/>
          <p:cNvSpPr/>
          <p:nvPr/>
        </p:nvSpPr>
        <p:spPr>
          <a:xfrm>
            <a:off x="3878428" y="1499616"/>
            <a:ext cx="457200" cy="457200"/>
          </a:xfrm>
          <a:prstGeom prst="ellipse">
            <a:avLst/>
          </a:prstGeom>
          <a:solidFill>
            <a:srgbClr val="E07E38"/>
          </a:solidFill>
          <a:ln w="12700">
            <a:solidFill>
              <a:srgbClr val="E07E38"/>
            </a:solidFill>
            <a:prstDash val="solid"/>
          </a:ln>
        </p:spPr>
      </p:sp>
      <p:sp>
        <p:nvSpPr>
          <p:cNvPr id="12" name="Text 7"/>
          <p:cNvSpPr/>
          <p:nvPr/>
        </p:nvSpPr>
        <p:spPr>
          <a:xfrm>
            <a:off x="3878428" y="14996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ar-SA" altLang="en-US" sz="1300" dirty="0"/>
          </a:p>
        </p:txBody>
      </p:sp>
      <p:pic>
        <p:nvPicPr>
          <p:cNvPr id="13" name="Image 3" descr="img/image9.png">    </p:cNvPr>
          <p:cNvPicPr>
            <a:picLocks noChangeAspect="1"/>
          </p:cNvPicPr>
          <p:nvPr/>
        </p:nvPicPr>
        <p:blipFill>
          <a:blip r:embed="rId4"/>
          <a:stretch>
            <a:fillRect/>
          </a:stretch>
        </p:blipFill>
        <p:spPr>
          <a:xfrm>
            <a:off x="7984084" y="4224528"/>
            <a:ext cx="3154680" cy="2231136"/>
          </a:xfrm>
          <a:prstGeom prst="rect">
            <a:avLst/>
          </a:prstGeom>
          <a:effectLst>
            <a:outerShdw sx="100000" sy="100000" kx="0" ky="0" algn="bl" rotWithShape="0" blurRad="127000" dist="38100" dir="5400000">
              <a:srgbClr val="0B3B3C">
                <a:alpha val="18000"/>
              </a:srgbClr>
            </a:outerShdw>
          </a:effectLst>
        </p:spPr>
      </p:pic>
      <p:sp>
        <p:nvSpPr>
          <p:cNvPr id="14" name="Shape 8"/>
          <p:cNvSpPr/>
          <p:nvPr/>
        </p:nvSpPr>
        <p:spPr>
          <a:xfrm>
            <a:off x="10809580" y="4096512"/>
            <a:ext cx="457200" cy="457200"/>
          </a:xfrm>
          <a:prstGeom prst="ellipse">
            <a:avLst/>
          </a:prstGeom>
          <a:solidFill>
            <a:srgbClr val="6FA25A"/>
          </a:solidFill>
          <a:ln w="12700">
            <a:solidFill>
              <a:srgbClr val="6FA25A"/>
            </a:solidFill>
            <a:prstDash val="solid"/>
          </a:ln>
        </p:spPr>
      </p:sp>
      <p:sp>
        <p:nvSpPr>
          <p:cNvPr id="15" name="Text 9"/>
          <p:cNvSpPr/>
          <p:nvPr/>
        </p:nvSpPr>
        <p:spPr>
          <a:xfrm>
            <a:off x="10809580" y="40965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ar-SA" altLang="en-US" sz="1300" dirty="0"/>
          </a:p>
        </p:txBody>
      </p:sp>
      <p:pic>
        <p:nvPicPr>
          <p:cNvPr id="16" name="Image 4" descr="img/image10.png">    </p:cNvPr>
          <p:cNvPicPr>
            <a:picLocks noChangeAspect="1"/>
          </p:cNvPicPr>
          <p:nvPr/>
        </p:nvPicPr>
        <p:blipFill>
          <a:blip r:embed="rId5"/>
          <a:stretch>
            <a:fillRect/>
          </a:stretch>
        </p:blipFill>
        <p:spPr>
          <a:xfrm>
            <a:off x="4518508" y="4224528"/>
            <a:ext cx="3154680" cy="2231136"/>
          </a:xfrm>
          <a:prstGeom prst="rect">
            <a:avLst/>
          </a:prstGeom>
          <a:effectLst>
            <a:outerShdw sx="100000" sy="100000" kx="0" ky="0" algn="bl" rotWithShape="0" blurRad="127000" dist="38100" dir="5400000">
              <a:srgbClr val="0B3B3C">
                <a:alpha val="18000"/>
              </a:srgbClr>
            </a:outerShdw>
          </a:effectLst>
        </p:spPr>
      </p:pic>
      <p:sp>
        <p:nvSpPr>
          <p:cNvPr id="17" name="Shape 10"/>
          <p:cNvSpPr/>
          <p:nvPr/>
        </p:nvSpPr>
        <p:spPr>
          <a:xfrm>
            <a:off x="7344004" y="4096512"/>
            <a:ext cx="457200" cy="457200"/>
          </a:xfrm>
          <a:prstGeom prst="ellipse">
            <a:avLst/>
          </a:prstGeom>
          <a:solidFill>
            <a:srgbClr val="3E85BE"/>
          </a:solidFill>
          <a:ln w="12700">
            <a:solidFill>
              <a:srgbClr val="3E85BE"/>
            </a:solidFill>
            <a:prstDash val="solid"/>
          </a:ln>
        </p:spPr>
      </p:sp>
      <p:sp>
        <p:nvSpPr>
          <p:cNvPr id="18" name="Text 11"/>
          <p:cNvSpPr/>
          <p:nvPr/>
        </p:nvSpPr>
        <p:spPr>
          <a:xfrm>
            <a:off x="7344004" y="40965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ar-SA" altLang="en-US" sz="1300" dirty="0"/>
          </a:p>
        </p:txBody>
      </p:sp>
      <p:pic>
        <p:nvPicPr>
          <p:cNvPr id="19" name="Image 5" descr="img/image11.png">    </p:cNvPr>
          <p:cNvPicPr>
            <a:picLocks noChangeAspect="1"/>
          </p:cNvPicPr>
          <p:nvPr/>
        </p:nvPicPr>
        <p:blipFill>
          <a:blip r:embed="rId6"/>
          <a:stretch>
            <a:fillRect/>
          </a:stretch>
        </p:blipFill>
        <p:spPr>
          <a:xfrm>
            <a:off x="1052932" y="4224528"/>
            <a:ext cx="3154680" cy="2231136"/>
          </a:xfrm>
          <a:prstGeom prst="rect">
            <a:avLst/>
          </a:prstGeom>
          <a:effectLst>
            <a:outerShdw sx="100000" sy="100000" kx="0" ky="0" algn="bl" rotWithShape="0" blurRad="127000" dist="38100" dir="5400000">
              <a:srgbClr val="0B3B3C">
                <a:alpha val="18000"/>
              </a:srgbClr>
            </a:outerShdw>
          </a:effectLst>
        </p:spPr>
      </p:pic>
      <p:sp>
        <p:nvSpPr>
          <p:cNvPr id="20" name="Shape 12"/>
          <p:cNvSpPr/>
          <p:nvPr/>
        </p:nvSpPr>
        <p:spPr>
          <a:xfrm>
            <a:off x="3878428" y="4096512"/>
            <a:ext cx="457200" cy="457200"/>
          </a:xfrm>
          <a:prstGeom prst="ellipse">
            <a:avLst/>
          </a:prstGeom>
          <a:solidFill>
            <a:srgbClr val="B5485C"/>
          </a:solidFill>
          <a:ln w="12700">
            <a:solidFill>
              <a:srgbClr val="B5485C"/>
            </a:solidFill>
            <a:prstDash val="solid"/>
          </a:ln>
        </p:spPr>
      </p:sp>
      <p:sp>
        <p:nvSpPr>
          <p:cNvPr id="21" name="Text 13"/>
          <p:cNvSpPr/>
          <p:nvPr/>
        </p:nvSpPr>
        <p:spPr>
          <a:xfrm>
            <a:off x="3878428" y="40965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ar-SA" altLang="en-US" sz="1300" dirty="0"/>
          </a:p>
        </p:txBody>
      </p:sp>
      <p:sp>
        <p:nvSpPr>
          <p:cNvPr id="22" name="Text 14"/>
          <p:cNvSpPr/>
          <p:nvPr/>
        </p:nvSpPr>
        <p:spPr>
          <a:xfrm>
            <a:off x="566928" y="6382512"/>
            <a:ext cx="7772400" cy="274320"/>
          </a:xfrm>
          <a:prstGeom prst="rect">
            <a:avLst/>
          </a:prstGeom>
          <a:noFill/>
          <a:ln/>
        </p:spPr>
        <p:txBody>
          <a:bodyPr wrap="square" lIns="0" tIns="0" rIns="0" bIns="0" rtlCol="0" anchor="ctr"/>
          <a:lstStyle/>
          <a:p>
            <a:pPr rtl="1" algn="r" indent="0" marL="0">
              <a:buNone/>
            </a:pPr>
            <a:r>
              <a:rPr lang="ar-SA" altLang="en-US" sz="1000" dirty="0">
                <a:solidFill>
                  <a:srgbClr val="5F7574"/>
                </a:solidFill>
                <a:latin typeface="Arial" pitchFamily="34" charset="0"/>
                <a:ea typeface="Arial" pitchFamily="34" charset="-122"/>
                <a:cs typeface="Arial" pitchFamily="34" charset="-120"/>
              </a:rPr>
              <a:t>عمل حرّ — غير قابل للاستغلال التجاري — bitaqat-hifd-quran.com</a:t>
            </a:r>
            <a:endParaRPr lang="ar-SA" sz="1000" dirty="0"/>
          </a:p>
        </p:txBody>
      </p:sp>
      <p:sp>
        <p:nvSpPr>
          <p:cNvPr id="23" name="Text 15"/>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Arial" pitchFamily="34" charset="0"/>
                <a:ea typeface="Arial" pitchFamily="34" charset="-122"/>
                <a:cs typeface="Arial" pitchFamily="34" charset="-120"/>
              </a:rPr>
              <a:t>5</a:t>
            </a:r>
            <a:endParaRPr lang="ar-SA" alt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rtl="1" algn="r" indent="0" marL="0">
              <a:buNone/>
            </a:pPr>
            <a:r>
              <a:rPr lang="ar-SA" altLang="en-US" sz="3200" b="1" dirty="0">
                <a:solidFill>
                  <a:srgbClr val="0B3B3C"/>
                </a:solidFill>
                <a:latin typeface="Arial" pitchFamily="34" charset="0"/>
                <a:ea typeface="Arial" pitchFamily="34" charset="-122"/>
                <a:cs typeface="Arial" pitchFamily="34" charset="-120"/>
              </a:rPr>
              <a:t>بطاقة التسميع</a:t>
            </a:r>
            <a:endParaRPr lang="ar-SA" sz="3200" dirty="0"/>
          </a:p>
        </p:txBody>
      </p:sp>
      <p:sp>
        <p:nvSpPr>
          <p:cNvPr id="3" name="Text 1"/>
          <p:cNvSpPr/>
          <p:nvPr/>
        </p:nvSpPr>
        <p:spPr>
          <a:xfrm>
            <a:off x="566928" y="914400"/>
            <a:ext cx="11045952" cy="329184"/>
          </a:xfrm>
          <a:prstGeom prst="rect">
            <a:avLst/>
          </a:prstGeom>
          <a:noFill/>
          <a:ln/>
        </p:spPr>
        <p:txBody>
          <a:bodyPr wrap="square" lIns="0" tIns="0" rIns="0" bIns="0" rtlCol="0" anchor="ctr"/>
          <a:lstStyle/>
          <a:p>
            <a:pPr rtl="1" algn="r" indent="0" marL="0">
              <a:buNone/>
            </a:pPr>
            <a:r>
              <a:rPr lang="ar-SA" altLang="en-US" sz="1500" dirty="0">
                <a:solidFill>
                  <a:srgbClr val="137A7F"/>
                </a:solidFill>
                <a:latin typeface="Arial" pitchFamily="34" charset="0"/>
                <a:ea typeface="Arial" pitchFamily="34" charset="-122"/>
                <a:cs typeface="Arial" pitchFamily="34" charset="-120"/>
              </a:rPr>
              <a:t>التدرّج والمستويات</a:t>
            </a:r>
            <a:endParaRPr lang="ar-SA" sz="1500" dirty="0"/>
          </a:p>
        </p:txBody>
      </p:sp>
      <p:sp>
        <p:nvSpPr>
          <p:cNvPr id="4" name="Shape 2"/>
          <p:cNvSpPr/>
          <p:nvPr/>
        </p:nvSpPr>
        <p:spPr>
          <a:xfrm>
            <a:off x="566928" y="1572768"/>
            <a:ext cx="5532120" cy="1874520"/>
          </a:xfrm>
          <a:prstGeom prst="roundRect">
            <a:avLst>
              <a:gd name="adj" fmla="val 5854"/>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5" name="Text 3"/>
          <p:cNvSpPr/>
          <p:nvPr/>
        </p:nvSpPr>
        <p:spPr>
          <a:xfrm>
            <a:off x="896112" y="1828800"/>
            <a:ext cx="4892040" cy="1463040"/>
          </a:xfrm>
          <a:prstGeom prst="rect">
            <a:avLst/>
          </a:prstGeom>
          <a:noFill/>
          <a:ln/>
        </p:spPr>
        <p:txBody>
          <a:bodyPr wrap="square" lIns="0" tIns="0" rIns="0" bIns="0" rtlCol="0" anchor="t"/>
          <a:lstStyle/>
          <a:p>
            <a:pPr rtl="1" algn="r" marL="342900" indent="-342900">
              <a:spcAft>
                <a:spcPts val="700"/>
              </a:spcAft>
              <a:buSzPct val="100000"/>
              <a:buChar char="●"/>
            </a:pPr>
            <a:r>
              <a:rPr lang="ar-SA" altLang="en-US" sz="1400" b="1" dirty="0">
                <a:solidFill>
                  <a:srgbClr val="0B3B3C"/>
                </a:solidFill>
                <a:latin typeface="Arial" pitchFamily="34" charset="0"/>
                <a:ea typeface="Arial" pitchFamily="34" charset="-122"/>
                <a:cs typeface="Arial" pitchFamily="34" charset="-120"/>
              </a:rPr>
              <a:t>ست بطاقات بأرقام وألوان مختلفة</a:t>
            </a:r>
            <a:endParaRPr lang="ar-SA" altLang="en-US" sz="1400" dirty="0"/>
          </a:p>
          <a:p>
            <a:pPr rtl="1" algn="r" lvl="1" marL="685800" indent="-342900">
              <a:spcAft>
                <a:spcPts val="300"/>
              </a:spcAft>
              <a:buSzPct val="100000"/>
              <a:buChar char="▪"/>
            </a:pPr>
            <a:r>
              <a:rPr lang="ar-SA" altLang="en-US" sz="1200" dirty="0">
                <a:solidFill>
                  <a:srgbClr val="24403F"/>
                </a:solidFill>
                <a:latin typeface="Arial" pitchFamily="34" charset="0"/>
                <a:ea typeface="Arial" pitchFamily="34" charset="-122"/>
                <a:cs typeface="Arial" pitchFamily="34" charset="-120"/>
              </a:rPr>
              <a:t>ستة أهداف (سنوية وأسبوعية) ومتطلبات مختلفة</a:t>
            </a:r>
            <a:endParaRPr lang="ar-SA" altLang="en-US" sz="1400" dirty="0"/>
          </a:p>
          <a:p>
            <a:pPr rtl="1" algn="r" lvl="1" marL="685800" indent="-342900">
              <a:spcAft>
                <a:spcPts val="300"/>
              </a:spcAft>
              <a:buSzPct val="100000"/>
              <a:buChar char="▪"/>
            </a:pPr>
            <a:r>
              <a:rPr lang="ar-SA" altLang="en-US" sz="1200" dirty="0">
                <a:solidFill>
                  <a:srgbClr val="24403F"/>
                </a:solidFill>
                <a:latin typeface="Arial" pitchFamily="34" charset="0"/>
                <a:ea typeface="Arial" pitchFamily="34" charset="-122"/>
                <a:cs typeface="Arial" pitchFamily="34" charset="-120"/>
              </a:rPr>
              <a:t>كمية حفظ متدرّجة</a:t>
            </a:r>
            <a:endParaRPr lang="ar-SA" altLang="en-US" sz="1400" dirty="0"/>
          </a:p>
          <a:p>
            <a:pPr rtl="1" algn="r" lvl="1" marL="685800" indent="-342900">
              <a:spcAft>
                <a:spcPts val="300"/>
              </a:spcAft>
              <a:buSzPct val="100000"/>
              <a:buChar char="▪"/>
            </a:pPr>
            <a:r>
              <a:rPr lang="ar-SA" altLang="en-US" sz="1200" dirty="0">
                <a:solidFill>
                  <a:srgbClr val="24403F"/>
                </a:solidFill>
                <a:latin typeface="Arial" pitchFamily="34" charset="0"/>
                <a:ea typeface="Arial" pitchFamily="34" charset="-122"/>
                <a:cs typeface="Arial" pitchFamily="34" charset="-120"/>
              </a:rPr>
              <a:t>من الحزب 60 («سبّح») إلى الحزب 45 (سورة «يس»)</a:t>
            </a:r>
            <a:endParaRPr lang="ar-SA" altLang="en-US" sz="1400" dirty="0"/>
          </a:p>
        </p:txBody>
      </p:sp>
      <p:sp>
        <p:nvSpPr>
          <p:cNvPr id="6" name="Text 4"/>
          <p:cNvSpPr/>
          <p:nvPr/>
        </p:nvSpPr>
        <p:spPr>
          <a:xfrm>
            <a:off x="6446520" y="1627632"/>
            <a:ext cx="5166360" cy="365760"/>
          </a:xfrm>
          <a:prstGeom prst="rect">
            <a:avLst/>
          </a:prstGeom>
          <a:noFill/>
          <a:ln/>
        </p:spPr>
        <p:txBody>
          <a:bodyPr wrap="square" lIns="0" tIns="0" rIns="0" bIns="0" rtlCol="0" anchor="ctr"/>
          <a:lstStyle/>
          <a:p>
            <a:pPr rtl="1" algn="r" indent="0" marL="0">
              <a:buNone/>
            </a:pPr>
            <a:r>
              <a:rPr lang="ar-SA" altLang="en-US" sz="1800" b="1" dirty="0">
                <a:solidFill>
                  <a:srgbClr val="0B3B3C"/>
                </a:solidFill>
                <a:latin typeface="Arial" pitchFamily="34" charset="0"/>
                <a:ea typeface="Arial" pitchFamily="34" charset="-122"/>
                <a:cs typeface="Arial" pitchFamily="34" charset="-120"/>
              </a:rPr>
              <a:t>موزّعة على 3 مستويات</a:t>
            </a:r>
            <a:endParaRPr lang="ar-SA" sz="1800" dirty="0"/>
          </a:p>
        </p:txBody>
      </p:sp>
      <p:sp>
        <p:nvSpPr>
          <p:cNvPr id="7" name="Shape 5"/>
          <p:cNvSpPr/>
          <p:nvPr/>
        </p:nvSpPr>
        <p:spPr>
          <a:xfrm>
            <a:off x="6446520" y="2121408"/>
            <a:ext cx="5166360" cy="512064"/>
          </a:xfrm>
          <a:prstGeom prst="roundRect">
            <a:avLst>
              <a:gd name="adj" fmla="val 17857"/>
            </a:avLst>
          </a:prstGeom>
          <a:solidFill>
            <a:srgbClr val="EAF4F2"/>
          </a:solidFill>
          <a:ln w="12700">
            <a:solidFill>
              <a:srgbClr val="D5E7E4"/>
            </a:solidFill>
            <a:prstDash val="solid"/>
          </a:ln>
        </p:spPr>
      </p:sp>
      <p:sp>
        <p:nvSpPr>
          <p:cNvPr id="8" name="Shape 6"/>
          <p:cNvSpPr/>
          <p:nvPr/>
        </p:nvSpPr>
        <p:spPr>
          <a:xfrm>
            <a:off x="11210544" y="2267712"/>
            <a:ext cx="219456" cy="219456"/>
          </a:xfrm>
          <a:prstGeom prst="ellipse">
            <a:avLst/>
          </a:prstGeom>
          <a:solidFill>
            <a:srgbClr val="D9982B"/>
          </a:solidFill>
          <a:ln w="12700">
            <a:solidFill>
              <a:srgbClr val="D9982B"/>
            </a:solidFill>
            <a:prstDash val="solid"/>
          </a:ln>
        </p:spPr>
      </p:sp>
      <p:sp>
        <p:nvSpPr>
          <p:cNvPr id="9" name="Text 7"/>
          <p:cNvSpPr/>
          <p:nvPr/>
        </p:nvSpPr>
        <p:spPr>
          <a:xfrm>
            <a:off x="8613648" y="2121408"/>
            <a:ext cx="2377440" cy="512064"/>
          </a:xfrm>
          <a:prstGeom prst="rect">
            <a:avLst/>
          </a:prstGeom>
          <a:noFill/>
          <a:ln/>
        </p:spPr>
        <p:txBody>
          <a:bodyPr wrap="square" lIns="0" tIns="0" rIns="0" bIns="0" rtlCol="0" anchor="ctr"/>
          <a:lstStyle/>
          <a:p>
            <a:pPr rtl="1" algn="r" indent="0" marL="0">
              <a:buNone/>
            </a:pPr>
            <a:r>
              <a:rPr lang="ar-SA" altLang="en-US" sz="1500" b="1" dirty="0">
                <a:solidFill>
                  <a:srgbClr val="0B3B3C"/>
                </a:solidFill>
                <a:latin typeface="Arial" pitchFamily="34" charset="0"/>
                <a:ea typeface="Arial" pitchFamily="34" charset="-122"/>
                <a:cs typeface="Arial" pitchFamily="34" charset="-120"/>
              </a:rPr>
              <a:t>مبتدئ</a:t>
            </a:r>
            <a:endParaRPr lang="ar-SA" sz="1500" dirty="0"/>
          </a:p>
        </p:txBody>
      </p:sp>
      <p:sp>
        <p:nvSpPr>
          <p:cNvPr id="10" name="Text 8"/>
          <p:cNvSpPr/>
          <p:nvPr/>
        </p:nvSpPr>
        <p:spPr>
          <a:xfrm>
            <a:off x="6629400" y="2121408"/>
            <a:ext cx="2103120" cy="512064"/>
          </a:xfrm>
          <a:prstGeom prst="rect">
            <a:avLst/>
          </a:prstGeom>
          <a:noFill/>
          <a:ln/>
        </p:spPr>
        <p:txBody>
          <a:bodyPr wrap="square" lIns="0" tIns="0" rIns="0" bIns="0" rtlCol="0" anchor="ctr"/>
          <a:lstStyle/>
          <a:p>
            <a:pPr rtl="1" algn="l" indent="0" marL="0">
              <a:buNone/>
            </a:pPr>
            <a:r>
              <a:rPr lang="ar-SA" altLang="en-US" sz="1500" b="1" dirty="0">
                <a:solidFill>
                  <a:srgbClr val="D9982B"/>
                </a:solidFill>
                <a:latin typeface="Arial" pitchFamily="34" charset="0"/>
                <a:ea typeface="Arial" pitchFamily="34" charset="-122"/>
                <a:cs typeface="Arial" pitchFamily="34" charset="-120"/>
              </a:rPr>
              <a:t>رقم 1</a:t>
            </a:r>
            <a:endParaRPr lang="ar-SA" sz="1500" dirty="0"/>
          </a:p>
        </p:txBody>
      </p:sp>
      <p:sp>
        <p:nvSpPr>
          <p:cNvPr id="11" name="Shape 9"/>
          <p:cNvSpPr/>
          <p:nvPr/>
        </p:nvSpPr>
        <p:spPr>
          <a:xfrm>
            <a:off x="6446520" y="2743200"/>
            <a:ext cx="5166360" cy="512064"/>
          </a:xfrm>
          <a:prstGeom prst="roundRect">
            <a:avLst>
              <a:gd name="adj" fmla="val 17857"/>
            </a:avLst>
          </a:prstGeom>
          <a:solidFill>
            <a:srgbClr val="EAF4F2"/>
          </a:solidFill>
          <a:ln w="12700">
            <a:solidFill>
              <a:srgbClr val="D5E7E4"/>
            </a:solidFill>
            <a:prstDash val="solid"/>
          </a:ln>
        </p:spPr>
      </p:sp>
      <p:sp>
        <p:nvSpPr>
          <p:cNvPr id="12" name="Shape 10"/>
          <p:cNvSpPr/>
          <p:nvPr/>
        </p:nvSpPr>
        <p:spPr>
          <a:xfrm>
            <a:off x="11210544" y="2889504"/>
            <a:ext cx="219456" cy="219456"/>
          </a:xfrm>
          <a:prstGeom prst="ellipse">
            <a:avLst/>
          </a:prstGeom>
          <a:solidFill>
            <a:srgbClr val="2E7BA6"/>
          </a:solidFill>
          <a:ln w="12700">
            <a:solidFill>
              <a:srgbClr val="2E7BA6"/>
            </a:solidFill>
            <a:prstDash val="solid"/>
          </a:ln>
        </p:spPr>
      </p:sp>
      <p:sp>
        <p:nvSpPr>
          <p:cNvPr id="13" name="Text 11"/>
          <p:cNvSpPr/>
          <p:nvPr/>
        </p:nvSpPr>
        <p:spPr>
          <a:xfrm>
            <a:off x="8613648" y="2743200"/>
            <a:ext cx="2377440" cy="512064"/>
          </a:xfrm>
          <a:prstGeom prst="rect">
            <a:avLst/>
          </a:prstGeom>
          <a:noFill/>
          <a:ln/>
        </p:spPr>
        <p:txBody>
          <a:bodyPr wrap="square" lIns="0" tIns="0" rIns="0" bIns="0" rtlCol="0" anchor="ctr"/>
          <a:lstStyle/>
          <a:p>
            <a:pPr rtl="1" algn="r" indent="0" marL="0">
              <a:buNone/>
            </a:pPr>
            <a:r>
              <a:rPr lang="ar-SA" altLang="en-US" sz="1500" b="1" dirty="0">
                <a:solidFill>
                  <a:srgbClr val="0B3B3C"/>
                </a:solidFill>
                <a:latin typeface="Arial" pitchFamily="34" charset="0"/>
                <a:ea typeface="Arial" pitchFamily="34" charset="-122"/>
                <a:cs typeface="Arial" pitchFamily="34" charset="-120"/>
              </a:rPr>
              <a:t>متوسط</a:t>
            </a:r>
            <a:endParaRPr lang="ar-SA" sz="1500" dirty="0"/>
          </a:p>
        </p:txBody>
      </p:sp>
      <p:sp>
        <p:nvSpPr>
          <p:cNvPr id="14" name="Text 12"/>
          <p:cNvSpPr/>
          <p:nvPr/>
        </p:nvSpPr>
        <p:spPr>
          <a:xfrm>
            <a:off x="6629400" y="2743200"/>
            <a:ext cx="2103120" cy="512064"/>
          </a:xfrm>
          <a:prstGeom prst="rect">
            <a:avLst/>
          </a:prstGeom>
          <a:noFill/>
          <a:ln/>
        </p:spPr>
        <p:txBody>
          <a:bodyPr wrap="square" lIns="0" tIns="0" rIns="0" bIns="0" rtlCol="0" anchor="ctr"/>
          <a:lstStyle/>
          <a:p>
            <a:pPr rtl="1" algn="l" indent="0" marL="0">
              <a:buNone/>
            </a:pPr>
            <a:r>
              <a:rPr lang="ar-SA" altLang="en-US" sz="1500" b="1" dirty="0">
                <a:solidFill>
                  <a:srgbClr val="2E7BA6"/>
                </a:solidFill>
                <a:latin typeface="Arial" pitchFamily="34" charset="0"/>
                <a:ea typeface="Arial" pitchFamily="34" charset="-122"/>
                <a:cs typeface="Arial" pitchFamily="34" charset="-120"/>
              </a:rPr>
              <a:t>رقم 2 و3</a:t>
            </a:r>
            <a:endParaRPr lang="ar-SA" sz="1500" dirty="0"/>
          </a:p>
        </p:txBody>
      </p:sp>
      <p:sp>
        <p:nvSpPr>
          <p:cNvPr id="15" name="Shape 13"/>
          <p:cNvSpPr/>
          <p:nvPr/>
        </p:nvSpPr>
        <p:spPr>
          <a:xfrm>
            <a:off x="6446520" y="3364992"/>
            <a:ext cx="5166360" cy="512064"/>
          </a:xfrm>
          <a:prstGeom prst="roundRect">
            <a:avLst>
              <a:gd name="adj" fmla="val 17857"/>
            </a:avLst>
          </a:prstGeom>
          <a:solidFill>
            <a:srgbClr val="EAF4F2"/>
          </a:solidFill>
          <a:ln w="12700">
            <a:solidFill>
              <a:srgbClr val="D5E7E4"/>
            </a:solidFill>
            <a:prstDash val="solid"/>
          </a:ln>
        </p:spPr>
      </p:sp>
      <p:sp>
        <p:nvSpPr>
          <p:cNvPr id="16" name="Shape 14"/>
          <p:cNvSpPr/>
          <p:nvPr/>
        </p:nvSpPr>
        <p:spPr>
          <a:xfrm>
            <a:off x="11210544" y="3511296"/>
            <a:ext cx="219456" cy="219456"/>
          </a:xfrm>
          <a:prstGeom prst="ellipse">
            <a:avLst/>
          </a:prstGeom>
          <a:solidFill>
            <a:srgbClr val="9E3B4E"/>
          </a:solidFill>
          <a:ln w="12700">
            <a:solidFill>
              <a:srgbClr val="9E3B4E"/>
            </a:solidFill>
            <a:prstDash val="solid"/>
          </a:ln>
        </p:spPr>
      </p:sp>
      <p:sp>
        <p:nvSpPr>
          <p:cNvPr id="17" name="Text 15"/>
          <p:cNvSpPr/>
          <p:nvPr/>
        </p:nvSpPr>
        <p:spPr>
          <a:xfrm>
            <a:off x="8613648" y="3364992"/>
            <a:ext cx="2377440" cy="512064"/>
          </a:xfrm>
          <a:prstGeom prst="rect">
            <a:avLst/>
          </a:prstGeom>
          <a:noFill/>
          <a:ln/>
        </p:spPr>
        <p:txBody>
          <a:bodyPr wrap="square" lIns="0" tIns="0" rIns="0" bIns="0" rtlCol="0" anchor="ctr"/>
          <a:lstStyle/>
          <a:p>
            <a:pPr rtl="1" algn="r" indent="0" marL="0">
              <a:buNone/>
            </a:pPr>
            <a:r>
              <a:rPr lang="ar-SA" altLang="en-US" sz="1500" b="1" dirty="0">
                <a:solidFill>
                  <a:srgbClr val="0B3B3C"/>
                </a:solidFill>
                <a:latin typeface="Arial" pitchFamily="34" charset="0"/>
                <a:ea typeface="Arial" pitchFamily="34" charset="-122"/>
                <a:cs typeface="Arial" pitchFamily="34" charset="-120"/>
              </a:rPr>
              <a:t>متقدّم</a:t>
            </a:r>
            <a:endParaRPr lang="ar-SA" sz="1500" dirty="0"/>
          </a:p>
        </p:txBody>
      </p:sp>
      <p:sp>
        <p:nvSpPr>
          <p:cNvPr id="18" name="Text 16"/>
          <p:cNvSpPr/>
          <p:nvPr/>
        </p:nvSpPr>
        <p:spPr>
          <a:xfrm>
            <a:off x="6629400" y="3364992"/>
            <a:ext cx="2103120" cy="512064"/>
          </a:xfrm>
          <a:prstGeom prst="rect">
            <a:avLst/>
          </a:prstGeom>
          <a:noFill/>
          <a:ln/>
        </p:spPr>
        <p:txBody>
          <a:bodyPr wrap="square" lIns="0" tIns="0" rIns="0" bIns="0" rtlCol="0" anchor="ctr"/>
          <a:lstStyle/>
          <a:p>
            <a:pPr rtl="1" algn="l" indent="0" marL="0">
              <a:buNone/>
            </a:pPr>
            <a:r>
              <a:rPr lang="ar-SA" altLang="en-US" sz="1500" b="1" dirty="0">
                <a:solidFill>
                  <a:srgbClr val="9E3B4E"/>
                </a:solidFill>
                <a:latin typeface="Arial" pitchFamily="34" charset="0"/>
                <a:ea typeface="Arial" pitchFamily="34" charset="-122"/>
                <a:cs typeface="Arial" pitchFamily="34" charset="-120"/>
              </a:rPr>
              <a:t>رقم 4 و5 و6</a:t>
            </a:r>
            <a:endParaRPr lang="ar-SA" sz="1500" dirty="0"/>
          </a:p>
        </p:txBody>
      </p:sp>
      <p:sp>
        <p:nvSpPr>
          <p:cNvPr id="19" name="Shape 17"/>
          <p:cNvSpPr/>
          <p:nvPr/>
        </p:nvSpPr>
        <p:spPr>
          <a:xfrm>
            <a:off x="566928" y="4160520"/>
            <a:ext cx="11045952" cy="1234440"/>
          </a:xfrm>
          <a:prstGeom prst="roundRect">
            <a:avLst>
              <a:gd name="adj" fmla="val 8889"/>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20" name="Text 18"/>
          <p:cNvSpPr/>
          <p:nvPr/>
        </p:nvSpPr>
        <p:spPr>
          <a:xfrm>
            <a:off x="896112" y="4370832"/>
            <a:ext cx="10424160" cy="914400"/>
          </a:xfrm>
          <a:prstGeom prst="rect">
            <a:avLst/>
          </a:prstGeom>
          <a:noFill/>
          <a:ln/>
        </p:spPr>
        <p:txBody>
          <a:bodyPr wrap="square" lIns="0" tIns="0" rIns="0" bIns="0" rtlCol="0" anchor="t"/>
          <a:lstStyle/>
          <a:p>
            <a:pPr rtl="1" algn="r" marL="342900" indent="-342900">
              <a:spcAft>
                <a:spcPts val="700"/>
              </a:spcAft>
              <a:buSzPct val="100000"/>
              <a:buChar char="●"/>
            </a:pPr>
            <a:r>
              <a:rPr lang="ar-SA" altLang="en-US" sz="1400" b="1" dirty="0">
                <a:solidFill>
                  <a:srgbClr val="0B3B3C"/>
                </a:solidFill>
                <a:latin typeface="Arial" pitchFamily="34" charset="0"/>
                <a:ea typeface="Arial" pitchFamily="34" charset="-122"/>
                <a:cs typeface="Arial" pitchFamily="34" charset="-120"/>
              </a:rPr>
              <a:t>البطاقات مستقلة عن الأقسام وعن سنوات أقدمية التلميذ</a:t>
            </a:r>
            <a:endParaRPr lang="ar-SA" altLang="en-US" sz="1400" dirty="0"/>
          </a:p>
          <a:p>
            <a:pPr rtl="1" algn="r" lvl="1" marL="685800" indent="-342900">
              <a:spcAft>
                <a:spcPts val="300"/>
              </a:spcAft>
              <a:buSzPct val="100000"/>
              <a:buChar char="▪"/>
            </a:pPr>
            <a:r>
              <a:rPr lang="ar-SA" altLang="en-US" sz="1200" dirty="0">
                <a:solidFill>
                  <a:srgbClr val="24403F"/>
                </a:solidFill>
                <a:latin typeface="Arial" pitchFamily="34" charset="0"/>
                <a:ea typeface="Arial" pitchFamily="34" charset="-122"/>
                <a:cs typeface="Arial" pitchFamily="34" charset="-120"/>
              </a:rPr>
              <a:t>عند تحقيق الهدف السنوي يتسلّم التلميذ بطاقة برقم أعلى (ولو أثناء السنة)</a:t>
            </a:r>
            <a:endParaRPr lang="ar-SA" altLang="en-US" sz="1400" dirty="0"/>
          </a:p>
          <a:p>
            <a:pPr rtl="1" algn="r" marL="342900" indent="-342900">
              <a:spcBef>
                <a:spcPts val="500"/>
              </a:spcBef>
              <a:spcAft>
                <a:spcPts val="700"/>
              </a:spcAft>
              <a:buSzPct val="100000"/>
              <a:buChar char="●"/>
            </a:pPr>
            <a:r>
              <a:rPr lang="ar-SA" altLang="en-US" sz="1400" b="1" dirty="0">
                <a:solidFill>
                  <a:srgbClr val="0B3B3C"/>
                </a:solidFill>
                <a:latin typeface="Arial" pitchFamily="34" charset="0"/>
                <a:ea typeface="Arial" pitchFamily="34" charset="-122"/>
                <a:cs typeface="Arial" pitchFamily="34" charset="-120"/>
              </a:rPr>
              <a:t>مكافأة عند كل تغيير للبطاقة</a:t>
            </a:r>
            <a:endParaRPr lang="ar-SA" altLang="en-US" sz="1400" dirty="0"/>
          </a:p>
        </p:txBody>
      </p:sp>
      <p:sp>
        <p:nvSpPr>
          <p:cNvPr id="22" name="Text 19"/>
          <p:cNvSpPr/>
          <p:nvPr/>
        </p:nvSpPr>
        <p:spPr>
          <a:xfrm>
            <a:off x="566928" y="6382512"/>
            <a:ext cx="7772400" cy="274320"/>
          </a:xfrm>
          <a:prstGeom prst="rect">
            <a:avLst/>
          </a:prstGeom>
          <a:noFill/>
          <a:ln/>
        </p:spPr>
        <p:txBody>
          <a:bodyPr wrap="square" lIns="0" tIns="0" rIns="0" bIns="0" rtlCol="0" anchor="ctr"/>
          <a:lstStyle/>
          <a:p>
            <a:pPr rtl="1" algn="r" indent="0" marL="0">
              <a:buNone/>
            </a:pPr>
            <a:r>
              <a:rPr lang="ar-SA" altLang="en-US" sz="1000" dirty="0">
                <a:solidFill>
                  <a:srgbClr val="5F7574"/>
                </a:solidFill>
                <a:latin typeface="Arial" pitchFamily="34" charset="0"/>
                <a:ea typeface="Arial" pitchFamily="34" charset="-122"/>
                <a:cs typeface="Arial" pitchFamily="34" charset="-120"/>
              </a:rPr>
              <a:t>عمل حرّ — غير قابل للاستغلال التجاري — bitaqat-hifd-quran.com</a:t>
            </a:r>
            <a:endParaRPr lang="ar-SA" sz="1000" dirty="0"/>
          </a:p>
        </p:txBody>
      </p:sp>
      <p:sp>
        <p:nvSpPr>
          <p:cNvPr id="23" name="Text 20"/>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Arial" pitchFamily="34" charset="0"/>
                <a:ea typeface="Arial" pitchFamily="34" charset="-122"/>
                <a:cs typeface="Arial" pitchFamily="34" charset="-120"/>
              </a:rPr>
              <a:t>6</a:t>
            </a:r>
            <a:endParaRPr lang="ar-SA" alt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rtl="1" algn="r" indent="0" marL="0">
              <a:buNone/>
            </a:pPr>
            <a:r>
              <a:rPr lang="ar-SA" altLang="en-US" sz="3200" b="1" dirty="0">
                <a:solidFill>
                  <a:srgbClr val="0B3B3C"/>
                </a:solidFill>
                <a:latin typeface="Arial" pitchFamily="34" charset="0"/>
                <a:ea typeface="Arial" pitchFamily="34" charset="-122"/>
                <a:cs typeface="Arial" pitchFamily="34" charset="-120"/>
              </a:rPr>
              <a:t>التدرّج والمستويات</a:t>
            </a:r>
            <a:endParaRPr lang="ar-SA"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572768"/>
          <a:ext cx="11045952" cy="914400"/>
        </p:xfrm>
        <a:graphic>
          <a:graphicData uri="http://schemas.openxmlformats.org/drawingml/2006/table">
            <a:tbl>
              <a:tblPr/>
              <a:tblGrid>
                <a:gridCol w="1325880"/>
                <a:gridCol w="868680"/>
                <a:gridCol w="1600200"/>
                <a:gridCol w="1463040"/>
                <a:gridCol w="1600200"/>
                <a:gridCol w="1234440"/>
                <a:gridCol w="1051560"/>
                <a:gridCol w="1901952"/>
              </a:tblGrid>
              <a:tr h="384048">
                <a:tc rowSpan="2">
                  <a:txBody>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المستوى</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0B3B3C"/>
                    </a:solidFill>
                  </a:tcPr>
                </a:tc>
                <a:tc rowSpan="2">
                  <a:txBody>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رقم</a:t>
                      </a:r>
                      <a:endParaRPr lang="ar-SA" sz="1100" dirty="0">
                        <a:latin typeface="Arial" charset="0"/>
                        <a:ea typeface="Arial" charset="0"/>
                        <a:cs typeface="Arial" charset="0"/>
                      </a:endParaRPr>
                    </a:p>
                    <a:p>
                      <a:pPr rtl="1" algn="ctr" indent="0" marL="0">
                        <a:buNone/>
                      </a:pPr>
                      <a:r>
                        <a:rPr lang="ar-SA" altLang="en-US" sz="1100" b="1" dirty="0">
                          <a:solidFill>
                            <a:srgbClr val="FFFFFF"/>
                          </a:solidFill>
                          <a:latin typeface="Arial" pitchFamily="34" charset="0"/>
                          <a:ea typeface="Arial" pitchFamily="34" charset="-122"/>
                          <a:cs typeface="Arial" pitchFamily="34" charset="-120"/>
                        </a:rPr>
                        <a:t>البطاقة</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0B3B3C"/>
                    </a:solidFill>
                  </a:tcPr>
                </a:tc>
                <a:tc rowSpan="2">
                  <a:txBody>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المتطلبات</a:t>
                      </a:r>
                      <a:endParaRPr lang="ar-SA" sz="1100" dirty="0">
                        <a:latin typeface="Arial" charset="0"/>
                        <a:ea typeface="Arial" charset="0"/>
                        <a:cs typeface="Arial" charset="0"/>
                      </a:endParaRPr>
                    </a:p>
                    <a:p>
                      <a:pPr rtl="1" algn="ctr" indent="0" marL="0">
                        <a:buNone/>
                      </a:pPr>
                      <a:r>
                        <a:rPr lang="ar-SA" altLang="en-US" sz="1100" b="1" dirty="0">
                          <a:solidFill>
                            <a:srgbClr val="FFFFFF"/>
                          </a:solidFill>
                          <a:latin typeface="Arial" pitchFamily="34" charset="0"/>
                          <a:ea typeface="Arial" pitchFamily="34" charset="-122"/>
                          <a:cs typeface="Arial" pitchFamily="34" charset="-120"/>
                        </a:rPr>
                        <a:t>(عدد الأحزاب)</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0B3B3C"/>
                    </a:solidFill>
                  </a:tcPr>
                </a:tc>
                <a:tc gridSpan="4">
                  <a:txBody>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الهدف</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0B3B3C"/>
                    </a:solidFill>
                  </a:tcPr>
                </a:tc>
                <a:tc hMerge="1">
                  <a:tcPr/>
                </a:tc>
                <a:tc hMerge="1">
                  <a:tcPr/>
                </a:tc>
                <a:tc hMerge="1">
                  <a:tcPr/>
                </a:tc>
                <a:tc rowSpan="2">
                  <a:txBody>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الحفظ</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0B3B3C"/>
                    </a:solidFill>
                  </a:tcPr>
                </a:tc>
              </a:tr>
              <a:tr h="457200">
                <a:tc vMerge="1">
                  <a:tcPr/>
                </a:tc>
                <a:tc vMerge="1">
                  <a:tcPr/>
                </a:tc>
                <a:tc vMerge="1">
                  <a:tcPr/>
                </a:tc>
                <a:tc>
                  <a:txBody>
                    <a:bodyPr/>
                    <a:lstStyle/>
                    <a:p>
                      <a:pPr rtl="1" algn="ctr" indent="0" marL="0">
                        <a:buNone/>
                      </a:pPr>
                      <a:r>
                        <a:rPr lang="ar-SA" altLang="en-US" sz="1000" b="1" dirty="0">
                          <a:solidFill>
                            <a:srgbClr val="FFFFFF"/>
                          </a:solidFill>
                          <a:latin typeface="Arial" pitchFamily="34" charset="0"/>
                          <a:ea typeface="Arial" pitchFamily="34" charset="-122"/>
                          <a:cs typeface="Arial" pitchFamily="34" charset="-120"/>
                        </a:rPr>
                        <a:t>السنة</a:t>
                      </a:r>
                      <a:endParaRPr lang="ar-SA" sz="1000" dirty="0">
                        <a:latin typeface="Arial" charset="0"/>
                        <a:ea typeface="Arial" charset="0"/>
                        <a:cs typeface="Arial" charset="0"/>
                      </a:endParaRPr>
                    </a:p>
                    <a:p>
                      <a:pPr rtl="1" algn="ctr" indent="0" marL="0">
                        <a:buNone/>
                      </a:pPr>
                      <a:r>
                        <a:rPr lang="ar-SA" altLang="en-US" sz="1000" b="1" dirty="0">
                          <a:solidFill>
                            <a:srgbClr val="FFFFFF"/>
                          </a:solidFill>
                          <a:latin typeface="Arial" pitchFamily="34" charset="0"/>
                          <a:ea typeface="Arial" pitchFamily="34" charset="-122"/>
                          <a:cs typeface="Arial" pitchFamily="34" charset="-120"/>
                        </a:rPr>
                        <a:t>(عدد الأحزاب)</a:t>
                      </a:r>
                      <a:endParaRPr lang="ar-SA" sz="10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137A7F"/>
                    </a:solidFill>
                  </a:tcPr>
                </a:tc>
                <a:tc>
                  <a:txBody>
                    <a:bodyPr/>
                    <a:lstStyle/>
                    <a:p>
                      <a:pPr rtl="1" algn="ctr" indent="0" marL="0">
                        <a:buNone/>
                      </a:pPr>
                      <a:r>
                        <a:rPr lang="ar-SA" altLang="en-US" sz="1000" b="1" dirty="0">
                          <a:solidFill>
                            <a:srgbClr val="FFFFFF"/>
                          </a:solidFill>
                          <a:latin typeface="Arial" pitchFamily="34" charset="0"/>
                          <a:ea typeface="Arial" pitchFamily="34" charset="-122"/>
                          <a:cs typeface="Arial" pitchFamily="34" charset="-120"/>
                        </a:rPr>
                        <a:t>التراكمي</a:t>
                      </a:r>
                      <a:endParaRPr lang="ar-SA" sz="1000" dirty="0">
                        <a:latin typeface="Arial" charset="0"/>
                        <a:ea typeface="Arial" charset="0"/>
                        <a:cs typeface="Arial" charset="0"/>
                      </a:endParaRPr>
                    </a:p>
                    <a:p>
                      <a:pPr rtl="1" algn="ctr" indent="0" marL="0">
                        <a:buNone/>
                      </a:pPr>
                      <a:r>
                        <a:rPr lang="ar-SA" altLang="en-US" sz="1000" b="1" dirty="0">
                          <a:solidFill>
                            <a:srgbClr val="FFFFFF"/>
                          </a:solidFill>
                          <a:latin typeface="Arial" pitchFamily="34" charset="0"/>
                          <a:ea typeface="Arial" pitchFamily="34" charset="-122"/>
                          <a:cs typeface="Arial" pitchFamily="34" charset="-120"/>
                        </a:rPr>
                        <a:t>(عدد الأحزاب)</a:t>
                      </a:r>
                      <a:endParaRPr lang="ar-SA" sz="10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137A7F"/>
                    </a:solidFill>
                  </a:tcPr>
                </a:tc>
                <a:tc>
                  <a:txBody>
                    <a:bodyPr/>
                    <a:lstStyle/>
                    <a:p>
                      <a:pPr rtl="1" algn="ctr" indent="0" marL="0">
                        <a:buNone/>
                      </a:pPr>
                      <a:r>
                        <a:rPr lang="ar-SA" altLang="en-US" sz="1000" b="1" dirty="0">
                          <a:solidFill>
                            <a:srgbClr val="FFFFFF"/>
                          </a:solidFill>
                          <a:latin typeface="Arial" pitchFamily="34" charset="0"/>
                          <a:ea typeface="Arial" pitchFamily="34" charset="-122"/>
                          <a:cs typeface="Arial" pitchFamily="34" charset="-120"/>
                        </a:rPr>
                        <a:t>الأسبوع</a:t>
                      </a:r>
                      <a:endParaRPr lang="ar-SA" sz="1000" dirty="0">
                        <a:latin typeface="Arial" charset="0"/>
                        <a:ea typeface="Arial" charset="0"/>
                        <a:cs typeface="Arial" charset="0"/>
                      </a:endParaRPr>
                    </a:p>
                    <a:p>
                      <a:pPr rtl="1" algn="ctr" indent="0" marL="0">
                        <a:buNone/>
                      </a:pPr>
                      <a:r>
                        <a:rPr lang="ar-SA" altLang="en-US" sz="1000" b="1" dirty="0">
                          <a:solidFill>
                            <a:srgbClr val="FFFFFF"/>
                          </a:solidFill>
                          <a:latin typeface="Arial" pitchFamily="34" charset="0"/>
                          <a:ea typeface="Arial" pitchFamily="34" charset="-122"/>
                          <a:cs typeface="Arial" pitchFamily="34" charset="-120"/>
                        </a:rPr>
                        <a:t>(عدد الأسطر)</a:t>
                      </a:r>
                      <a:endParaRPr lang="ar-SA" sz="10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137A7F"/>
                    </a:solidFill>
                  </a:tcPr>
                </a:tc>
                <a:tc>
                  <a:txBody>
                    <a:bodyPr/>
                    <a:lstStyle/>
                    <a:p>
                      <a:pPr rtl="1" algn="ctr" indent="0" marL="0">
                        <a:buNone/>
                      </a:pPr>
                      <a:r>
                        <a:rPr lang="ar-SA" altLang="en-US" sz="1000" b="1" dirty="0">
                          <a:solidFill>
                            <a:srgbClr val="FFFFFF"/>
                          </a:solidFill>
                          <a:latin typeface="Arial" pitchFamily="34" charset="0"/>
                          <a:ea typeface="Arial" pitchFamily="34" charset="-122"/>
                          <a:cs typeface="Arial" pitchFamily="34" charset="-120"/>
                        </a:rPr>
                        <a:t>اليوم</a:t>
                      </a:r>
                      <a:endParaRPr lang="ar-SA" sz="1000" dirty="0">
                        <a:latin typeface="Arial" charset="0"/>
                        <a:ea typeface="Arial" charset="0"/>
                        <a:cs typeface="Arial" charset="0"/>
                      </a:endParaRPr>
                    </a:p>
                    <a:p>
                      <a:pPr rtl="1" algn="ctr" indent="0" marL="0">
                        <a:buNone/>
                      </a:pPr>
                      <a:r>
                        <a:rPr lang="ar-SA" altLang="en-US" sz="1000" b="1" dirty="0">
                          <a:solidFill>
                            <a:srgbClr val="FFFFFF"/>
                          </a:solidFill>
                          <a:latin typeface="Arial" pitchFamily="34" charset="0"/>
                          <a:ea typeface="Arial" pitchFamily="34" charset="-122"/>
                          <a:cs typeface="Arial" pitchFamily="34" charset="-120"/>
                        </a:rPr>
                        <a:t>(عدد الأسطر)</a:t>
                      </a:r>
                      <a:endParaRPr lang="ar-SA" sz="10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137A7F"/>
                    </a:solidFill>
                  </a:tcPr>
                </a:tc>
                <a:tc vMerge="1">
                  <a:tcPr/>
                </a:tc>
              </a:tr>
              <a:tr h="566928">
                <a:tc>
                  <a:txBody>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مبتدئ</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D9982B"/>
                    </a:solidFill>
                  </a:tcPr>
                </a:tc>
                <a:tc>
                  <a:txBody>
                    <a:bodyPr/>
                    <a:lstStyle/>
                    <a:p>
                      <a:pPr rtl="1" algn="ctr" indent="0" marL="0">
                        <a:buNone/>
                      </a:pPr>
                      <a:r>
                        <a:rPr lang="ar-SA" altLang="en-US" sz="1100" b="1" dirty="0">
                          <a:solidFill>
                            <a:srgbClr val="0B3B3C"/>
                          </a:solidFill>
                          <a:latin typeface="Arial" pitchFamily="34" charset="0"/>
                          <a:ea typeface="Arial" pitchFamily="34" charset="-122"/>
                          <a:cs typeface="Arial" pitchFamily="34" charset="-120"/>
                        </a:rPr>
                        <a:t>1</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قراءة الحروف</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1</a:t>
                      </a:r>
                      <a:endParaRPr lang="ar-SA" sz="1100" dirty="0">
                        <a:latin typeface="Arial" charset="0"/>
                        <a:ea typeface="Arial" charset="0"/>
                        <a:cs typeface="Arial" charset="0"/>
                      </a:endParaRPr>
                    </a:p>
                    <a:p>
                      <a:pPr rtl="1" algn="ctr" indent="0" marL="0">
                        <a:buNone/>
                      </a:pPr>
                      <a:r>
                        <a:rPr lang="ar-SA" altLang="en-US" sz="1100" dirty="0">
                          <a:solidFill>
                            <a:srgbClr val="24403F"/>
                          </a:solidFill>
                          <a:latin typeface="Arial" pitchFamily="34" charset="0"/>
                          <a:ea typeface="Arial" pitchFamily="34" charset="-122"/>
                          <a:cs typeface="Arial" pitchFamily="34" charset="-120"/>
                        </a:rPr>
                        <a:t>(رقم 60)</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1</a:t>
                      </a:r>
                      <a:endParaRPr lang="ar-SA" sz="1100" dirty="0">
                        <a:latin typeface="Arial" charset="0"/>
                        <a:ea typeface="Arial" charset="0"/>
                        <a:cs typeface="Arial" charset="0"/>
                      </a:endParaRPr>
                    </a:p>
                    <a:p>
                      <a:pPr rtl="1" algn="ctr" indent="0" marL="0">
                        <a:buNone/>
                      </a:pPr>
                      <a:r>
                        <a:rPr lang="ar-SA" altLang="en-US" sz="1100" dirty="0">
                          <a:solidFill>
                            <a:srgbClr val="24403F"/>
                          </a:solidFill>
                          <a:latin typeface="Arial" pitchFamily="34" charset="0"/>
                          <a:ea typeface="Arial" pitchFamily="34" charset="-122"/>
                          <a:cs typeface="Arial" pitchFamily="34" charset="-120"/>
                        </a:rPr>
                        <a:t>(سبّح)</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3-5</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في القسم</a:t>
                      </a:r>
                      <a:endParaRPr lang="ar-SA" sz="1100" dirty="0">
                        <a:latin typeface="Arial" charset="0"/>
                        <a:ea typeface="Arial" charset="0"/>
                        <a:cs typeface="Arial" charset="0"/>
                      </a:endParaRPr>
                    </a:p>
                    <a:p>
                      <a:pPr rtl="1" algn="ctr" indent="0" marL="0">
                        <a:buNone/>
                      </a:pPr>
                      <a:r>
                        <a:rPr lang="ar-SA" altLang="en-US" sz="1100" dirty="0">
                          <a:solidFill>
                            <a:srgbClr val="24403F"/>
                          </a:solidFill>
                          <a:latin typeface="Arial" pitchFamily="34" charset="0"/>
                          <a:ea typeface="Arial" pitchFamily="34" charset="-122"/>
                          <a:cs typeface="Arial" pitchFamily="34" charset="-120"/>
                        </a:rPr>
                        <a:t>(ترديد جماعي)</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566928">
                <a:tc rowSpan="2">
                  <a:txBody>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متوسط</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2E7BA6"/>
                    </a:solidFill>
                  </a:tcPr>
                </a:tc>
                <a:tc>
                  <a:txBody>
                    <a:bodyPr/>
                    <a:lstStyle/>
                    <a:p>
                      <a:pPr rtl="1" algn="ctr" indent="0" marL="0">
                        <a:buNone/>
                      </a:pPr>
                      <a:r>
                        <a:rPr lang="ar-SA" altLang="en-US" sz="1100" b="1" dirty="0">
                          <a:solidFill>
                            <a:srgbClr val="0B3B3C"/>
                          </a:solidFill>
                          <a:latin typeface="Arial" pitchFamily="34" charset="0"/>
                          <a:ea typeface="Arial" pitchFamily="34" charset="-122"/>
                          <a:cs typeface="Arial" pitchFamily="34" charset="-120"/>
                        </a:rPr>
                        <a:t>2</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1</a:t>
                      </a:r>
                      <a:endParaRPr lang="ar-SA" sz="1100" dirty="0">
                        <a:latin typeface="Arial" charset="0"/>
                        <a:ea typeface="Arial" charset="0"/>
                        <a:cs typeface="Arial" charset="0"/>
                      </a:endParaRPr>
                    </a:p>
                    <a:p>
                      <a:pPr rtl="1" algn="ctr" indent="0" marL="0">
                        <a:buNone/>
                      </a:pPr>
                      <a:r>
                        <a:rPr lang="ar-SA" altLang="en-US" sz="1100" dirty="0">
                          <a:solidFill>
                            <a:srgbClr val="24403F"/>
                          </a:solidFill>
                          <a:latin typeface="Arial" pitchFamily="34" charset="0"/>
                          <a:ea typeface="Arial" pitchFamily="34" charset="-122"/>
                          <a:cs typeface="Arial" pitchFamily="34" charset="-120"/>
                        </a:rPr>
                        <a:t>(سبّح)</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1</a:t>
                      </a:r>
                      <a:endParaRPr lang="ar-SA" sz="1100" dirty="0">
                        <a:latin typeface="Arial" charset="0"/>
                        <a:ea typeface="Arial" charset="0"/>
                        <a:cs typeface="Arial" charset="0"/>
                      </a:endParaRPr>
                    </a:p>
                    <a:p>
                      <a:pPr rtl="1" algn="ctr" indent="0" marL="0">
                        <a:buNone/>
                      </a:pPr>
                      <a:r>
                        <a:rPr lang="ar-SA" altLang="en-US" sz="1100" dirty="0">
                          <a:solidFill>
                            <a:srgbClr val="24403F"/>
                          </a:solidFill>
                          <a:latin typeface="Arial" pitchFamily="34" charset="0"/>
                          <a:ea typeface="Arial" pitchFamily="34" charset="-122"/>
                          <a:cs typeface="Arial" pitchFamily="34" charset="-120"/>
                        </a:rPr>
                        <a:t>(رقم 59)</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2</a:t>
                      </a:r>
                      <a:endParaRPr lang="ar-SA" sz="1100" dirty="0">
                        <a:latin typeface="Arial" charset="0"/>
                        <a:ea typeface="Arial" charset="0"/>
                        <a:cs typeface="Arial" charset="0"/>
                      </a:endParaRPr>
                    </a:p>
                    <a:p>
                      <a:pPr rtl="1" algn="ctr" indent="0" marL="0">
                        <a:buNone/>
                      </a:pPr>
                      <a:r>
                        <a:rPr lang="ar-SA" altLang="en-US" sz="1100" dirty="0">
                          <a:solidFill>
                            <a:srgbClr val="24403F"/>
                          </a:solidFill>
                          <a:latin typeface="Arial" pitchFamily="34" charset="0"/>
                          <a:ea typeface="Arial" pitchFamily="34" charset="-122"/>
                          <a:cs typeface="Arial" pitchFamily="34" charset="-120"/>
                        </a:rPr>
                        <a:t>(عمّ)</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3-5</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&lt; 1</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في البيت</a:t>
                      </a:r>
                      <a:endParaRPr lang="ar-SA" sz="1100" dirty="0">
                        <a:latin typeface="Arial" charset="0"/>
                        <a:ea typeface="Arial" charset="0"/>
                        <a:cs typeface="Arial" charset="0"/>
                      </a:endParaRPr>
                    </a:p>
                    <a:p>
                      <a:pPr rtl="1" algn="ctr" indent="0" marL="0">
                        <a:buNone/>
                      </a:pPr>
                      <a:r>
                        <a:rPr lang="ar-SA" altLang="en-US" sz="1100" dirty="0">
                          <a:solidFill>
                            <a:srgbClr val="24403F"/>
                          </a:solidFill>
                          <a:latin typeface="Arial" pitchFamily="34" charset="0"/>
                          <a:ea typeface="Arial" pitchFamily="34" charset="-122"/>
                          <a:cs typeface="Arial" pitchFamily="34" charset="-120"/>
                        </a:rPr>
                        <a:t>(شبه مستقل)</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566928">
                <a:tc vMerge="1">
                  <a:tcPr/>
                </a:tc>
                <a:tc>
                  <a:txBody>
                    <a:bodyPr/>
                    <a:lstStyle/>
                    <a:p>
                      <a:pPr rtl="1" algn="ctr" indent="0" marL="0">
                        <a:buNone/>
                      </a:pPr>
                      <a:r>
                        <a:rPr lang="ar-SA" altLang="en-US" sz="1100" b="1" dirty="0">
                          <a:solidFill>
                            <a:srgbClr val="0B3B3C"/>
                          </a:solidFill>
                          <a:latin typeface="Arial" pitchFamily="34" charset="0"/>
                          <a:ea typeface="Arial" pitchFamily="34" charset="-122"/>
                          <a:cs typeface="Arial" pitchFamily="34" charset="-120"/>
                        </a:rPr>
                        <a:t>3</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2</a:t>
                      </a:r>
                      <a:endParaRPr lang="ar-SA" sz="1100" dirty="0">
                        <a:latin typeface="Arial" charset="0"/>
                        <a:ea typeface="Arial" charset="0"/>
                        <a:cs typeface="Arial" charset="0"/>
                      </a:endParaRPr>
                    </a:p>
                    <a:p>
                      <a:pPr rtl="1" algn="ctr" indent="0" marL="0">
                        <a:buNone/>
                      </a:pPr>
                      <a:r>
                        <a:rPr lang="ar-SA" altLang="en-US" sz="1100" dirty="0">
                          <a:solidFill>
                            <a:srgbClr val="24403F"/>
                          </a:solidFill>
                          <a:latin typeface="Arial" pitchFamily="34" charset="0"/>
                          <a:ea typeface="Arial" pitchFamily="34" charset="-122"/>
                          <a:cs typeface="Arial" pitchFamily="34" charset="-120"/>
                        </a:rPr>
                        <a:t>(عمّ)</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2</a:t>
                      </a:r>
                      <a:endParaRPr lang="ar-SA" sz="1100" dirty="0">
                        <a:latin typeface="Arial" charset="0"/>
                        <a:ea typeface="Arial" charset="0"/>
                        <a:cs typeface="Arial" charset="0"/>
                      </a:endParaRPr>
                    </a:p>
                    <a:p>
                      <a:pPr rtl="1" algn="ctr" indent="0" marL="0">
                        <a:buNone/>
                      </a:pPr>
                      <a:r>
                        <a:rPr lang="ar-SA" altLang="en-US" sz="1100" dirty="0">
                          <a:solidFill>
                            <a:srgbClr val="24403F"/>
                          </a:solidFill>
                          <a:latin typeface="Arial" pitchFamily="34" charset="0"/>
                          <a:ea typeface="Arial" pitchFamily="34" charset="-122"/>
                          <a:cs typeface="Arial" pitchFamily="34" charset="-120"/>
                        </a:rPr>
                        <a:t>(رقم 58 + 57)</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4</a:t>
                      </a:r>
                      <a:endParaRPr lang="ar-SA" sz="1100" dirty="0">
                        <a:latin typeface="Arial" charset="0"/>
                        <a:ea typeface="Arial" charset="0"/>
                        <a:cs typeface="Arial" charset="0"/>
                      </a:endParaRPr>
                    </a:p>
                    <a:p>
                      <a:pPr rtl="1" algn="ctr" indent="0" marL="0">
                        <a:buNone/>
                      </a:pPr>
                      <a:r>
                        <a:rPr lang="ar-SA" altLang="en-US" sz="1100" dirty="0">
                          <a:solidFill>
                            <a:srgbClr val="24403F"/>
                          </a:solidFill>
                          <a:latin typeface="Arial" pitchFamily="34" charset="0"/>
                          <a:ea typeface="Arial" pitchFamily="34" charset="-122"/>
                          <a:cs typeface="Arial" pitchFamily="34" charset="-120"/>
                        </a:rPr>
                        <a:t>(تبارك)</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7-10</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&lt; 2</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في البيت (مستقل)</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566928">
                <a:tc rowSpan="3">
                  <a:txBody>
                    <a:bodyPr/>
                    <a:lstStyle/>
                    <a:p>
                      <a:pPr rtl="1" algn="ctr" indent="0" marL="0">
                        <a:buNone/>
                      </a:pPr>
                      <a:r>
                        <a:rPr lang="ar-SA" altLang="en-US" sz="1100" b="1" dirty="0">
                          <a:solidFill>
                            <a:srgbClr val="FFFFFF"/>
                          </a:solidFill>
                          <a:latin typeface="Arial" pitchFamily="34" charset="0"/>
                          <a:ea typeface="Arial" pitchFamily="34" charset="-122"/>
                          <a:cs typeface="Arial" pitchFamily="34" charset="-120"/>
                        </a:rPr>
                        <a:t>متقدّم</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9E3B4E"/>
                    </a:solidFill>
                  </a:tcPr>
                </a:tc>
                <a:tc>
                  <a:txBody>
                    <a:bodyPr/>
                    <a:lstStyle/>
                    <a:p>
                      <a:pPr rtl="1" algn="ctr" indent="0" marL="0">
                        <a:buNone/>
                      </a:pPr>
                      <a:r>
                        <a:rPr lang="ar-SA" altLang="en-US" sz="1100" b="1" dirty="0">
                          <a:solidFill>
                            <a:srgbClr val="0B3B3C"/>
                          </a:solidFill>
                          <a:latin typeface="Arial" pitchFamily="34" charset="0"/>
                          <a:ea typeface="Arial" pitchFamily="34" charset="-122"/>
                          <a:cs typeface="Arial" pitchFamily="34" charset="-120"/>
                        </a:rPr>
                        <a:t>4</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4</a:t>
                      </a:r>
                      <a:endParaRPr lang="ar-SA" sz="1100" dirty="0">
                        <a:latin typeface="Arial" charset="0"/>
                        <a:ea typeface="Arial" charset="0"/>
                        <a:cs typeface="Arial" charset="0"/>
                      </a:endParaRPr>
                    </a:p>
                    <a:p>
                      <a:pPr rtl="1" algn="ctr" indent="0" marL="0">
                        <a:buNone/>
                      </a:pPr>
                      <a:r>
                        <a:rPr lang="ar-SA" altLang="en-US" sz="1100" dirty="0">
                          <a:solidFill>
                            <a:srgbClr val="24403F"/>
                          </a:solidFill>
                          <a:latin typeface="Arial" pitchFamily="34" charset="0"/>
                          <a:ea typeface="Arial" pitchFamily="34" charset="-122"/>
                          <a:cs typeface="Arial" pitchFamily="34" charset="-120"/>
                        </a:rPr>
                        <a:t>(تبارك)</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4</a:t>
                      </a:r>
                      <a:endParaRPr lang="ar-SA" sz="1100" dirty="0">
                        <a:latin typeface="Arial" charset="0"/>
                        <a:ea typeface="Arial" charset="0"/>
                        <a:cs typeface="Arial" charset="0"/>
                      </a:endParaRPr>
                    </a:p>
                    <a:p>
                      <a:pPr rtl="1" algn="ctr" indent="0" marL="0">
                        <a:buNone/>
                      </a:pPr>
                      <a:r>
                        <a:rPr lang="ar-SA" altLang="en-US" sz="1100" dirty="0">
                          <a:solidFill>
                            <a:srgbClr val="24403F"/>
                          </a:solidFill>
                          <a:latin typeface="Arial" pitchFamily="34" charset="0"/>
                          <a:ea typeface="Arial" pitchFamily="34" charset="-122"/>
                          <a:cs typeface="Arial" pitchFamily="34" charset="-120"/>
                        </a:rPr>
                        <a:t>(رقم 56 - 52)</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8</a:t>
                      </a:r>
                      <a:endParaRPr lang="ar-SA" sz="1100" dirty="0">
                        <a:latin typeface="Arial" charset="0"/>
                        <a:ea typeface="Arial" charset="0"/>
                        <a:cs typeface="Arial" charset="0"/>
                      </a:endParaRPr>
                    </a:p>
                    <a:p>
                      <a:pPr rtl="1" algn="ctr" indent="0" marL="0">
                        <a:buNone/>
                      </a:pPr>
                      <a:r>
                        <a:rPr lang="ar-SA" altLang="en-US" sz="1100" dirty="0">
                          <a:solidFill>
                            <a:srgbClr val="24403F"/>
                          </a:solidFill>
                          <a:latin typeface="Arial" pitchFamily="34" charset="0"/>
                          <a:ea typeface="Arial" pitchFamily="34" charset="-122"/>
                          <a:cs typeface="Arial" pitchFamily="34" charset="-120"/>
                        </a:rPr>
                        <a:t>(الذاريات)</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15-20</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&lt; 3</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في البيت</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566928">
                <a:tc vMerge="1">
                  <a:tcPr/>
                </a:tc>
                <a:tc>
                  <a:txBody>
                    <a:bodyPr/>
                    <a:lstStyle/>
                    <a:p>
                      <a:pPr rtl="1" algn="ctr" indent="0" marL="0">
                        <a:buNone/>
                      </a:pPr>
                      <a:r>
                        <a:rPr lang="ar-SA" altLang="en-US" sz="1100" b="1" dirty="0">
                          <a:solidFill>
                            <a:srgbClr val="0B3B3C"/>
                          </a:solidFill>
                          <a:latin typeface="Arial" pitchFamily="34" charset="0"/>
                          <a:ea typeface="Arial" pitchFamily="34" charset="-122"/>
                          <a:cs typeface="Arial" pitchFamily="34" charset="-120"/>
                        </a:rPr>
                        <a:t>5</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8</a:t>
                      </a:r>
                      <a:endParaRPr lang="ar-SA" sz="1100" dirty="0">
                        <a:latin typeface="Arial" charset="0"/>
                        <a:ea typeface="Arial" charset="0"/>
                        <a:cs typeface="Arial" charset="0"/>
                      </a:endParaRPr>
                    </a:p>
                    <a:p>
                      <a:pPr rtl="1" algn="ctr" indent="0" marL="0">
                        <a:buNone/>
                      </a:pPr>
                      <a:r>
                        <a:rPr lang="ar-SA" altLang="en-US" sz="1100" dirty="0">
                          <a:solidFill>
                            <a:srgbClr val="24403F"/>
                          </a:solidFill>
                          <a:latin typeface="Arial" pitchFamily="34" charset="0"/>
                          <a:ea typeface="Arial" pitchFamily="34" charset="-122"/>
                          <a:cs typeface="Arial" pitchFamily="34" charset="-120"/>
                        </a:rPr>
                        <a:t>(الذاريات)</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4</a:t>
                      </a:r>
                      <a:endParaRPr lang="ar-SA" sz="1100" dirty="0">
                        <a:latin typeface="Arial" charset="0"/>
                        <a:ea typeface="Arial" charset="0"/>
                        <a:cs typeface="Arial" charset="0"/>
                      </a:endParaRPr>
                    </a:p>
                    <a:p>
                      <a:pPr rtl="1" algn="ctr" indent="0" marL="0">
                        <a:buNone/>
                      </a:pPr>
                      <a:r>
                        <a:rPr lang="ar-SA" altLang="en-US" sz="1100" dirty="0">
                          <a:solidFill>
                            <a:srgbClr val="24403F"/>
                          </a:solidFill>
                          <a:latin typeface="Arial" pitchFamily="34" charset="0"/>
                          <a:ea typeface="Arial" pitchFamily="34" charset="-122"/>
                          <a:cs typeface="Arial" pitchFamily="34" charset="-120"/>
                        </a:rPr>
                        <a:t>(رقم 51 - 48)</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12</a:t>
                      </a:r>
                      <a:endParaRPr lang="ar-SA" sz="1100" dirty="0">
                        <a:latin typeface="Arial" charset="0"/>
                        <a:ea typeface="Arial" charset="0"/>
                        <a:cs typeface="Arial" charset="0"/>
                      </a:endParaRPr>
                    </a:p>
                    <a:p>
                      <a:pPr rtl="1" algn="ctr" indent="0" marL="0">
                        <a:buNone/>
                      </a:pPr>
                      <a:r>
                        <a:rPr lang="ar-SA" altLang="en-US" sz="1100" dirty="0">
                          <a:solidFill>
                            <a:srgbClr val="24403F"/>
                          </a:solidFill>
                          <a:latin typeface="Arial" pitchFamily="34" charset="0"/>
                          <a:ea typeface="Arial" pitchFamily="34" charset="-122"/>
                          <a:cs typeface="Arial" pitchFamily="34" charset="-120"/>
                        </a:rPr>
                        <a:t>(الشورى)</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15-20</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&lt; 3</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في البيت</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566928">
                <a:tc vMerge="1">
                  <a:tcPr/>
                </a:tc>
                <a:tc>
                  <a:txBody>
                    <a:bodyPr/>
                    <a:lstStyle/>
                    <a:p>
                      <a:pPr rtl="1" algn="ctr" indent="0" marL="0">
                        <a:buNone/>
                      </a:pPr>
                      <a:r>
                        <a:rPr lang="ar-SA" altLang="en-US" sz="1100" b="1" dirty="0">
                          <a:solidFill>
                            <a:srgbClr val="0B3B3C"/>
                          </a:solidFill>
                          <a:latin typeface="Arial" pitchFamily="34" charset="0"/>
                          <a:ea typeface="Arial" pitchFamily="34" charset="-122"/>
                          <a:cs typeface="Arial" pitchFamily="34" charset="-120"/>
                        </a:rPr>
                        <a:t>6</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12</a:t>
                      </a:r>
                      <a:endParaRPr lang="ar-SA" sz="1100" dirty="0">
                        <a:latin typeface="Arial" charset="0"/>
                        <a:ea typeface="Arial" charset="0"/>
                        <a:cs typeface="Arial" charset="0"/>
                      </a:endParaRPr>
                    </a:p>
                    <a:p>
                      <a:pPr rtl="1" algn="ctr" indent="0" marL="0">
                        <a:buNone/>
                      </a:pPr>
                      <a:r>
                        <a:rPr lang="ar-SA" altLang="en-US" sz="1100" dirty="0">
                          <a:solidFill>
                            <a:srgbClr val="24403F"/>
                          </a:solidFill>
                          <a:latin typeface="Arial" pitchFamily="34" charset="0"/>
                          <a:ea typeface="Arial" pitchFamily="34" charset="-122"/>
                          <a:cs typeface="Arial" pitchFamily="34" charset="-120"/>
                        </a:rPr>
                        <a:t>(الشورى)</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4</a:t>
                      </a:r>
                      <a:endParaRPr lang="ar-SA" sz="1100" dirty="0">
                        <a:latin typeface="Arial" charset="0"/>
                        <a:ea typeface="Arial" charset="0"/>
                        <a:cs typeface="Arial" charset="0"/>
                      </a:endParaRPr>
                    </a:p>
                    <a:p>
                      <a:pPr rtl="1" algn="ctr" indent="0" marL="0">
                        <a:buNone/>
                      </a:pPr>
                      <a:r>
                        <a:rPr lang="ar-SA" altLang="en-US" sz="1100" dirty="0">
                          <a:solidFill>
                            <a:srgbClr val="24403F"/>
                          </a:solidFill>
                          <a:latin typeface="Arial" pitchFamily="34" charset="0"/>
                          <a:ea typeface="Arial" pitchFamily="34" charset="-122"/>
                          <a:cs typeface="Arial" pitchFamily="34" charset="-120"/>
                        </a:rPr>
                        <a:t>(رقم 47 - 44)</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16</a:t>
                      </a:r>
                      <a:endParaRPr lang="ar-SA" sz="1100" dirty="0">
                        <a:latin typeface="Arial" charset="0"/>
                        <a:ea typeface="Arial" charset="0"/>
                        <a:cs typeface="Arial" charset="0"/>
                      </a:endParaRPr>
                    </a:p>
                    <a:p>
                      <a:pPr rtl="1" algn="ctr" indent="0" marL="0">
                        <a:buNone/>
                      </a:pPr>
                      <a:r>
                        <a:rPr lang="ar-SA" altLang="en-US" sz="1100" dirty="0">
                          <a:solidFill>
                            <a:srgbClr val="24403F"/>
                          </a:solidFill>
                          <a:latin typeface="Arial" pitchFamily="34" charset="0"/>
                          <a:ea typeface="Arial" pitchFamily="34" charset="-122"/>
                          <a:cs typeface="Arial" pitchFamily="34" charset="-120"/>
                        </a:rPr>
                        <a:t>(يس)</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15-20</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&lt; 3</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1100" dirty="0">
                          <a:solidFill>
                            <a:srgbClr val="24403F"/>
                          </a:solidFill>
                          <a:latin typeface="Arial" pitchFamily="34" charset="0"/>
                          <a:ea typeface="Arial" pitchFamily="34" charset="-122"/>
                          <a:cs typeface="Arial" pitchFamily="34" charset="-120"/>
                        </a:rPr>
                        <a:t>في البيت</a:t>
                      </a:r>
                      <a:endParaRPr lang="ar-SA" sz="1100" dirty="0">
                        <a:latin typeface="Arial" charset="0"/>
                        <a:ea typeface="Arial" charset="0"/>
                        <a:cs typeface="Arial" charset="0"/>
                      </a:endParaRPr>
                    </a:p>
                  </a:txBody>
                  <a:tcPr marL="36576" marR="36576" marT="36576" marB="36576"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bl>
          </a:graphicData>
        </a:graphic>
      </p:graphicFrame>
      <p:sp>
        <p:nvSpPr>
          <p:cNvPr id="4" name="Text 1"/>
          <p:cNvSpPr/>
          <p:nvPr/>
        </p:nvSpPr>
        <p:spPr>
          <a:xfrm>
            <a:off x="566928" y="6382512"/>
            <a:ext cx="7772400" cy="274320"/>
          </a:xfrm>
          <a:prstGeom prst="rect">
            <a:avLst/>
          </a:prstGeom>
          <a:noFill/>
          <a:ln/>
        </p:spPr>
        <p:txBody>
          <a:bodyPr wrap="square" lIns="0" tIns="0" rIns="0" bIns="0" rtlCol="0" anchor="ctr"/>
          <a:lstStyle/>
          <a:p>
            <a:pPr rtl="1" algn="r" indent="0" marL="0">
              <a:buNone/>
            </a:pPr>
            <a:r>
              <a:rPr lang="ar-SA" altLang="en-US" sz="1000" dirty="0">
                <a:solidFill>
                  <a:srgbClr val="5F7574"/>
                </a:solidFill>
                <a:latin typeface="Arial" pitchFamily="34" charset="0"/>
                <a:ea typeface="Arial" pitchFamily="34" charset="-122"/>
                <a:cs typeface="Arial" pitchFamily="34" charset="-120"/>
              </a:rPr>
              <a:t>عمل حرّ — غير قابل للاستغلال التجاري — bitaqat-hifd-quran.com</a:t>
            </a:r>
            <a:endParaRPr lang="ar-SA" sz="1000" dirty="0"/>
          </a:p>
        </p:txBody>
      </p:sp>
      <p:sp>
        <p:nvSpPr>
          <p:cNvPr id="5" name="Text 2"/>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Arial" pitchFamily="34" charset="0"/>
                <a:ea typeface="Arial" pitchFamily="34" charset="-122"/>
                <a:cs typeface="Arial" pitchFamily="34" charset="-120"/>
              </a:rPr>
              <a:t>7</a:t>
            </a:r>
            <a:endParaRPr lang="ar-SA" alt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rtl="1" algn="r" indent="0" marL="0">
              <a:buNone/>
            </a:pPr>
            <a:r>
              <a:rPr lang="ar-SA" altLang="en-US" sz="3200" b="1" dirty="0">
                <a:solidFill>
                  <a:srgbClr val="0B3B3C"/>
                </a:solidFill>
                <a:latin typeface="Arial" pitchFamily="34" charset="0"/>
                <a:ea typeface="Arial" pitchFamily="34" charset="-122"/>
                <a:cs typeface="Arial" pitchFamily="34" charset="-120"/>
              </a:rPr>
              <a:t>بطاقة التسميع</a:t>
            </a:r>
            <a:endParaRPr lang="ar-SA" sz="3200" dirty="0"/>
          </a:p>
        </p:txBody>
      </p:sp>
      <p:sp>
        <p:nvSpPr>
          <p:cNvPr id="3" name="Text 1"/>
          <p:cNvSpPr/>
          <p:nvPr/>
        </p:nvSpPr>
        <p:spPr>
          <a:xfrm>
            <a:off x="566928" y="914400"/>
            <a:ext cx="11045952" cy="329184"/>
          </a:xfrm>
          <a:prstGeom prst="rect">
            <a:avLst/>
          </a:prstGeom>
          <a:noFill/>
          <a:ln/>
        </p:spPr>
        <p:txBody>
          <a:bodyPr wrap="square" lIns="0" tIns="0" rIns="0" bIns="0" rtlCol="0" anchor="ctr"/>
          <a:lstStyle/>
          <a:p>
            <a:pPr rtl="1" algn="r" indent="0" marL="0">
              <a:buNone/>
            </a:pPr>
            <a:r>
              <a:rPr lang="ar-SA" altLang="en-US" sz="1500" dirty="0">
                <a:solidFill>
                  <a:srgbClr val="137A7F"/>
                </a:solidFill>
                <a:latin typeface="Arial" pitchFamily="34" charset="0"/>
                <a:ea typeface="Arial" pitchFamily="34" charset="-122"/>
                <a:cs typeface="Arial" pitchFamily="34" charset="-120"/>
              </a:rPr>
              <a:t>التطبيق</a:t>
            </a:r>
            <a:endParaRPr lang="ar-SA" sz="1500" dirty="0"/>
          </a:p>
        </p:txBody>
      </p:sp>
      <p:sp>
        <p:nvSpPr>
          <p:cNvPr id="4" name="Shape 2"/>
          <p:cNvSpPr/>
          <p:nvPr/>
        </p:nvSpPr>
        <p:spPr>
          <a:xfrm>
            <a:off x="9181948" y="1965960"/>
            <a:ext cx="2606040" cy="2514600"/>
          </a:xfrm>
          <a:prstGeom prst="roundRect">
            <a:avLst>
              <a:gd name="adj" fmla="val 4364"/>
            </a:avLst>
          </a:prstGeom>
          <a:solidFill>
            <a:srgbClr val="EAF4F2"/>
          </a:solidFill>
          <a:ln w="12700">
            <a:solidFill>
              <a:srgbClr val="EAF4F2"/>
            </a:solidFill>
            <a:prstDash val="solid"/>
          </a:ln>
          <a:effectLst>
            <a:outerShdw sx="100000" sy="100000" kx="0" ky="0" algn="bl" rotWithShape="0" blurRad="101600" dist="25400" dir="5400000">
              <a:srgbClr val="0B3B3C">
                <a:alpha val="10000"/>
              </a:srgbClr>
            </a:outerShdw>
          </a:effectLst>
        </p:spPr>
      </p:sp>
      <p:sp>
        <p:nvSpPr>
          <p:cNvPr id="5" name="Shape 3"/>
          <p:cNvSpPr/>
          <p:nvPr/>
        </p:nvSpPr>
        <p:spPr>
          <a:xfrm>
            <a:off x="10128352" y="2286000"/>
            <a:ext cx="713232" cy="713232"/>
          </a:xfrm>
          <a:prstGeom prst="ellipse">
            <a:avLst/>
          </a:prstGeom>
          <a:solidFill>
            <a:srgbClr val="137A7F"/>
          </a:solidFill>
          <a:ln w="12700">
            <a:solidFill>
              <a:srgbClr val="137A7F"/>
            </a:solidFill>
            <a:prstDash val="solid"/>
          </a:ln>
        </p:spPr>
      </p:sp>
      <p:sp>
        <p:nvSpPr>
          <p:cNvPr id="6" name="Text 4"/>
          <p:cNvSpPr/>
          <p:nvPr/>
        </p:nvSpPr>
        <p:spPr>
          <a:xfrm>
            <a:off x="10128352" y="228600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ar-SA" altLang="en-US" sz="2000" dirty="0"/>
          </a:p>
        </p:txBody>
      </p:sp>
      <p:sp>
        <p:nvSpPr>
          <p:cNvPr id="7" name="Text 5"/>
          <p:cNvSpPr/>
          <p:nvPr/>
        </p:nvSpPr>
        <p:spPr>
          <a:xfrm>
            <a:off x="9419692" y="3218688"/>
            <a:ext cx="2130552" cy="1463040"/>
          </a:xfrm>
          <a:prstGeom prst="rect">
            <a:avLst/>
          </a:prstGeom>
          <a:noFill/>
          <a:ln/>
        </p:spPr>
        <p:txBody>
          <a:bodyPr wrap="square" lIns="0" tIns="0" rIns="0" bIns="0" rtlCol="0" anchor="t"/>
          <a:lstStyle/>
          <a:p>
            <a:pPr rtl="1" algn="ctr" indent="0" marL="0">
              <a:buNone/>
            </a:pPr>
            <a:r>
              <a:rPr lang="ar-SA" altLang="en-US" sz="1400" dirty="0">
                <a:solidFill>
                  <a:srgbClr val="24403F"/>
                </a:solidFill>
                <a:latin typeface="Arial" pitchFamily="34" charset="0"/>
                <a:ea typeface="Arial" pitchFamily="34" charset="-122"/>
                <a:cs typeface="Arial" pitchFamily="34" charset="-120"/>
              </a:rPr>
              <a:t>حصر مستوى تقدّم التلاميذ (تمّ إنجازه)</a:t>
            </a:r>
            <a:endParaRPr lang="ar-SA" sz="1400" dirty="0"/>
          </a:p>
        </p:txBody>
      </p:sp>
      <p:sp>
        <p:nvSpPr>
          <p:cNvPr id="8" name="Shape 6"/>
          <p:cNvSpPr/>
          <p:nvPr/>
        </p:nvSpPr>
        <p:spPr>
          <a:xfrm>
            <a:off x="6255868" y="1965960"/>
            <a:ext cx="2606040" cy="2514600"/>
          </a:xfrm>
          <a:prstGeom prst="roundRect">
            <a:avLst>
              <a:gd name="adj" fmla="val 4364"/>
            </a:avLst>
          </a:prstGeom>
          <a:solidFill>
            <a:srgbClr val="EAF4F2"/>
          </a:solidFill>
          <a:ln w="12700">
            <a:solidFill>
              <a:srgbClr val="EAF4F2"/>
            </a:solidFill>
            <a:prstDash val="solid"/>
          </a:ln>
          <a:effectLst>
            <a:outerShdw sx="100000" sy="100000" kx="0" ky="0" algn="bl" rotWithShape="0" blurRad="101600" dist="25400" dir="5400000">
              <a:srgbClr val="0B3B3C">
                <a:alpha val="10000"/>
              </a:srgbClr>
            </a:outerShdw>
          </a:effectLst>
        </p:spPr>
      </p:sp>
      <p:sp>
        <p:nvSpPr>
          <p:cNvPr id="9" name="Shape 7"/>
          <p:cNvSpPr/>
          <p:nvPr/>
        </p:nvSpPr>
        <p:spPr>
          <a:xfrm>
            <a:off x="7202272" y="2286000"/>
            <a:ext cx="713232" cy="713232"/>
          </a:xfrm>
          <a:prstGeom prst="ellipse">
            <a:avLst/>
          </a:prstGeom>
          <a:solidFill>
            <a:srgbClr val="D9982B"/>
          </a:solidFill>
          <a:ln w="12700">
            <a:solidFill>
              <a:srgbClr val="D9982B"/>
            </a:solidFill>
            <a:prstDash val="solid"/>
          </a:ln>
        </p:spPr>
      </p:sp>
      <p:sp>
        <p:nvSpPr>
          <p:cNvPr id="10" name="Text 8"/>
          <p:cNvSpPr/>
          <p:nvPr/>
        </p:nvSpPr>
        <p:spPr>
          <a:xfrm>
            <a:off x="7202272" y="228600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ar-SA" altLang="en-US" sz="2000" dirty="0"/>
          </a:p>
        </p:txBody>
      </p:sp>
      <p:sp>
        <p:nvSpPr>
          <p:cNvPr id="11" name="Text 9"/>
          <p:cNvSpPr/>
          <p:nvPr/>
        </p:nvSpPr>
        <p:spPr>
          <a:xfrm>
            <a:off x="6493612" y="3218688"/>
            <a:ext cx="2130552" cy="1463040"/>
          </a:xfrm>
          <a:prstGeom prst="rect">
            <a:avLst/>
          </a:prstGeom>
          <a:noFill/>
          <a:ln/>
        </p:spPr>
        <p:txBody>
          <a:bodyPr wrap="square" lIns="0" tIns="0" rIns="0" bIns="0" rtlCol="0" anchor="t"/>
          <a:lstStyle/>
          <a:p>
            <a:pPr rtl="1" algn="ctr" indent="0" marL="0">
              <a:buNone/>
            </a:pPr>
            <a:r>
              <a:rPr lang="ar-SA" altLang="en-US" sz="1400" dirty="0">
                <a:solidFill>
                  <a:srgbClr val="24403F"/>
                </a:solidFill>
                <a:latin typeface="Arial" pitchFamily="34" charset="0"/>
                <a:ea typeface="Arial" pitchFamily="34" charset="-122"/>
                <a:cs typeface="Arial" pitchFamily="34" charset="-120"/>
              </a:rPr>
              <a:t>توزيع البطاقات حسب مستويات الحفظ</a:t>
            </a:r>
            <a:endParaRPr lang="ar-SA" sz="1400" dirty="0"/>
          </a:p>
        </p:txBody>
      </p:sp>
      <p:sp>
        <p:nvSpPr>
          <p:cNvPr id="12" name="Shape 10"/>
          <p:cNvSpPr/>
          <p:nvPr/>
        </p:nvSpPr>
        <p:spPr>
          <a:xfrm>
            <a:off x="3329788" y="1965960"/>
            <a:ext cx="2606040" cy="2514600"/>
          </a:xfrm>
          <a:prstGeom prst="roundRect">
            <a:avLst>
              <a:gd name="adj" fmla="val 4364"/>
            </a:avLst>
          </a:prstGeom>
          <a:solidFill>
            <a:srgbClr val="EAF4F2"/>
          </a:solidFill>
          <a:ln w="12700">
            <a:solidFill>
              <a:srgbClr val="EAF4F2"/>
            </a:solidFill>
            <a:prstDash val="solid"/>
          </a:ln>
          <a:effectLst>
            <a:outerShdw sx="100000" sy="100000" kx="0" ky="0" algn="bl" rotWithShape="0" blurRad="101600" dist="25400" dir="5400000">
              <a:srgbClr val="0B3B3C">
                <a:alpha val="10000"/>
              </a:srgbClr>
            </a:outerShdw>
          </a:effectLst>
        </p:spPr>
      </p:sp>
      <p:sp>
        <p:nvSpPr>
          <p:cNvPr id="13" name="Shape 11"/>
          <p:cNvSpPr/>
          <p:nvPr/>
        </p:nvSpPr>
        <p:spPr>
          <a:xfrm>
            <a:off x="4276192" y="2286000"/>
            <a:ext cx="713232" cy="713232"/>
          </a:xfrm>
          <a:prstGeom prst="ellipse">
            <a:avLst/>
          </a:prstGeom>
          <a:solidFill>
            <a:srgbClr val="2E7BA6"/>
          </a:solidFill>
          <a:ln w="12700">
            <a:solidFill>
              <a:srgbClr val="2E7BA6"/>
            </a:solidFill>
            <a:prstDash val="solid"/>
          </a:ln>
        </p:spPr>
      </p:sp>
      <p:sp>
        <p:nvSpPr>
          <p:cNvPr id="14" name="Text 12"/>
          <p:cNvSpPr/>
          <p:nvPr/>
        </p:nvSpPr>
        <p:spPr>
          <a:xfrm>
            <a:off x="4276192" y="228600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ar-SA" altLang="en-US" sz="2000" dirty="0"/>
          </a:p>
        </p:txBody>
      </p:sp>
      <p:sp>
        <p:nvSpPr>
          <p:cNvPr id="15" name="Text 13"/>
          <p:cNvSpPr/>
          <p:nvPr/>
        </p:nvSpPr>
        <p:spPr>
          <a:xfrm>
            <a:off x="3567532" y="3218688"/>
            <a:ext cx="2130552" cy="1463040"/>
          </a:xfrm>
          <a:prstGeom prst="rect">
            <a:avLst/>
          </a:prstGeom>
          <a:noFill/>
          <a:ln/>
        </p:spPr>
        <p:txBody>
          <a:bodyPr wrap="square" lIns="0" tIns="0" rIns="0" bIns="0" rtlCol="0" anchor="t"/>
          <a:lstStyle/>
          <a:p>
            <a:pPr rtl="1" algn="ctr" indent="0" marL="0">
              <a:buNone/>
            </a:pPr>
            <a:r>
              <a:rPr lang="ar-SA" altLang="en-US" sz="1400" dirty="0">
                <a:solidFill>
                  <a:srgbClr val="24403F"/>
                </a:solidFill>
                <a:latin typeface="Arial" pitchFamily="34" charset="0"/>
                <a:ea typeface="Arial" pitchFamily="34" charset="-122"/>
                <a:cs typeface="Arial" pitchFamily="34" charset="-120"/>
              </a:rPr>
              <a:t>وضع برنامج فردي للمراجعة وتدارك المستوى</a:t>
            </a:r>
            <a:endParaRPr lang="ar-SA" sz="1400" dirty="0"/>
          </a:p>
        </p:txBody>
      </p:sp>
      <p:sp>
        <p:nvSpPr>
          <p:cNvPr id="16" name="Shape 14"/>
          <p:cNvSpPr/>
          <p:nvPr/>
        </p:nvSpPr>
        <p:spPr>
          <a:xfrm>
            <a:off x="403708" y="1965960"/>
            <a:ext cx="2606040" cy="2514600"/>
          </a:xfrm>
          <a:prstGeom prst="roundRect">
            <a:avLst>
              <a:gd name="adj" fmla="val 4364"/>
            </a:avLst>
          </a:prstGeom>
          <a:solidFill>
            <a:srgbClr val="EAF4F2"/>
          </a:solidFill>
          <a:ln w="12700">
            <a:solidFill>
              <a:srgbClr val="EAF4F2"/>
            </a:solidFill>
            <a:prstDash val="solid"/>
          </a:ln>
          <a:effectLst>
            <a:outerShdw sx="100000" sy="100000" kx="0" ky="0" algn="bl" rotWithShape="0" blurRad="101600" dist="25400" dir="5400000">
              <a:srgbClr val="0B3B3C">
                <a:alpha val="10000"/>
              </a:srgbClr>
            </a:outerShdw>
          </a:effectLst>
        </p:spPr>
      </p:sp>
      <p:sp>
        <p:nvSpPr>
          <p:cNvPr id="17" name="Shape 15"/>
          <p:cNvSpPr/>
          <p:nvPr/>
        </p:nvSpPr>
        <p:spPr>
          <a:xfrm>
            <a:off x="1350112" y="2286000"/>
            <a:ext cx="713232" cy="713232"/>
          </a:xfrm>
          <a:prstGeom prst="ellipse">
            <a:avLst/>
          </a:prstGeom>
          <a:solidFill>
            <a:srgbClr val="9E3B4E"/>
          </a:solidFill>
          <a:ln w="12700">
            <a:solidFill>
              <a:srgbClr val="9E3B4E"/>
            </a:solidFill>
            <a:prstDash val="solid"/>
          </a:ln>
        </p:spPr>
      </p:sp>
      <p:sp>
        <p:nvSpPr>
          <p:cNvPr id="18" name="Text 16"/>
          <p:cNvSpPr/>
          <p:nvPr/>
        </p:nvSpPr>
        <p:spPr>
          <a:xfrm>
            <a:off x="1350112" y="2286000"/>
            <a:ext cx="713232" cy="713232"/>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ar-SA" altLang="en-US" sz="2000" dirty="0"/>
          </a:p>
        </p:txBody>
      </p:sp>
      <p:sp>
        <p:nvSpPr>
          <p:cNvPr id="19" name="Text 17"/>
          <p:cNvSpPr/>
          <p:nvPr/>
        </p:nvSpPr>
        <p:spPr>
          <a:xfrm>
            <a:off x="641452" y="3218688"/>
            <a:ext cx="2130552" cy="1463040"/>
          </a:xfrm>
          <a:prstGeom prst="rect">
            <a:avLst/>
          </a:prstGeom>
          <a:noFill/>
          <a:ln/>
        </p:spPr>
        <p:txBody>
          <a:bodyPr wrap="square" lIns="0" tIns="0" rIns="0" bIns="0" rtlCol="0" anchor="t"/>
          <a:lstStyle/>
          <a:p>
            <a:pPr rtl="1" algn="ctr" indent="0" marL="0">
              <a:buNone/>
            </a:pPr>
            <a:r>
              <a:rPr lang="ar-SA" altLang="en-US" sz="1400" dirty="0">
                <a:solidFill>
                  <a:srgbClr val="24403F"/>
                </a:solidFill>
                <a:latin typeface="Arial" pitchFamily="34" charset="0"/>
                <a:ea typeface="Arial" pitchFamily="34" charset="-122"/>
                <a:cs typeface="Arial" pitchFamily="34" charset="-120"/>
              </a:rPr>
              <a:t>بطاقة خاصة للتلاميذ ذوي الحالات الاستثنائية</a:t>
            </a:r>
            <a:endParaRPr lang="ar-SA" sz="1400" dirty="0"/>
          </a:p>
        </p:txBody>
      </p:sp>
      <p:sp>
        <p:nvSpPr>
          <p:cNvPr id="20" name="Text 18"/>
          <p:cNvSpPr/>
          <p:nvPr/>
        </p:nvSpPr>
        <p:spPr>
          <a:xfrm>
            <a:off x="566928" y="6382512"/>
            <a:ext cx="7772400" cy="274320"/>
          </a:xfrm>
          <a:prstGeom prst="rect">
            <a:avLst/>
          </a:prstGeom>
          <a:noFill/>
          <a:ln/>
        </p:spPr>
        <p:txBody>
          <a:bodyPr wrap="square" lIns="0" tIns="0" rIns="0" bIns="0" rtlCol="0" anchor="ctr"/>
          <a:lstStyle/>
          <a:p>
            <a:pPr rtl="1" algn="r" indent="0" marL="0">
              <a:buNone/>
            </a:pPr>
            <a:r>
              <a:rPr lang="ar-SA" altLang="en-US" sz="1000" dirty="0">
                <a:solidFill>
                  <a:srgbClr val="5F7574"/>
                </a:solidFill>
                <a:latin typeface="Arial" pitchFamily="34" charset="0"/>
                <a:ea typeface="Arial" pitchFamily="34" charset="-122"/>
                <a:cs typeface="Arial" pitchFamily="34" charset="-120"/>
              </a:rPr>
              <a:t>عمل حرّ — غير قابل للاستغلال التجاري — bitaqat-hifd-quran.com</a:t>
            </a:r>
            <a:endParaRPr lang="ar-SA" sz="1000" dirty="0"/>
          </a:p>
        </p:txBody>
      </p:sp>
      <p:sp>
        <p:nvSpPr>
          <p:cNvPr id="21" name="Text 19"/>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Arial" pitchFamily="34" charset="0"/>
                <a:ea typeface="Arial" pitchFamily="34" charset="-122"/>
                <a:cs typeface="Arial" pitchFamily="34" charset="-120"/>
              </a:rPr>
              <a:t>8</a:t>
            </a:r>
            <a:endParaRPr lang="ar-SA" alt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rtl="1" algn="r" indent="0" marL="0">
              <a:buNone/>
            </a:pPr>
            <a:r>
              <a:rPr lang="ar-SA" altLang="en-US" sz="3200" b="1" dirty="0">
                <a:solidFill>
                  <a:srgbClr val="0B3B3C"/>
                </a:solidFill>
                <a:latin typeface="Arial" pitchFamily="34" charset="0"/>
                <a:ea typeface="Arial" pitchFamily="34" charset="-122"/>
                <a:cs typeface="Arial" pitchFamily="34" charset="-120"/>
              </a:rPr>
              <a:t>تنظيم الدروس</a:t>
            </a:r>
            <a:endParaRPr lang="ar-SA" sz="3200" dirty="0"/>
          </a:p>
        </p:txBody>
      </p:sp>
      <p:graphicFrame>
        <p:nvGraphicFramePr>
          <p:cNvPr id="3" name="Chart 0" descr=""/>
          <p:cNvGraphicFramePr/>
          <p:nvPr/>
        </p:nvGraphicFramePr>
        <p:xfrm>
          <a:off x="502920" y="1554480"/>
          <a:ext cx="4389120" cy="420624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5120640" y="1664208"/>
            <a:ext cx="6510528" cy="566928"/>
          </a:xfrm>
          <a:prstGeom prst="roundRect">
            <a:avLst>
              <a:gd name="adj" fmla="val 16129"/>
            </a:avLst>
          </a:prstGeom>
          <a:solidFill>
            <a:srgbClr val="EAF4F2"/>
          </a:solidFill>
          <a:ln w="12700">
            <a:solidFill>
              <a:srgbClr val="D5E7E4"/>
            </a:solidFill>
            <a:prstDash val="solid"/>
          </a:ln>
        </p:spPr>
      </p:sp>
      <p:sp>
        <p:nvSpPr>
          <p:cNvPr id="5" name="Shape 2"/>
          <p:cNvSpPr/>
          <p:nvPr/>
        </p:nvSpPr>
        <p:spPr>
          <a:xfrm>
            <a:off x="11210544" y="1837944"/>
            <a:ext cx="219456" cy="219456"/>
          </a:xfrm>
          <a:prstGeom prst="ellipse">
            <a:avLst/>
          </a:prstGeom>
          <a:solidFill>
            <a:srgbClr val="137A7F"/>
          </a:solidFill>
          <a:ln w="12700">
            <a:solidFill>
              <a:srgbClr val="137A7F"/>
            </a:solidFill>
            <a:prstDash val="solid"/>
          </a:ln>
        </p:spPr>
      </p:sp>
      <p:sp>
        <p:nvSpPr>
          <p:cNvPr id="6" name="Text 3"/>
          <p:cNvSpPr/>
          <p:nvPr/>
        </p:nvSpPr>
        <p:spPr>
          <a:xfrm>
            <a:off x="6272784" y="1664208"/>
            <a:ext cx="4572000" cy="566928"/>
          </a:xfrm>
          <a:prstGeom prst="rect">
            <a:avLst/>
          </a:prstGeom>
          <a:noFill/>
          <a:ln/>
        </p:spPr>
        <p:txBody>
          <a:bodyPr wrap="square" lIns="0" tIns="0" rIns="0" bIns="0" rtlCol="0" anchor="ctr"/>
          <a:lstStyle/>
          <a:p>
            <a:pPr rtl="1" algn="r" indent="0" marL="0">
              <a:buNone/>
            </a:pPr>
            <a:r>
              <a:rPr lang="ar-SA" altLang="en-US" sz="1400" b="1" dirty="0">
                <a:solidFill>
                  <a:srgbClr val="0B3B3C"/>
                </a:solidFill>
                <a:latin typeface="Arial" pitchFamily="34" charset="0"/>
                <a:ea typeface="Arial" pitchFamily="34" charset="-122"/>
                <a:cs typeface="Arial" pitchFamily="34" charset="-120"/>
              </a:rPr>
              <a:t>التسميع (⁦40%⁩)</a:t>
            </a:r>
            <a:endParaRPr lang="ar-SA" sz="1400" dirty="0"/>
          </a:p>
        </p:txBody>
      </p:sp>
      <p:sp>
        <p:nvSpPr>
          <p:cNvPr id="7" name="Text 4"/>
          <p:cNvSpPr/>
          <p:nvPr/>
        </p:nvSpPr>
        <p:spPr>
          <a:xfrm>
            <a:off x="5321808" y="1664208"/>
            <a:ext cx="1188720" cy="566928"/>
          </a:xfrm>
          <a:prstGeom prst="rect">
            <a:avLst/>
          </a:prstGeom>
          <a:noFill/>
          <a:ln/>
        </p:spPr>
        <p:txBody>
          <a:bodyPr wrap="square" lIns="0" tIns="0" rIns="0" bIns="0" rtlCol="0" anchor="ctr"/>
          <a:lstStyle/>
          <a:p>
            <a:pPr rtl="1" algn="l" indent="0" marL="0">
              <a:buNone/>
            </a:pPr>
            <a:r>
              <a:rPr lang="ar-SA" altLang="en-US" sz="1300" b="1" dirty="0">
                <a:solidFill>
                  <a:srgbClr val="137A7F"/>
                </a:solidFill>
                <a:latin typeface="Arial" pitchFamily="34" charset="0"/>
                <a:ea typeface="Arial" pitchFamily="34" charset="-122"/>
                <a:cs typeface="Arial" pitchFamily="34" charset="-120"/>
              </a:rPr>
              <a:t>الأحد</a:t>
            </a:r>
            <a:endParaRPr lang="ar-SA" sz="1300" dirty="0"/>
          </a:p>
        </p:txBody>
      </p:sp>
      <p:sp>
        <p:nvSpPr>
          <p:cNvPr id="8" name="Shape 5"/>
          <p:cNvSpPr/>
          <p:nvPr/>
        </p:nvSpPr>
        <p:spPr>
          <a:xfrm>
            <a:off x="5120640" y="2322576"/>
            <a:ext cx="6510528" cy="566928"/>
          </a:xfrm>
          <a:prstGeom prst="roundRect">
            <a:avLst>
              <a:gd name="adj" fmla="val 16129"/>
            </a:avLst>
          </a:prstGeom>
          <a:solidFill>
            <a:srgbClr val="EAF4F2"/>
          </a:solidFill>
          <a:ln w="12700">
            <a:solidFill>
              <a:srgbClr val="D5E7E4"/>
            </a:solidFill>
            <a:prstDash val="solid"/>
          </a:ln>
        </p:spPr>
      </p:sp>
      <p:sp>
        <p:nvSpPr>
          <p:cNvPr id="9" name="Shape 6"/>
          <p:cNvSpPr/>
          <p:nvPr/>
        </p:nvSpPr>
        <p:spPr>
          <a:xfrm>
            <a:off x="11210544" y="2496312"/>
            <a:ext cx="219456" cy="219456"/>
          </a:xfrm>
          <a:prstGeom prst="ellipse">
            <a:avLst/>
          </a:prstGeom>
          <a:solidFill>
            <a:srgbClr val="D9982B"/>
          </a:solidFill>
          <a:ln w="12700">
            <a:solidFill>
              <a:srgbClr val="D9982B"/>
            </a:solidFill>
            <a:prstDash val="solid"/>
          </a:ln>
        </p:spPr>
      </p:sp>
      <p:sp>
        <p:nvSpPr>
          <p:cNvPr id="10" name="Text 7"/>
          <p:cNvSpPr/>
          <p:nvPr/>
        </p:nvSpPr>
        <p:spPr>
          <a:xfrm>
            <a:off x="6272784" y="2322576"/>
            <a:ext cx="4572000" cy="566928"/>
          </a:xfrm>
          <a:prstGeom prst="rect">
            <a:avLst/>
          </a:prstGeom>
          <a:noFill/>
          <a:ln/>
        </p:spPr>
        <p:txBody>
          <a:bodyPr wrap="square" lIns="0" tIns="0" rIns="0" bIns="0" rtlCol="0" anchor="ctr"/>
          <a:lstStyle/>
          <a:p>
            <a:pPr rtl="1" algn="r" indent="0" marL="0">
              <a:buNone/>
            </a:pPr>
            <a:r>
              <a:rPr lang="ar-SA" altLang="en-US" sz="1400" b="1" dirty="0">
                <a:solidFill>
                  <a:srgbClr val="0B3B3C"/>
                </a:solidFill>
                <a:latin typeface="Arial" pitchFamily="34" charset="0"/>
                <a:ea typeface="Arial" pitchFamily="34" charset="-122"/>
                <a:cs typeface="Arial" pitchFamily="34" charset="-120"/>
              </a:rPr>
              <a:t>المراجعة (⁦30%⁩)</a:t>
            </a:r>
            <a:endParaRPr lang="ar-SA" sz="1400" dirty="0"/>
          </a:p>
        </p:txBody>
      </p:sp>
      <p:sp>
        <p:nvSpPr>
          <p:cNvPr id="11" name="Text 8"/>
          <p:cNvSpPr/>
          <p:nvPr/>
        </p:nvSpPr>
        <p:spPr>
          <a:xfrm>
            <a:off x="5321808" y="2322576"/>
            <a:ext cx="1188720" cy="566928"/>
          </a:xfrm>
          <a:prstGeom prst="rect">
            <a:avLst/>
          </a:prstGeom>
          <a:noFill/>
          <a:ln/>
        </p:spPr>
        <p:txBody>
          <a:bodyPr wrap="square" lIns="0" tIns="0" rIns="0" bIns="0" rtlCol="0" anchor="ctr"/>
          <a:lstStyle/>
          <a:p>
            <a:pPr rtl="1" algn="l" indent="0" marL="0">
              <a:buNone/>
            </a:pPr>
            <a:r>
              <a:rPr lang="ar-SA" altLang="en-US" sz="1300" b="1" dirty="0">
                <a:solidFill>
                  <a:srgbClr val="D9982B"/>
                </a:solidFill>
                <a:latin typeface="Arial" pitchFamily="34" charset="0"/>
                <a:ea typeface="Arial" pitchFamily="34" charset="-122"/>
                <a:cs typeface="Arial" pitchFamily="34" charset="-120"/>
              </a:rPr>
              <a:t>الأربعاء</a:t>
            </a:r>
            <a:endParaRPr lang="ar-SA" sz="1300" dirty="0"/>
          </a:p>
        </p:txBody>
      </p:sp>
      <p:sp>
        <p:nvSpPr>
          <p:cNvPr id="12" name="Shape 9"/>
          <p:cNvSpPr/>
          <p:nvPr/>
        </p:nvSpPr>
        <p:spPr>
          <a:xfrm>
            <a:off x="5120640" y="2980944"/>
            <a:ext cx="6510528" cy="566928"/>
          </a:xfrm>
          <a:prstGeom prst="roundRect">
            <a:avLst>
              <a:gd name="adj" fmla="val 16129"/>
            </a:avLst>
          </a:prstGeom>
          <a:solidFill>
            <a:srgbClr val="EAF4F2"/>
          </a:solidFill>
          <a:ln w="12700">
            <a:solidFill>
              <a:srgbClr val="D5E7E4"/>
            </a:solidFill>
            <a:prstDash val="solid"/>
          </a:ln>
        </p:spPr>
      </p:sp>
      <p:sp>
        <p:nvSpPr>
          <p:cNvPr id="13" name="Shape 10"/>
          <p:cNvSpPr/>
          <p:nvPr/>
        </p:nvSpPr>
        <p:spPr>
          <a:xfrm>
            <a:off x="11210544" y="3154680"/>
            <a:ext cx="219456" cy="219456"/>
          </a:xfrm>
          <a:prstGeom prst="ellipse">
            <a:avLst/>
          </a:prstGeom>
          <a:solidFill>
            <a:srgbClr val="2E7BA6"/>
          </a:solidFill>
          <a:ln w="12700">
            <a:solidFill>
              <a:srgbClr val="2E7BA6"/>
            </a:solidFill>
            <a:prstDash val="solid"/>
          </a:ln>
        </p:spPr>
      </p:sp>
      <p:sp>
        <p:nvSpPr>
          <p:cNvPr id="14" name="Text 11"/>
          <p:cNvSpPr/>
          <p:nvPr/>
        </p:nvSpPr>
        <p:spPr>
          <a:xfrm>
            <a:off x="6272784" y="2980944"/>
            <a:ext cx="4572000" cy="566928"/>
          </a:xfrm>
          <a:prstGeom prst="rect">
            <a:avLst/>
          </a:prstGeom>
          <a:noFill/>
          <a:ln/>
        </p:spPr>
        <p:txBody>
          <a:bodyPr wrap="square" lIns="0" tIns="0" rIns="0" bIns="0" rtlCol="0" anchor="ctr"/>
          <a:lstStyle/>
          <a:p>
            <a:pPr rtl="1" algn="r" indent="0" marL="0">
              <a:buNone/>
            </a:pPr>
            <a:r>
              <a:rPr lang="ar-SA" altLang="en-US" sz="1400" b="1" dirty="0">
                <a:solidFill>
                  <a:srgbClr val="0B3B3C"/>
                </a:solidFill>
                <a:latin typeface="Arial" pitchFamily="34" charset="0"/>
                <a:ea typeface="Arial" pitchFamily="34" charset="-122"/>
                <a:cs typeface="Arial" pitchFamily="34" charset="-120"/>
              </a:rPr>
              <a:t>تحسين القراءة / التجويد (⁦20%⁩)</a:t>
            </a:r>
            <a:endParaRPr lang="ar-SA" sz="1400" dirty="0"/>
          </a:p>
        </p:txBody>
      </p:sp>
      <p:sp>
        <p:nvSpPr>
          <p:cNvPr id="15" name="Text 12"/>
          <p:cNvSpPr/>
          <p:nvPr/>
        </p:nvSpPr>
        <p:spPr>
          <a:xfrm>
            <a:off x="5321808" y="2980944"/>
            <a:ext cx="1188720" cy="566928"/>
          </a:xfrm>
          <a:prstGeom prst="rect">
            <a:avLst/>
          </a:prstGeom>
          <a:noFill/>
          <a:ln/>
        </p:spPr>
        <p:txBody>
          <a:bodyPr wrap="square" lIns="0" tIns="0" rIns="0" bIns="0" rtlCol="0" anchor="ctr"/>
          <a:lstStyle/>
          <a:p>
            <a:pPr rtl="1" algn="l" indent="0" marL="0">
              <a:buNone/>
            </a:pPr>
            <a:r>
              <a:rPr lang="ar-SA" altLang="en-US" sz="1300" b="1" dirty="0">
                <a:solidFill>
                  <a:srgbClr val="2E7BA6"/>
                </a:solidFill>
                <a:latin typeface="Arial" pitchFamily="34" charset="0"/>
                <a:ea typeface="Arial" pitchFamily="34" charset="-122"/>
                <a:cs typeface="Arial" pitchFamily="34" charset="-120"/>
              </a:rPr>
              <a:t>الأربعاء</a:t>
            </a:r>
            <a:endParaRPr lang="ar-SA" sz="1300" dirty="0"/>
          </a:p>
        </p:txBody>
      </p:sp>
      <p:sp>
        <p:nvSpPr>
          <p:cNvPr id="16" name="Shape 13"/>
          <p:cNvSpPr/>
          <p:nvPr/>
        </p:nvSpPr>
        <p:spPr>
          <a:xfrm>
            <a:off x="5120640" y="3639312"/>
            <a:ext cx="6510528" cy="566928"/>
          </a:xfrm>
          <a:prstGeom prst="roundRect">
            <a:avLst>
              <a:gd name="adj" fmla="val 16129"/>
            </a:avLst>
          </a:prstGeom>
          <a:solidFill>
            <a:srgbClr val="EAF4F2"/>
          </a:solidFill>
          <a:ln w="12700">
            <a:solidFill>
              <a:srgbClr val="D5E7E4"/>
            </a:solidFill>
            <a:prstDash val="solid"/>
          </a:ln>
        </p:spPr>
      </p:sp>
      <p:sp>
        <p:nvSpPr>
          <p:cNvPr id="17" name="Shape 14"/>
          <p:cNvSpPr/>
          <p:nvPr/>
        </p:nvSpPr>
        <p:spPr>
          <a:xfrm>
            <a:off x="11210544" y="3813048"/>
            <a:ext cx="219456" cy="219456"/>
          </a:xfrm>
          <a:prstGeom prst="ellipse">
            <a:avLst/>
          </a:prstGeom>
          <a:solidFill>
            <a:srgbClr val="9E3B4E"/>
          </a:solidFill>
          <a:ln w="12700">
            <a:solidFill>
              <a:srgbClr val="9E3B4E"/>
            </a:solidFill>
            <a:prstDash val="solid"/>
          </a:ln>
        </p:spPr>
      </p:sp>
      <p:sp>
        <p:nvSpPr>
          <p:cNvPr id="18" name="Text 15"/>
          <p:cNvSpPr/>
          <p:nvPr/>
        </p:nvSpPr>
        <p:spPr>
          <a:xfrm>
            <a:off x="6272784" y="3639312"/>
            <a:ext cx="4572000" cy="566928"/>
          </a:xfrm>
          <a:prstGeom prst="rect">
            <a:avLst/>
          </a:prstGeom>
          <a:noFill/>
          <a:ln/>
        </p:spPr>
        <p:txBody>
          <a:bodyPr wrap="square" lIns="0" tIns="0" rIns="0" bIns="0" rtlCol="0" anchor="ctr"/>
          <a:lstStyle/>
          <a:p>
            <a:pPr rtl="1" algn="r" indent="0" marL="0">
              <a:buNone/>
            </a:pPr>
            <a:r>
              <a:rPr lang="ar-SA" altLang="en-US" sz="1400" b="1" dirty="0">
                <a:solidFill>
                  <a:srgbClr val="0B3B3C"/>
                </a:solidFill>
                <a:latin typeface="Arial" pitchFamily="34" charset="0"/>
                <a:ea typeface="Arial" pitchFamily="34" charset="-122"/>
                <a:cs typeface="Arial" pitchFamily="34" charset="-120"/>
              </a:rPr>
              <a:t>التربية الإسلامية وعلوم القرآن (⁦10%⁩)</a:t>
            </a:r>
            <a:endParaRPr lang="ar-SA" sz="1400" dirty="0"/>
          </a:p>
        </p:txBody>
      </p:sp>
      <p:sp>
        <p:nvSpPr>
          <p:cNvPr id="19" name="Text 16"/>
          <p:cNvSpPr/>
          <p:nvPr/>
        </p:nvSpPr>
        <p:spPr>
          <a:xfrm>
            <a:off x="5321808" y="3639312"/>
            <a:ext cx="1188720" cy="566928"/>
          </a:xfrm>
          <a:prstGeom prst="rect">
            <a:avLst/>
          </a:prstGeom>
          <a:noFill/>
          <a:ln/>
        </p:spPr>
        <p:txBody>
          <a:bodyPr wrap="square" lIns="0" tIns="0" rIns="0" bIns="0" rtlCol="0" anchor="ctr"/>
          <a:lstStyle/>
          <a:p>
            <a:pPr rtl="1" algn="l" indent="0" marL="0">
              <a:buNone/>
            </a:pPr>
            <a:r>
              <a:rPr lang="ar-SA" altLang="en-US" sz="1300" b="1" dirty="0">
                <a:solidFill>
                  <a:srgbClr val="9E3B4E"/>
                </a:solidFill>
                <a:latin typeface="Arial" pitchFamily="34" charset="0"/>
                <a:ea typeface="Arial" pitchFamily="34" charset="-122"/>
                <a:cs typeface="Arial" pitchFamily="34" charset="-120"/>
              </a:rPr>
              <a:t>الأربعاء</a:t>
            </a:r>
            <a:endParaRPr lang="ar-SA" sz="1300" dirty="0"/>
          </a:p>
        </p:txBody>
      </p:sp>
      <p:sp>
        <p:nvSpPr>
          <p:cNvPr id="20" name="Shape 17"/>
          <p:cNvSpPr/>
          <p:nvPr/>
        </p:nvSpPr>
        <p:spPr>
          <a:xfrm>
            <a:off x="5120640" y="4370832"/>
            <a:ext cx="6510528" cy="1207008"/>
          </a:xfrm>
          <a:prstGeom prst="roundRect">
            <a:avLst>
              <a:gd name="adj" fmla="val 9091"/>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21" name="Text 18"/>
          <p:cNvSpPr/>
          <p:nvPr/>
        </p:nvSpPr>
        <p:spPr>
          <a:xfrm>
            <a:off x="5440680" y="4553712"/>
            <a:ext cx="5943600" cy="1143000"/>
          </a:xfrm>
          <a:prstGeom prst="rect">
            <a:avLst/>
          </a:prstGeom>
          <a:noFill/>
          <a:ln/>
        </p:spPr>
        <p:txBody>
          <a:bodyPr wrap="square" lIns="0" tIns="0" rIns="0" bIns="0" rtlCol="0" anchor="t"/>
          <a:lstStyle/>
          <a:p>
            <a:pPr rtl="1" algn="r" marL="342900" indent="-342900">
              <a:spcAft>
                <a:spcPts val="700"/>
              </a:spcAft>
              <a:buSzPct val="100000"/>
              <a:buChar char="▪"/>
            </a:pPr>
            <a:r>
              <a:rPr lang="ar-SA" altLang="en-US" sz="1300" dirty="0">
                <a:solidFill>
                  <a:srgbClr val="24403F"/>
                </a:solidFill>
                <a:latin typeface="Arial" pitchFamily="34" charset="0"/>
                <a:ea typeface="Arial" pitchFamily="34" charset="-122"/>
                <a:cs typeface="Arial" pitchFamily="34" charset="-120"/>
              </a:rPr>
              <a:t>المبتدئ: أسماء الله الحسنى / الأدعية</a:t>
            </a:r>
            <a:endParaRPr lang="ar-SA" altLang="en-US" sz="1300" dirty="0"/>
          </a:p>
          <a:p>
            <a:pPr rtl="1" algn="r" marL="342900" indent="-342900">
              <a:spcAft>
                <a:spcPts val="700"/>
              </a:spcAft>
              <a:buSzPct val="100000"/>
              <a:buChar char="▪"/>
            </a:pPr>
            <a:r>
              <a:rPr lang="ar-SA" altLang="en-US" sz="1300" dirty="0">
                <a:solidFill>
                  <a:srgbClr val="24403F"/>
                </a:solidFill>
                <a:latin typeface="Arial" pitchFamily="34" charset="0"/>
                <a:ea typeface="Arial" pitchFamily="34" charset="-122"/>
                <a:cs typeface="Arial" pitchFamily="34" charset="-120"/>
              </a:rPr>
              <a:t>المتوسط: أسباب النزول / فضل القرآن ومكانته</a:t>
            </a:r>
            <a:endParaRPr lang="ar-SA" altLang="en-US" sz="1300" dirty="0"/>
          </a:p>
          <a:p>
            <a:pPr rtl="1" algn="r" marL="342900" indent="-342900">
              <a:spcAft>
                <a:spcPts val="700"/>
              </a:spcAft>
              <a:buSzPct val="100000"/>
              <a:buChar char="▪"/>
            </a:pPr>
            <a:r>
              <a:rPr lang="ar-SA" altLang="en-US" sz="1300" dirty="0">
                <a:solidFill>
                  <a:srgbClr val="24403F"/>
                </a:solidFill>
                <a:latin typeface="Arial" pitchFamily="34" charset="0"/>
                <a:ea typeface="Arial" pitchFamily="34" charset="-122"/>
                <a:cs typeface="Arial" pitchFamily="34" charset="-120"/>
              </a:rPr>
              <a:t>المتقدّم: أسباب النزول / الأخلاق القرآنية</a:t>
            </a:r>
            <a:endParaRPr lang="ar-SA" altLang="en-US" sz="1300" dirty="0"/>
          </a:p>
        </p:txBody>
      </p:sp>
      <p:sp>
        <p:nvSpPr>
          <p:cNvPr id="22" name="Text 19"/>
          <p:cNvSpPr/>
          <p:nvPr/>
        </p:nvSpPr>
        <p:spPr>
          <a:xfrm>
            <a:off x="566928" y="6382512"/>
            <a:ext cx="7772400" cy="274320"/>
          </a:xfrm>
          <a:prstGeom prst="rect">
            <a:avLst/>
          </a:prstGeom>
          <a:noFill/>
          <a:ln/>
        </p:spPr>
        <p:txBody>
          <a:bodyPr wrap="square" lIns="0" tIns="0" rIns="0" bIns="0" rtlCol="0" anchor="ctr"/>
          <a:lstStyle/>
          <a:p>
            <a:pPr rtl="1" algn="r" indent="0" marL="0">
              <a:buNone/>
            </a:pPr>
            <a:r>
              <a:rPr lang="ar-SA" altLang="en-US" sz="1000" dirty="0">
                <a:solidFill>
                  <a:srgbClr val="5F7574"/>
                </a:solidFill>
                <a:latin typeface="Arial" pitchFamily="34" charset="0"/>
                <a:ea typeface="Arial" pitchFamily="34" charset="-122"/>
                <a:cs typeface="Arial" pitchFamily="34" charset="-120"/>
              </a:rPr>
              <a:t>عمل حرّ — غير قابل للاستغلال التجاري — bitaqat-hifd-quran.com</a:t>
            </a:r>
            <a:endParaRPr lang="ar-SA" sz="1000" dirty="0"/>
          </a:p>
        </p:txBody>
      </p:sp>
      <p:sp>
        <p:nvSpPr>
          <p:cNvPr id="23" name="Text 20"/>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Arial" pitchFamily="34" charset="0"/>
                <a:ea typeface="Arial" pitchFamily="34" charset="-122"/>
                <a:cs typeface="Arial" pitchFamily="34" charset="-120"/>
              </a:rPr>
              <a:t>9</a:t>
            </a:r>
            <a:endParaRPr lang="ar-SA" alt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rtl="1" algn="r" indent="0" marL="0">
              <a:buNone/>
            </a:pPr>
            <a:r>
              <a:rPr lang="ar-SA" altLang="en-US" sz="3200" b="1" dirty="0">
                <a:solidFill>
                  <a:srgbClr val="0B3B3C"/>
                </a:solidFill>
                <a:latin typeface="Arial" pitchFamily="34" charset="0"/>
                <a:ea typeface="Arial" pitchFamily="34" charset="-122"/>
                <a:cs typeface="Arial" pitchFamily="34" charset="-120"/>
              </a:rPr>
              <a:t>تنظيم الدروس</a:t>
            </a:r>
            <a:endParaRPr lang="ar-SA" sz="3200" dirty="0"/>
          </a:p>
        </p:txBody>
      </p:sp>
      <p:sp>
        <p:nvSpPr>
          <p:cNvPr id="3" name="Text 1"/>
          <p:cNvSpPr/>
          <p:nvPr/>
        </p:nvSpPr>
        <p:spPr>
          <a:xfrm>
            <a:off x="566928" y="914400"/>
            <a:ext cx="11045952" cy="329184"/>
          </a:xfrm>
          <a:prstGeom prst="rect">
            <a:avLst/>
          </a:prstGeom>
          <a:noFill/>
          <a:ln/>
        </p:spPr>
        <p:txBody>
          <a:bodyPr wrap="square" lIns="0" tIns="0" rIns="0" bIns="0" rtlCol="0" anchor="ctr"/>
          <a:lstStyle/>
          <a:p>
            <a:pPr rtl="1" algn="r" indent="0" marL="0">
              <a:buNone/>
            </a:pPr>
            <a:r>
              <a:rPr lang="ar-SA" altLang="en-US" sz="1500" dirty="0">
                <a:solidFill>
                  <a:srgbClr val="D9982B"/>
                </a:solidFill>
                <a:latin typeface="Arial" pitchFamily="34" charset="0"/>
                <a:ea typeface="Arial" pitchFamily="34" charset="-122"/>
                <a:cs typeface="Arial" pitchFamily="34" charset="-120"/>
              </a:rPr>
              <a:t>المستوى «المبتدئ»</a:t>
            </a:r>
            <a:endParaRPr lang="ar-SA" sz="1500" dirty="0"/>
          </a:p>
        </p:txBody>
      </p:sp>
      <p:sp>
        <p:nvSpPr>
          <p:cNvPr id="4" name="Shape 2"/>
          <p:cNvSpPr/>
          <p:nvPr/>
        </p:nvSpPr>
        <p:spPr>
          <a:xfrm>
            <a:off x="6245352" y="1627632"/>
            <a:ext cx="5367528" cy="2084832"/>
          </a:xfrm>
          <a:prstGeom prst="roundRect">
            <a:avLst>
              <a:gd name="adj" fmla="val 5263"/>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5" name="Shape 3"/>
          <p:cNvSpPr/>
          <p:nvPr/>
        </p:nvSpPr>
        <p:spPr>
          <a:xfrm>
            <a:off x="11155680" y="1892808"/>
            <a:ext cx="182880" cy="182880"/>
          </a:xfrm>
          <a:prstGeom prst="ellipse">
            <a:avLst/>
          </a:prstGeom>
          <a:solidFill>
            <a:srgbClr val="D9982B"/>
          </a:solidFill>
          <a:ln w="12700">
            <a:solidFill>
              <a:srgbClr val="D9982B"/>
            </a:solidFill>
            <a:prstDash val="solid"/>
          </a:ln>
        </p:spPr>
      </p:sp>
      <p:sp>
        <p:nvSpPr>
          <p:cNvPr id="6" name="Text 4"/>
          <p:cNvSpPr/>
          <p:nvPr/>
        </p:nvSpPr>
        <p:spPr>
          <a:xfrm>
            <a:off x="6501384" y="1773936"/>
            <a:ext cx="4544568" cy="411480"/>
          </a:xfrm>
          <a:prstGeom prst="rect">
            <a:avLst/>
          </a:prstGeom>
          <a:noFill/>
          <a:ln/>
        </p:spPr>
        <p:txBody>
          <a:bodyPr wrap="square" lIns="0" tIns="0" rIns="0" bIns="0" rtlCol="0" anchor="ctr"/>
          <a:lstStyle/>
          <a:p>
            <a:pPr rtl="1" algn="r" indent="0" marL="0">
              <a:buNone/>
            </a:pPr>
            <a:r>
              <a:rPr lang="ar-SA" altLang="en-US" sz="1600" b="1" dirty="0">
                <a:solidFill>
                  <a:srgbClr val="0B3B3C"/>
                </a:solidFill>
                <a:latin typeface="Arial" pitchFamily="34" charset="0"/>
                <a:ea typeface="Arial" pitchFamily="34" charset="-122"/>
                <a:cs typeface="Arial" pitchFamily="34" charset="-120"/>
              </a:rPr>
              <a:t>الأهداف</a:t>
            </a:r>
            <a:endParaRPr lang="ar-SA" sz="1600" dirty="0"/>
          </a:p>
        </p:txBody>
      </p:sp>
      <p:sp>
        <p:nvSpPr>
          <p:cNvPr id="7" name="Text 5"/>
          <p:cNvSpPr/>
          <p:nvPr/>
        </p:nvSpPr>
        <p:spPr>
          <a:xfrm>
            <a:off x="6547104" y="2231136"/>
            <a:ext cx="4498848" cy="1335024"/>
          </a:xfrm>
          <a:prstGeom prst="rect">
            <a:avLst/>
          </a:prstGeom>
          <a:noFill/>
          <a:ln/>
        </p:spPr>
        <p:txBody>
          <a:bodyPr wrap="square" lIns="0" tIns="0" rIns="0" bIns="0" rtlCol="0" anchor="t"/>
          <a:lstStyle/>
          <a:p>
            <a:pPr rtl="1" algn="r" marL="342900" indent="-342900">
              <a:spcAft>
                <a:spcPts val="700"/>
              </a:spcAft>
              <a:buSzPct val="100000"/>
              <a:buChar char="●"/>
            </a:pPr>
            <a:r>
              <a:rPr lang="ar-SA" altLang="en-US" sz="1250" dirty="0">
                <a:solidFill>
                  <a:srgbClr val="24403F"/>
                </a:solidFill>
                <a:latin typeface="Arial" pitchFamily="34" charset="0"/>
                <a:ea typeface="Arial" pitchFamily="34" charset="-122"/>
                <a:cs typeface="Arial" pitchFamily="34" charset="-120"/>
              </a:rPr>
              <a:t>القرآن</a:t>
            </a:r>
            <a:endParaRPr lang="ar-SA" altLang="en-US" sz="1250" dirty="0"/>
          </a:p>
          <a:p>
            <a:pPr rtl="1" algn="r" lvl="1" marL="685800" indent="-342900">
              <a:spcAft>
                <a:spcPts val="300"/>
              </a:spcAft>
              <a:buSzPct val="100000"/>
              <a:buChar char="▪"/>
            </a:pPr>
            <a:r>
              <a:rPr lang="ar-SA" altLang="en-US" sz="1050" dirty="0">
                <a:solidFill>
                  <a:srgbClr val="5F7574"/>
                </a:solidFill>
                <a:latin typeface="Arial" pitchFamily="34" charset="0"/>
                <a:ea typeface="Arial" pitchFamily="34" charset="-122"/>
                <a:cs typeface="Arial" pitchFamily="34" charset="-120"/>
              </a:rPr>
              <a:t>حفظ حزب «سبّح» (رقم 60)</a:t>
            </a:r>
            <a:endParaRPr lang="ar-SA" altLang="en-US" sz="1250" dirty="0"/>
          </a:p>
          <a:p>
            <a:pPr rtl="1" algn="r" marL="342900" indent="-342900">
              <a:spcBef>
                <a:spcPts val="500"/>
              </a:spcBef>
              <a:spcAft>
                <a:spcPts val="700"/>
              </a:spcAft>
              <a:buSzPct val="100000"/>
              <a:buChar char="●"/>
            </a:pPr>
            <a:r>
              <a:rPr lang="ar-SA" altLang="en-US" sz="1250" dirty="0">
                <a:solidFill>
                  <a:srgbClr val="24403F"/>
                </a:solidFill>
                <a:latin typeface="Arial" pitchFamily="34" charset="0"/>
                <a:ea typeface="Arial" pitchFamily="34" charset="-122"/>
                <a:cs typeface="Arial" pitchFamily="34" charset="-120"/>
              </a:rPr>
              <a:t>المنهج</a:t>
            </a:r>
            <a:endParaRPr lang="ar-SA" altLang="en-US" sz="1250" dirty="0"/>
          </a:p>
          <a:p>
            <a:pPr rtl="1" algn="r" lvl="1" marL="685800" indent="-342900">
              <a:spcAft>
                <a:spcPts val="300"/>
              </a:spcAft>
              <a:buSzPct val="100000"/>
              <a:buChar char="▪"/>
            </a:pPr>
            <a:r>
              <a:rPr lang="ar-SA" altLang="en-US" sz="1050" dirty="0">
                <a:solidFill>
                  <a:srgbClr val="5F7574"/>
                </a:solidFill>
                <a:latin typeface="Arial" pitchFamily="34" charset="0"/>
                <a:ea typeface="Arial" pitchFamily="34" charset="-122"/>
                <a:cs typeface="Arial" pitchFamily="34" charset="-120"/>
              </a:rPr>
              <a:t>اكتساب القراءة (الطريقة النورانية)</a:t>
            </a:r>
            <a:endParaRPr lang="ar-SA" altLang="en-US" sz="1250" dirty="0"/>
          </a:p>
          <a:p>
            <a:pPr rtl="1" algn="r" lvl="1" marL="685800" indent="-342900">
              <a:spcAft>
                <a:spcPts val="300"/>
              </a:spcAft>
              <a:buSzPct val="100000"/>
              <a:buChar char="▪"/>
            </a:pPr>
            <a:r>
              <a:rPr lang="ar-SA" altLang="en-US" sz="1050" dirty="0">
                <a:solidFill>
                  <a:srgbClr val="5F7574"/>
                </a:solidFill>
                <a:latin typeface="Arial" pitchFamily="34" charset="0"/>
                <a:ea typeface="Arial" pitchFamily="34" charset="-122"/>
                <a:cs typeface="Arial" pitchFamily="34" charset="-120"/>
              </a:rPr>
              <a:t>اكتساب تدريجي للاستقلالية في الحفظ</a:t>
            </a:r>
            <a:endParaRPr lang="ar-SA" altLang="en-US" sz="1250" dirty="0"/>
          </a:p>
        </p:txBody>
      </p:sp>
      <p:sp>
        <p:nvSpPr>
          <p:cNvPr id="8" name="Shape 6"/>
          <p:cNvSpPr/>
          <p:nvPr/>
        </p:nvSpPr>
        <p:spPr>
          <a:xfrm>
            <a:off x="566928" y="1627632"/>
            <a:ext cx="5367528" cy="2084832"/>
          </a:xfrm>
          <a:prstGeom prst="roundRect">
            <a:avLst>
              <a:gd name="adj" fmla="val 5263"/>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9" name="Shape 7"/>
          <p:cNvSpPr/>
          <p:nvPr/>
        </p:nvSpPr>
        <p:spPr>
          <a:xfrm>
            <a:off x="5477256" y="1892808"/>
            <a:ext cx="182880" cy="182880"/>
          </a:xfrm>
          <a:prstGeom prst="ellipse">
            <a:avLst/>
          </a:prstGeom>
          <a:solidFill>
            <a:srgbClr val="D9982B"/>
          </a:solidFill>
          <a:ln w="12700">
            <a:solidFill>
              <a:srgbClr val="D9982B"/>
            </a:solidFill>
            <a:prstDash val="solid"/>
          </a:ln>
        </p:spPr>
      </p:sp>
      <p:sp>
        <p:nvSpPr>
          <p:cNvPr id="10" name="Text 8"/>
          <p:cNvSpPr/>
          <p:nvPr/>
        </p:nvSpPr>
        <p:spPr>
          <a:xfrm>
            <a:off x="822960" y="1773936"/>
            <a:ext cx="4544568" cy="411480"/>
          </a:xfrm>
          <a:prstGeom prst="rect">
            <a:avLst/>
          </a:prstGeom>
          <a:noFill/>
          <a:ln/>
        </p:spPr>
        <p:txBody>
          <a:bodyPr wrap="square" lIns="0" tIns="0" rIns="0" bIns="0" rtlCol="0" anchor="ctr"/>
          <a:lstStyle/>
          <a:p>
            <a:pPr rtl="1" algn="r" indent="0" marL="0">
              <a:buNone/>
            </a:pPr>
            <a:r>
              <a:rPr lang="ar-SA" altLang="en-US" sz="1600" b="1" dirty="0">
                <a:solidFill>
                  <a:srgbClr val="0B3B3C"/>
                </a:solidFill>
                <a:latin typeface="Arial" pitchFamily="34" charset="0"/>
                <a:ea typeface="Arial" pitchFamily="34" charset="-122"/>
                <a:cs typeface="Arial" pitchFamily="34" charset="-120"/>
              </a:rPr>
              <a:t>طريقة الحفظ (السداسي الأول)</a:t>
            </a:r>
            <a:endParaRPr lang="ar-SA" sz="1600" dirty="0"/>
          </a:p>
        </p:txBody>
      </p:sp>
      <p:sp>
        <p:nvSpPr>
          <p:cNvPr id="11" name="Text 9"/>
          <p:cNvSpPr/>
          <p:nvPr/>
        </p:nvSpPr>
        <p:spPr>
          <a:xfrm>
            <a:off x="868680" y="2231136"/>
            <a:ext cx="4498848" cy="1335024"/>
          </a:xfrm>
          <a:prstGeom prst="rect">
            <a:avLst/>
          </a:prstGeom>
          <a:noFill/>
          <a:ln/>
        </p:spPr>
        <p:txBody>
          <a:bodyPr wrap="square" lIns="0" tIns="0" rIns="0" bIns="0" rtlCol="0" anchor="t"/>
          <a:lstStyle/>
          <a:p>
            <a:pPr rtl="1" algn="r" marL="342900" indent="-342900">
              <a:spcAft>
                <a:spcPts val="700"/>
              </a:spcAft>
              <a:buSzPct val="100000"/>
              <a:buChar char="●"/>
            </a:pPr>
            <a:r>
              <a:rPr lang="ar-SA" altLang="en-US" sz="1250" dirty="0">
                <a:solidFill>
                  <a:srgbClr val="24403F"/>
                </a:solidFill>
                <a:latin typeface="Arial" pitchFamily="34" charset="0"/>
                <a:ea typeface="Arial" pitchFamily="34" charset="-122"/>
                <a:cs typeface="Arial" pitchFamily="34" charset="-120"/>
              </a:rPr>
              <a:t>في القسم وبشكل جماعي</a:t>
            </a:r>
            <a:endParaRPr lang="ar-SA" altLang="en-US" sz="1250" dirty="0"/>
          </a:p>
          <a:p>
            <a:pPr rtl="1" algn="r" marL="342900" indent="-342900">
              <a:spcBef>
                <a:spcPts val="500"/>
              </a:spcBef>
              <a:spcAft>
                <a:spcPts val="700"/>
              </a:spcAft>
              <a:buSzPct val="100000"/>
              <a:buChar char="●"/>
            </a:pPr>
            <a:r>
              <a:rPr lang="ar-SA" altLang="en-US" sz="1250" dirty="0">
                <a:solidFill>
                  <a:srgbClr val="24403F"/>
                </a:solidFill>
                <a:latin typeface="Arial" pitchFamily="34" charset="0"/>
                <a:ea typeface="Arial" pitchFamily="34" charset="-122"/>
                <a:cs typeface="Arial" pitchFamily="34" charset="-120"/>
              </a:rPr>
              <a:t>السور القصيرة (من «الضحى» إلى «الناس»)</a:t>
            </a:r>
            <a:endParaRPr lang="ar-SA" altLang="en-US" sz="1250" dirty="0"/>
          </a:p>
        </p:txBody>
      </p:sp>
      <p:sp>
        <p:nvSpPr>
          <p:cNvPr id="12" name="Shape 10"/>
          <p:cNvSpPr/>
          <p:nvPr/>
        </p:nvSpPr>
        <p:spPr>
          <a:xfrm>
            <a:off x="6245352" y="4023360"/>
            <a:ext cx="5367528" cy="2084832"/>
          </a:xfrm>
          <a:prstGeom prst="roundRect">
            <a:avLst>
              <a:gd name="adj" fmla="val 5263"/>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13" name="Shape 11"/>
          <p:cNvSpPr/>
          <p:nvPr/>
        </p:nvSpPr>
        <p:spPr>
          <a:xfrm>
            <a:off x="11155680" y="4288536"/>
            <a:ext cx="182880" cy="182880"/>
          </a:xfrm>
          <a:prstGeom prst="ellipse">
            <a:avLst/>
          </a:prstGeom>
          <a:solidFill>
            <a:srgbClr val="D9982B"/>
          </a:solidFill>
          <a:ln w="12700">
            <a:solidFill>
              <a:srgbClr val="D9982B"/>
            </a:solidFill>
            <a:prstDash val="solid"/>
          </a:ln>
        </p:spPr>
      </p:sp>
      <p:sp>
        <p:nvSpPr>
          <p:cNvPr id="14" name="Text 12"/>
          <p:cNvSpPr/>
          <p:nvPr/>
        </p:nvSpPr>
        <p:spPr>
          <a:xfrm>
            <a:off x="6501384" y="4169664"/>
            <a:ext cx="4544568" cy="411480"/>
          </a:xfrm>
          <a:prstGeom prst="rect">
            <a:avLst/>
          </a:prstGeom>
          <a:noFill/>
          <a:ln/>
        </p:spPr>
        <p:txBody>
          <a:bodyPr wrap="square" lIns="0" tIns="0" rIns="0" bIns="0" rtlCol="0" anchor="ctr"/>
          <a:lstStyle/>
          <a:p>
            <a:pPr rtl="1" algn="r" indent="0" marL="0">
              <a:buNone/>
            </a:pPr>
            <a:r>
              <a:rPr lang="ar-SA" altLang="en-US" sz="1600" b="1" dirty="0">
                <a:solidFill>
                  <a:srgbClr val="0B3B3C"/>
                </a:solidFill>
                <a:latin typeface="Arial" pitchFamily="34" charset="0"/>
                <a:ea typeface="Arial" pitchFamily="34" charset="-122"/>
                <a:cs typeface="Arial" pitchFamily="34" charset="-120"/>
              </a:rPr>
              <a:t>طريقة الحفظ (السداسي الثاني)</a:t>
            </a:r>
            <a:endParaRPr lang="ar-SA" sz="1600" dirty="0"/>
          </a:p>
        </p:txBody>
      </p:sp>
      <p:sp>
        <p:nvSpPr>
          <p:cNvPr id="15" name="Text 13"/>
          <p:cNvSpPr/>
          <p:nvPr/>
        </p:nvSpPr>
        <p:spPr>
          <a:xfrm>
            <a:off x="6547104" y="4626864"/>
            <a:ext cx="4498848" cy="1335024"/>
          </a:xfrm>
          <a:prstGeom prst="rect">
            <a:avLst/>
          </a:prstGeom>
          <a:noFill/>
          <a:ln/>
        </p:spPr>
        <p:txBody>
          <a:bodyPr wrap="square" lIns="0" tIns="0" rIns="0" bIns="0" rtlCol="0" anchor="t"/>
          <a:lstStyle/>
          <a:p>
            <a:pPr rtl="1" algn="r" marL="342900" indent="-342900">
              <a:spcAft>
                <a:spcPts val="700"/>
              </a:spcAft>
              <a:buSzPct val="100000"/>
              <a:buChar char="●"/>
            </a:pPr>
            <a:r>
              <a:rPr lang="ar-SA" altLang="en-US" sz="1250" dirty="0">
                <a:solidFill>
                  <a:srgbClr val="24403F"/>
                </a:solidFill>
                <a:latin typeface="Arial" pitchFamily="34" charset="0"/>
                <a:ea typeface="Arial" pitchFamily="34" charset="-122"/>
                <a:cs typeface="Arial" pitchFamily="34" charset="-120"/>
              </a:rPr>
              <a:t>في القسم وفي البيت بمساعدة الأولياء</a:t>
            </a:r>
            <a:endParaRPr lang="ar-SA" altLang="en-US" sz="1250" dirty="0"/>
          </a:p>
          <a:p>
            <a:pPr rtl="1" algn="r" marL="342900" indent="-342900">
              <a:spcBef>
                <a:spcPts val="500"/>
              </a:spcBef>
              <a:spcAft>
                <a:spcPts val="700"/>
              </a:spcAft>
              <a:buSzPct val="100000"/>
              <a:buChar char="●"/>
            </a:pPr>
            <a:r>
              <a:rPr lang="ar-SA" altLang="en-US" sz="1250" dirty="0">
                <a:solidFill>
                  <a:srgbClr val="24403F"/>
                </a:solidFill>
                <a:latin typeface="Arial" pitchFamily="34" charset="0"/>
                <a:ea typeface="Arial" pitchFamily="34" charset="-122"/>
                <a:cs typeface="Arial" pitchFamily="34" charset="-120"/>
              </a:rPr>
              <a:t>نسخة من المقطع المطلوب حفظه بصيغة ملائمة (ملف شفاف)</a:t>
            </a:r>
            <a:endParaRPr lang="ar-SA" altLang="en-US" sz="1250" dirty="0"/>
          </a:p>
          <a:p>
            <a:pPr rtl="1" algn="r" marL="342900" indent="-342900">
              <a:spcBef>
                <a:spcPts val="500"/>
              </a:spcBef>
              <a:spcAft>
                <a:spcPts val="700"/>
              </a:spcAft>
              <a:buSzPct val="100000"/>
              <a:buChar char="●"/>
            </a:pPr>
            <a:r>
              <a:rPr lang="ar-SA" altLang="en-US" sz="1250" dirty="0">
                <a:solidFill>
                  <a:srgbClr val="24403F"/>
                </a:solidFill>
                <a:latin typeface="Arial" pitchFamily="34" charset="0"/>
                <a:ea typeface="Arial" pitchFamily="34" charset="-122"/>
                <a:cs typeface="Arial" pitchFamily="34" charset="-120"/>
              </a:rPr>
              <a:t>الهدف الأسبوعي: من 3 إلى 5 أسطر</a:t>
            </a:r>
            <a:endParaRPr lang="ar-SA" altLang="en-US" sz="1250" dirty="0"/>
          </a:p>
        </p:txBody>
      </p:sp>
      <p:sp>
        <p:nvSpPr>
          <p:cNvPr id="16" name="Shape 14"/>
          <p:cNvSpPr/>
          <p:nvPr/>
        </p:nvSpPr>
        <p:spPr>
          <a:xfrm>
            <a:off x="566928" y="4023360"/>
            <a:ext cx="5367528" cy="2084832"/>
          </a:xfrm>
          <a:prstGeom prst="roundRect">
            <a:avLst>
              <a:gd name="adj" fmla="val 5263"/>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17" name="Shape 15"/>
          <p:cNvSpPr/>
          <p:nvPr/>
        </p:nvSpPr>
        <p:spPr>
          <a:xfrm>
            <a:off x="5477256" y="4288536"/>
            <a:ext cx="182880" cy="182880"/>
          </a:xfrm>
          <a:prstGeom prst="ellipse">
            <a:avLst/>
          </a:prstGeom>
          <a:solidFill>
            <a:srgbClr val="D9982B"/>
          </a:solidFill>
          <a:ln w="12700">
            <a:solidFill>
              <a:srgbClr val="D9982B"/>
            </a:solidFill>
            <a:prstDash val="solid"/>
          </a:ln>
        </p:spPr>
      </p:sp>
      <p:sp>
        <p:nvSpPr>
          <p:cNvPr id="18" name="Text 16"/>
          <p:cNvSpPr/>
          <p:nvPr/>
        </p:nvSpPr>
        <p:spPr>
          <a:xfrm>
            <a:off x="822960" y="4169664"/>
            <a:ext cx="4544568" cy="411480"/>
          </a:xfrm>
          <a:prstGeom prst="rect">
            <a:avLst/>
          </a:prstGeom>
          <a:noFill/>
          <a:ln/>
        </p:spPr>
        <p:txBody>
          <a:bodyPr wrap="square" lIns="0" tIns="0" rIns="0" bIns="0" rtlCol="0" anchor="ctr"/>
          <a:lstStyle/>
          <a:p>
            <a:pPr rtl="1" algn="r" indent="0" marL="0">
              <a:buNone/>
            </a:pPr>
            <a:r>
              <a:rPr lang="ar-SA" altLang="en-US" sz="1600" b="1" dirty="0">
                <a:solidFill>
                  <a:srgbClr val="0B3B3C"/>
                </a:solidFill>
                <a:latin typeface="Arial" pitchFamily="34" charset="0"/>
                <a:ea typeface="Arial" pitchFamily="34" charset="-122"/>
                <a:cs typeface="Arial" pitchFamily="34" charset="-120"/>
              </a:rPr>
              <a:t>المراجعة</a:t>
            </a:r>
            <a:endParaRPr lang="ar-SA" sz="1600" dirty="0"/>
          </a:p>
        </p:txBody>
      </p:sp>
      <p:sp>
        <p:nvSpPr>
          <p:cNvPr id="19" name="Text 17"/>
          <p:cNvSpPr/>
          <p:nvPr/>
        </p:nvSpPr>
        <p:spPr>
          <a:xfrm>
            <a:off x="868680" y="4626864"/>
            <a:ext cx="4498848" cy="1335024"/>
          </a:xfrm>
          <a:prstGeom prst="rect">
            <a:avLst/>
          </a:prstGeom>
          <a:noFill/>
          <a:ln/>
        </p:spPr>
        <p:txBody>
          <a:bodyPr wrap="square" lIns="0" tIns="0" rIns="0" bIns="0" rtlCol="0" anchor="t"/>
          <a:lstStyle/>
          <a:p>
            <a:pPr rtl="1" algn="r" marL="342900" indent="-342900">
              <a:spcAft>
                <a:spcPts val="700"/>
              </a:spcAft>
              <a:buSzPct val="100000"/>
              <a:buChar char="●"/>
            </a:pPr>
            <a:r>
              <a:rPr lang="ar-SA" altLang="en-US" sz="1250" dirty="0">
                <a:solidFill>
                  <a:srgbClr val="24403F"/>
                </a:solidFill>
                <a:latin typeface="Arial" pitchFamily="34" charset="0"/>
                <a:ea typeface="Arial" pitchFamily="34" charset="-122"/>
                <a:cs typeface="Arial" pitchFamily="34" charset="-120"/>
              </a:rPr>
              <a:t>في القسم</a:t>
            </a:r>
            <a:endParaRPr lang="ar-SA" altLang="en-US" sz="1250" dirty="0"/>
          </a:p>
          <a:p>
            <a:pPr rtl="1" algn="r" marL="342900" indent="-342900">
              <a:spcBef>
                <a:spcPts val="500"/>
              </a:spcBef>
              <a:spcAft>
                <a:spcPts val="700"/>
              </a:spcAft>
              <a:buSzPct val="100000"/>
              <a:buChar char="●"/>
            </a:pPr>
            <a:r>
              <a:rPr lang="ar-SA" altLang="en-US" sz="1250" dirty="0">
                <a:solidFill>
                  <a:srgbClr val="24403F"/>
                </a:solidFill>
                <a:latin typeface="Arial" pitchFamily="34" charset="0"/>
                <a:ea typeface="Arial" pitchFamily="34" charset="-122"/>
                <a:cs typeface="Arial" pitchFamily="34" charset="-120"/>
              </a:rPr>
              <a:t>بشكل جماعي</a:t>
            </a:r>
            <a:endParaRPr lang="ar-SA" altLang="en-US" sz="1250" dirty="0"/>
          </a:p>
        </p:txBody>
      </p:sp>
      <p:sp>
        <p:nvSpPr>
          <p:cNvPr id="20" name="Text 18"/>
          <p:cNvSpPr/>
          <p:nvPr/>
        </p:nvSpPr>
        <p:spPr>
          <a:xfrm>
            <a:off x="566928" y="6382512"/>
            <a:ext cx="7772400" cy="274320"/>
          </a:xfrm>
          <a:prstGeom prst="rect">
            <a:avLst/>
          </a:prstGeom>
          <a:noFill/>
          <a:ln/>
        </p:spPr>
        <p:txBody>
          <a:bodyPr wrap="square" lIns="0" tIns="0" rIns="0" bIns="0" rtlCol="0" anchor="ctr"/>
          <a:lstStyle/>
          <a:p>
            <a:pPr rtl="1" algn="r" indent="0" marL="0">
              <a:buNone/>
            </a:pPr>
            <a:r>
              <a:rPr lang="ar-SA" altLang="en-US" sz="1000" dirty="0">
                <a:solidFill>
                  <a:srgbClr val="5F7574"/>
                </a:solidFill>
                <a:latin typeface="Arial" pitchFamily="34" charset="0"/>
                <a:ea typeface="Arial" pitchFamily="34" charset="-122"/>
                <a:cs typeface="Arial" pitchFamily="34" charset="-120"/>
              </a:rPr>
              <a:t>عمل حرّ — غير قابل للاستغلال التجاري — bitaqat-hifd-quran.com</a:t>
            </a:r>
            <a:endParaRPr lang="ar-SA" sz="1000" dirty="0"/>
          </a:p>
        </p:txBody>
      </p:sp>
      <p:sp>
        <p:nvSpPr>
          <p:cNvPr id="21" name="Text 19"/>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Arial" pitchFamily="34" charset="0"/>
                <a:ea typeface="Arial" pitchFamily="34" charset="-122"/>
                <a:cs typeface="Arial" pitchFamily="34" charset="-120"/>
              </a:rPr>
              <a:t>10</a:t>
            </a:r>
            <a:endParaRPr lang="ar-SA" alt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rtl="1" algn="r" indent="0" marL="0">
              <a:buNone/>
            </a:pPr>
            <a:r>
              <a:rPr lang="ar-SA" altLang="en-US" sz="3200" b="1" dirty="0">
                <a:solidFill>
                  <a:srgbClr val="0B3B3C"/>
                </a:solidFill>
                <a:latin typeface="Arial" pitchFamily="34" charset="0"/>
                <a:ea typeface="Arial" pitchFamily="34" charset="-122"/>
                <a:cs typeface="Arial" pitchFamily="34" charset="-120"/>
              </a:rPr>
              <a:t>تنظيم الدروس</a:t>
            </a:r>
            <a:endParaRPr lang="ar-SA" sz="3200" dirty="0"/>
          </a:p>
        </p:txBody>
      </p:sp>
      <p:sp>
        <p:nvSpPr>
          <p:cNvPr id="3" name="Text 1"/>
          <p:cNvSpPr/>
          <p:nvPr/>
        </p:nvSpPr>
        <p:spPr>
          <a:xfrm>
            <a:off x="566928" y="914400"/>
            <a:ext cx="11045952" cy="329184"/>
          </a:xfrm>
          <a:prstGeom prst="rect">
            <a:avLst/>
          </a:prstGeom>
          <a:noFill/>
          <a:ln/>
        </p:spPr>
        <p:txBody>
          <a:bodyPr wrap="square" lIns="0" tIns="0" rIns="0" bIns="0" rtlCol="0" anchor="ctr"/>
          <a:lstStyle/>
          <a:p>
            <a:pPr rtl="1" algn="r" indent="0" marL="0">
              <a:buNone/>
            </a:pPr>
            <a:r>
              <a:rPr lang="ar-SA" altLang="en-US" sz="1500" dirty="0">
                <a:solidFill>
                  <a:srgbClr val="2E7BA6"/>
                </a:solidFill>
                <a:latin typeface="Arial" pitchFamily="34" charset="0"/>
                <a:ea typeface="Arial" pitchFamily="34" charset="-122"/>
                <a:cs typeface="Arial" pitchFamily="34" charset="-120"/>
              </a:rPr>
              <a:t>المستوى «المتوسط»</a:t>
            </a:r>
            <a:endParaRPr lang="ar-SA" sz="1500" dirty="0"/>
          </a:p>
        </p:txBody>
      </p:sp>
      <p:sp>
        <p:nvSpPr>
          <p:cNvPr id="4" name="Shape 2"/>
          <p:cNvSpPr/>
          <p:nvPr/>
        </p:nvSpPr>
        <p:spPr>
          <a:xfrm>
            <a:off x="8138160" y="1664208"/>
            <a:ext cx="3474720" cy="3337560"/>
          </a:xfrm>
          <a:prstGeom prst="roundRect">
            <a:avLst>
              <a:gd name="adj" fmla="val 3288"/>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5" name="Shape 3"/>
          <p:cNvSpPr/>
          <p:nvPr/>
        </p:nvSpPr>
        <p:spPr>
          <a:xfrm>
            <a:off x="11137392" y="1956816"/>
            <a:ext cx="201168" cy="201168"/>
          </a:xfrm>
          <a:prstGeom prst="ellipse">
            <a:avLst/>
          </a:prstGeom>
          <a:solidFill>
            <a:srgbClr val="2E7BA6"/>
          </a:solidFill>
          <a:ln w="12700">
            <a:solidFill>
              <a:srgbClr val="2E7BA6"/>
            </a:solidFill>
            <a:prstDash val="solid"/>
          </a:ln>
        </p:spPr>
      </p:sp>
      <p:sp>
        <p:nvSpPr>
          <p:cNvPr id="6" name="Text 4"/>
          <p:cNvSpPr/>
          <p:nvPr/>
        </p:nvSpPr>
        <p:spPr>
          <a:xfrm>
            <a:off x="8403336" y="1828800"/>
            <a:ext cx="2606040" cy="457200"/>
          </a:xfrm>
          <a:prstGeom prst="rect">
            <a:avLst/>
          </a:prstGeom>
          <a:noFill/>
          <a:ln/>
        </p:spPr>
        <p:txBody>
          <a:bodyPr wrap="square" lIns="0" tIns="0" rIns="0" bIns="0" rtlCol="0" anchor="ctr"/>
          <a:lstStyle/>
          <a:p>
            <a:pPr rtl="1" algn="r" indent="0" marL="0">
              <a:buNone/>
            </a:pPr>
            <a:r>
              <a:rPr lang="ar-SA" altLang="en-US" sz="1700" b="1" dirty="0">
                <a:solidFill>
                  <a:srgbClr val="0B3B3C"/>
                </a:solidFill>
                <a:latin typeface="Arial" pitchFamily="34" charset="0"/>
                <a:ea typeface="Arial" pitchFamily="34" charset="-122"/>
                <a:cs typeface="Arial" pitchFamily="34" charset="-120"/>
              </a:rPr>
              <a:t>الأهداف</a:t>
            </a:r>
            <a:endParaRPr lang="ar-SA" sz="1700" dirty="0"/>
          </a:p>
        </p:txBody>
      </p:sp>
      <p:sp>
        <p:nvSpPr>
          <p:cNvPr id="7" name="Text 5"/>
          <p:cNvSpPr/>
          <p:nvPr/>
        </p:nvSpPr>
        <p:spPr>
          <a:xfrm>
            <a:off x="8449056" y="2395728"/>
            <a:ext cx="2560320" cy="2514600"/>
          </a:xfrm>
          <a:prstGeom prst="rect">
            <a:avLst/>
          </a:prstGeom>
          <a:noFill/>
          <a:ln/>
        </p:spPr>
        <p:txBody>
          <a:bodyPr wrap="square" lIns="0" tIns="0" rIns="0" bIns="0" rtlCol="0" anchor="t"/>
          <a:lstStyle/>
          <a:p>
            <a:pPr rtl="1" algn="r" marL="342900" indent="-342900">
              <a:spcAft>
                <a:spcPts val="700"/>
              </a:spcAft>
              <a:buSzPct val="100000"/>
              <a:buChar char="●"/>
            </a:pPr>
            <a:r>
              <a:rPr lang="ar-SA" altLang="en-US" sz="1300" dirty="0">
                <a:solidFill>
                  <a:srgbClr val="24403F"/>
                </a:solidFill>
                <a:latin typeface="Arial" pitchFamily="34" charset="0"/>
                <a:ea typeface="Arial" pitchFamily="34" charset="-122"/>
                <a:cs typeface="Arial" pitchFamily="34" charset="-120"/>
              </a:rPr>
              <a:t>القرآن</a:t>
            </a:r>
            <a:endParaRPr lang="ar-SA" altLang="en-US" sz="1300" dirty="0"/>
          </a:p>
          <a:p>
            <a:pPr rtl="1" algn="r" lvl="1" marL="685800" indent="-342900">
              <a:spcAft>
                <a:spcPts val="300"/>
              </a:spcAft>
              <a:buSzPct val="100000"/>
              <a:buChar char="▪"/>
            </a:pPr>
            <a:r>
              <a:rPr lang="ar-SA" altLang="en-US" sz="1100" dirty="0">
                <a:solidFill>
                  <a:srgbClr val="5F7574"/>
                </a:solidFill>
                <a:latin typeface="Arial" pitchFamily="34" charset="0"/>
                <a:ea typeface="Arial" pitchFamily="34" charset="-122"/>
                <a:cs typeface="Arial" pitchFamily="34" charset="-120"/>
              </a:rPr>
              <a:t>تحقيق الهدف السنوي لبطاقة التسميع (رقم 2 أو 3)</a:t>
            </a:r>
            <a:endParaRPr lang="ar-SA" altLang="en-US" sz="1300" dirty="0"/>
          </a:p>
          <a:p>
            <a:pPr rtl="1" algn="r" lvl="1" marL="685800" indent="-342900">
              <a:spcAft>
                <a:spcPts val="300"/>
              </a:spcAft>
              <a:buSzPct val="100000"/>
              <a:buChar char="▪"/>
            </a:pPr>
            <a:r>
              <a:rPr lang="ar-SA" altLang="en-US" sz="1100" dirty="0">
                <a:solidFill>
                  <a:srgbClr val="5F7574"/>
                </a:solidFill>
                <a:latin typeface="Arial" pitchFamily="34" charset="0"/>
                <a:ea typeface="Arial" pitchFamily="34" charset="-122"/>
                <a:cs typeface="Arial" pitchFamily="34" charset="-120"/>
              </a:rPr>
              <a:t>إتقان أحزاب السنوات السابقة</a:t>
            </a:r>
            <a:endParaRPr lang="ar-SA" altLang="en-US" sz="1300" dirty="0"/>
          </a:p>
          <a:p>
            <a:pPr rtl="1" algn="r" marL="342900" indent="-342900">
              <a:spcBef>
                <a:spcPts val="500"/>
              </a:spcBef>
              <a:spcAft>
                <a:spcPts val="700"/>
              </a:spcAft>
              <a:buSzPct val="100000"/>
              <a:buChar char="●"/>
            </a:pPr>
            <a:r>
              <a:rPr lang="ar-SA" altLang="en-US" sz="1300" dirty="0">
                <a:solidFill>
                  <a:srgbClr val="24403F"/>
                </a:solidFill>
                <a:latin typeface="Arial" pitchFamily="34" charset="0"/>
                <a:ea typeface="Arial" pitchFamily="34" charset="-122"/>
                <a:cs typeface="Arial" pitchFamily="34" charset="-120"/>
              </a:rPr>
              <a:t>المنهج</a:t>
            </a:r>
            <a:endParaRPr lang="ar-SA" altLang="en-US" sz="1300" dirty="0"/>
          </a:p>
          <a:p>
            <a:pPr rtl="1" algn="r" lvl="1" marL="685800" indent="-342900">
              <a:spcAft>
                <a:spcPts val="300"/>
              </a:spcAft>
              <a:buSzPct val="100000"/>
              <a:buChar char="▪"/>
            </a:pPr>
            <a:r>
              <a:rPr lang="ar-SA" altLang="en-US" sz="1100" dirty="0">
                <a:solidFill>
                  <a:srgbClr val="5F7574"/>
                </a:solidFill>
                <a:latin typeface="Arial" pitchFamily="34" charset="0"/>
                <a:ea typeface="Arial" pitchFamily="34" charset="-122"/>
                <a:cs typeface="Arial" pitchFamily="34" charset="-120"/>
              </a:rPr>
              <a:t>إتقان القراءة ومعرفة أحكام التجويد البسيطة</a:t>
            </a:r>
            <a:endParaRPr lang="ar-SA" altLang="en-US" sz="1300" dirty="0"/>
          </a:p>
          <a:p>
            <a:pPr rtl="1" algn="r" lvl="1" marL="685800" indent="-342900">
              <a:spcAft>
                <a:spcPts val="300"/>
              </a:spcAft>
              <a:buSzPct val="100000"/>
              <a:buChar char="▪"/>
            </a:pPr>
            <a:r>
              <a:rPr lang="ar-SA" altLang="en-US" sz="1100" dirty="0">
                <a:solidFill>
                  <a:srgbClr val="5F7574"/>
                </a:solidFill>
                <a:latin typeface="Arial" pitchFamily="34" charset="0"/>
                <a:ea typeface="Arial" pitchFamily="34" charset="-122"/>
                <a:cs typeface="Arial" pitchFamily="34" charset="-120"/>
              </a:rPr>
              <a:t>اكتساب استقلالية تامة في الحفظ</a:t>
            </a:r>
            <a:endParaRPr lang="ar-SA" altLang="en-US" sz="1300" dirty="0"/>
          </a:p>
        </p:txBody>
      </p:sp>
      <p:sp>
        <p:nvSpPr>
          <p:cNvPr id="8" name="Shape 6"/>
          <p:cNvSpPr/>
          <p:nvPr/>
        </p:nvSpPr>
        <p:spPr>
          <a:xfrm>
            <a:off x="4352544" y="1664208"/>
            <a:ext cx="3474720" cy="3337560"/>
          </a:xfrm>
          <a:prstGeom prst="roundRect">
            <a:avLst>
              <a:gd name="adj" fmla="val 3288"/>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9" name="Shape 7"/>
          <p:cNvSpPr/>
          <p:nvPr/>
        </p:nvSpPr>
        <p:spPr>
          <a:xfrm>
            <a:off x="7351776" y="1956816"/>
            <a:ext cx="201168" cy="201168"/>
          </a:xfrm>
          <a:prstGeom prst="ellipse">
            <a:avLst/>
          </a:prstGeom>
          <a:solidFill>
            <a:srgbClr val="2E7BA6"/>
          </a:solidFill>
          <a:ln w="12700">
            <a:solidFill>
              <a:srgbClr val="2E7BA6"/>
            </a:solidFill>
            <a:prstDash val="solid"/>
          </a:ln>
        </p:spPr>
      </p:sp>
      <p:sp>
        <p:nvSpPr>
          <p:cNvPr id="10" name="Text 8"/>
          <p:cNvSpPr/>
          <p:nvPr/>
        </p:nvSpPr>
        <p:spPr>
          <a:xfrm>
            <a:off x="4617720" y="1828800"/>
            <a:ext cx="2606040" cy="457200"/>
          </a:xfrm>
          <a:prstGeom prst="rect">
            <a:avLst/>
          </a:prstGeom>
          <a:noFill/>
          <a:ln/>
        </p:spPr>
        <p:txBody>
          <a:bodyPr wrap="square" lIns="0" tIns="0" rIns="0" bIns="0" rtlCol="0" anchor="ctr"/>
          <a:lstStyle/>
          <a:p>
            <a:pPr rtl="1" algn="r" indent="0" marL="0">
              <a:buNone/>
            </a:pPr>
            <a:r>
              <a:rPr lang="ar-SA" altLang="en-US" sz="1700" b="1" dirty="0">
                <a:solidFill>
                  <a:srgbClr val="0B3B3C"/>
                </a:solidFill>
                <a:latin typeface="Arial" pitchFamily="34" charset="0"/>
                <a:ea typeface="Arial" pitchFamily="34" charset="-122"/>
                <a:cs typeface="Arial" pitchFamily="34" charset="-120"/>
              </a:rPr>
              <a:t>طريقة الحفظ</a:t>
            </a:r>
            <a:endParaRPr lang="ar-SA" sz="1700" dirty="0"/>
          </a:p>
        </p:txBody>
      </p:sp>
      <p:sp>
        <p:nvSpPr>
          <p:cNvPr id="11" name="Text 9"/>
          <p:cNvSpPr/>
          <p:nvPr/>
        </p:nvSpPr>
        <p:spPr>
          <a:xfrm>
            <a:off x="4663440" y="2395728"/>
            <a:ext cx="2560320" cy="2514600"/>
          </a:xfrm>
          <a:prstGeom prst="rect">
            <a:avLst/>
          </a:prstGeom>
          <a:noFill/>
          <a:ln/>
        </p:spPr>
        <p:txBody>
          <a:bodyPr wrap="square" lIns="0" tIns="0" rIns="0" bIns="0" rtlCol="0" anchor="t"/>
          <a:lstStyle/>
          <a:p>
            <a:pPr rtl="1" algn="r" marL="342900" indent="-342900">
              <a:spcAft>
                <a:spcPts val="700"/>
              </a:spcAft>
              <a:buSzPct val="100000"/>
              <a:buChar char="●"/>
            </a:pPr>
            <a:r>
              <a:rPr lang="ar-SA" altLang="en-US" sz="1300" dirty="0">
                <a:solidFill>
                  <a:srgbClr val="24403F"/>
                </a:solidFill>
                <a:latin typeface="Arial" pitchFamily="34" charset="0"/>
                <a:ea typeface="Arial" pitchFamily="34" charset="-122"/>
                <a:cs typeface="Arial" pitchFamily="34" charset="-120"/>
              </a:rPr>
              <a:t>في البيت</a:t>
            </a:r>
            <a:endParaRPr lang="ar-SA" altLang="en-US" sz="1300" dirty="0"/>
          </a:p>
          <a:p>
            <a:pPr rtl="1" algn="r" marL="342900" indent="-342900">
              <a:spcBef>
                <a:spcPts val="500"/>
              </a:spcBef>
              <a:spcAft>
                <a:spcPts val="700"/>
              </a:spcAft>
              <a:buSzPct val="100000"/>
              <a:buChar char="●"/>
            </a:pPr>
            <a:r>
              <a:rPr lang="ar-SA" altLang="en-US" sz="1300" dirty="0">
                <a:solidFill>
                  <a:srgbClr val="24403F"/>
                </a:solidFill>
                <a:latin typeface="Arial" pitchFamily="34" charset="0"/>
                <a:ea typeface="Arial" pitchFamily="34" charset="-122"/>
                <a:cs typeface="Arial" pitchFamily="34" charset="-120"/>
              </a:rPr>
              <a:t>نسخة من المقطع المطلوب حفظه (ملف شفاف) والمصحف</a:t>
            </a:r>
            <a:endParaRPr lang="ar-SA" altLang="en-US" sz="1300" dirty="0"/>
          </a:p>
          <a:p>
            <a:pPr rtl="1" algn="r" marL="342900" indent="-342900">
              <a:spcBef>
                <a:spcPts val="500"/>
              </a:spcBef>
              <a:spcAft>
                <a:spcPts val="700"/>
              </a:spcAft>
              <a:buSzPct val="100000"/>
              <a:buChar char="●"/>
            </a:pPr>
            <a:r>
              <a:rPr lang="ar-SA" altLang="en-US" sz="1300" dirty="0">
                <a:solidFill>
                  <a:srgbClr val="24403F"/>
                </a:solidFill>
                <a:latin typeface="Arial" pitchFamily="34" charset="0"/>
                <a:ea typeface="Arial" pitchFamily="34" charset="-122"/>
                <a:cs typeface="Arial" pitchFamily="34" charset="-120"/>
              </a:rPr>
              <a:t>الهدف الأسبوعي: من 3 إلى 5 أسطر أو من 7 إلى 10 أسطر حسب رقم البطاقة</a:t>
            </a:r>
            <a:endParaRPr lang="ar-SA" altLang="en-US" sz="1300" dirty="0"/>
          </a:p>
        </p:txBody>
      </p:sp>
      <p:sp>
        <p:nvSpPr>
          <p:cNvPr id="12" name="Shape 10"/>
          <p:cNvSpPr/>
          <p:nvPr/>
        </p:nvSpPr>
        <p:spPr>
          <a:xfrm>
            <a:off x="566928" y="1664208"/>
            <a:ext cx="3474720" cy="3337560"/>
          </a:xfrm>
          <a:prstGeom prst="roundRect">
            <a:avLst>
              <a:gd name="adj" fmla="val 3288"/>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13" name="Shape 11"/>
          <p:cNvSpPr/>
          <p:nvPr/>
        </p:nvSpPr>
        <p:spPr>
          <a:xfrm>
            <a:off x="3566160" y="1956816"/>
            <a:ext cx="201168" cy="201168"/>
          </a:xfrm>
          <a:prstGeom prst="ellipse">
            <a:avLst/>
          </a:prstGeom>
          <a:solidFill>
            <a:srgbClr val="2E7BA6"/>
          </a:solidFill>
          <a:ln w="12700">
            <a:solidFill>
              <a:srgbClr val="2E7BA6"/>
            </a:solidFill>
            <a:prstDash val="solid"/>
          </a:ln>
        </p:spPr>
      </p:sp>
      <p:sp>
        <p:nvSpPr>
          <p:cNvPr id="14" name="Text 12"/>
          <p:cNvSpPr/>
          <p:nvPr/>
        </p:nvSpPr>
        <p:spPr>
          <a:xfrm>
            <a:off x="832104" y="1828800"/>
            <a:ext cx="2606040" cy="457200"/>
          </a:xfrm>
          <a:prstGeom prst="rect">
            <a:avLst/>
          </a:prstGeom>
          <a:noFill/>
          <a:ln/>
        </p:spPr>
        <p:txBody>
          <a:bodyPr wrap="square" lIns="0" tIns="0" rIns="0" bIns="0" rtlCol="0" anchor="ctr"/>
          <a:lstStyle/>
          <a:p>
            <a:pPr rtl="1" algn="r" indent="0" marL="0">
              <a:buNone/>
            </a:pPr>
            <a:r>
              <a:rPr lang="ar-SA" altLang="en-US" sz="1700" b="1" dirty="0">
                <a:solidFill>
                  <a:srgbClr val="0B3B3C"/>
                </a:solidFill>
                <a:latin typeface="Arial" pitchFamily="34" charset="0"/>
                <a:ea typeface="Arial" pitchFamily="34" charset="-122"/>
                <a:cs typeface="Arial" pitchFamily="34" charset="-120"/>
              </a:rPr>
              <a:t>المراجعة</a:t>
            </a:r>
            <a:endParaRPr lang="ar-SA" sz="1700" dirty="0"/>
          </a:p>
        </p:txBody>
      </p:sp>
      <p:sp>
        <p:nvSpPr>
          <p:cNvPr id="15" name="Text 13"/>
          <p:cNvSpPr/>
          <p:nvPr/>
        </p:nvSpPr>
        <p:spPr>
          <a:xfrm>
            <a:off x="877824" y="2395728"/>
            <a:ext cx="2560320" cy="2514600"/>
          </a:xfrm>
          <a:prstGeom prst="rect">
            <a:avLst/>
          </a:prstGeom>
          <a:noFill/>
          <a:ln/>
        </p:spPr>
        <p:txBody>
          <a:bodyPr wrap="square" lIns="0" tIns="0" rIns="0" bIns="0" rtlCol="0" anchor="t"/>
          <a:lstStyle/>
          <a:p>
            <a:pPr rtl="1" algn="r" marL="342900" indent="-342900">
              <a:spcAft>
                <a:spcPts val="700"/>
              </a:spcAft>
              <a:buSzPct val="100000"/>
              <a:buChar char="●"/>
            </a:pPr>
            <a:r>
              <a:rPr lang="ar-SA" altLang="en-US" sz="1300" dirty="0">
                <a:solidFill>
                  <a:srgbClr val="24403F"/>
                </a:solidFill>
                <a:latin typeface="Arial" pitchFamily="34" charset="0"/>
                <a:ea typeface="Arial" pitchFamily="34" charset="-122"/>
                <a:cs typeface="Arial" pitchFamily="34" charset="-120"/>
              </a:rPr>
              <a:t>في القسم</a:t>
            </a:r>
            <a:endParaRPr lang="ar-SA" altLang="en-US" sz="1300" dirty="0"/>
          </a:p>
          <a:p>
            <a:pPr rtl="1" algn="r" marL="342900" indent="-342900">
              <a:spcBef>
                <a:spcPts val="500"/>
              </a:spcBef>
              <a:spcAft>
                <a:spcPts val="700"/>
              </a:spcAft>
              <a:buSzPct val="100000"/>
              <a:buChar char="●"/>
            </a:pPr>
            <a:r>
              <a:rPr lang="ar-SA" altLang="en-US" sz="1300" dirty="0">
                <a:solidFill>
                  <a:srgbClr val="24403F"/>
                </a:solidFill>
                <a:latin typeface="Arial" pitchFamily="34" charset="0"/>
                <a:ea typeface="Arial" pitchFamily="34" charset="-122"/>
                <a:cs typeface="Arial" pitchFamily="34" charset="-120"/>
              </a:rPr>
              <a:t>بشكل جماعي أو فردي أو ثنائي</a:t>
            </a:r>
            <a:endParaRPr lang="ar-SA" altLang="en-US" sz="1300" dirty="0"/>
          </a:p>
        </p:txBody>
      </p:sp>
      <p:sp>
        <p:nvSpPr>
          <p:cNvPr id="16" name="Text 14"/>
          <p:cNvSpPr/>
          <p:nvPr/>
        </p:nvSpPr>
        <p:spPr>
          <a:xfrm>
            <a:off x="566928" y="6382512"/>
            <a:ext cx="7772400" cy="274320"/>
          </a:xfrm>
          <a:prstGeom prst="rect">
            <a:avLst/>
          </a:prstGeom>
          <a:noFill/>
          <a:ln/>
        </p:spPr>
        <p:txBody>
          <a:bodyPr wrap="square" lIns="0" tIns="0" rIns="0" bIns="0" rtlCol="0" anchor="ctr"/>
          <a:lstStyle/>
          <a:p>
            <a:pPr rtl="1" algn="r" indent="0" marL="0">
              <a:buNone/>
            </a:pPr>
            <a:r>
              <a:rPr lang="ar-SA" altLang="en-US" sz="1000" dirty="0">
                <a:solidFill>
                  <a:srgbClr val="5F7574"/>
                </a:solidFill>
                <a:latin typeface="Arial" pitchFamily="34" charset="0"/>
                <a:ea typeface="Arial" pitchFamily="34" charset="-122"/>
                <a:cs typeface="Arial" pitchFamily="34" charset="-120"/>
              </a:rPr>
              <a:t>عمل حرّ — غير قابل للاستغلال التجاري — bitaqat-hifd-quran.com</a:t>
            </a:r>
            <a:endParaRPr lang="ar-SA" sz="1000" dirty="0"/>
          </a:p>
        </p:txBody>
      </p:sp>
      <p:sp>
        <p:nvSpPr>
          <p:cNvPr id="17" name="Text 15"/>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Arial" pitchFamily="34" charset="0"/>
                <a:ea typeface="Arial" pitchFamily="34" charset="-122"/>
                <a:cs typeface="Arial" pitchFamily="34" charset="-120"/>
              </a:rPr>
              <a:t>11</a:t>
            </a:r>
            <a:endParaRPr lang="ar-SA" alt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rtl="1" algn="r" indent="0" marL="0">
              <a:buNone/>
            </a:pPr>
            <a:r>
              <a:rPr lang="ar-SA" altLang="en-US" sz="3200" b="1" dirty="0">
                <a:solidFill>
                  <a:srgbClr val="0B3B3C"/>
                </a:solidFill>
                <a:latin typeface="Arial" pitchFamily="34" charset="0"/>
                <a:ea typeface="Arial" pitchFamily="34" charset="-122"/>
                <a:cs typeface="Arial" pitchFamily="34" charset="-120"/>
              </a:rPr>
              <a:t>تنظيم الدروس</a:t>
            </a:r>
            <a:endParaRPr lang="ar-SA" sz="3200" dirty="0"/>
          </a:p>
        </p:txBody>
      </p:sp>
      <p:sp>
        <p:nvSpPr>
          <p:cNvPr id="3" name="Text 1"/>
          <p:cNvSpPr/>
          <p:nvPr/>
        </p:nvSpPr>
        <p:spPr>
          <a:xfrm>
            <a:off x="566928" y="914400"/>
            <a:ext cx="11045952" cy="329184"/>
          </a:xfrm>
          <a:prstGeom prst="rect">
            <a:avLst/>
          </a:prstGeom>
          <a:noFill/>
          <a:ln/>
        </p:spPr>
        <p:txBody>
          <a:bodyPr wrap="square" lIns="0" tIns="0" rIns="0" bIns="0" rtlCol="0" anchor="ctr"/>
          <a:lstStyle/>
          <a:p>
            <a:pPr rtl="1" algn="r" indent="0" marL="0">
              <a:buNone/>
            </a:pPr>
            <a:r>
              <a:rPr lang="ar-SA" altLang="en-US" sz="1500" dirty="0">
                <a:solidFill>
                  <a:srgbClr val="9E3B4E"/>
                </a:solidFill>
                <a:latin typeface="Arial" pitchFamily="34" charset="0"/>
                <a:ea typeface="Arial" pitchFamily="34" charset="-122"/>
                <a:cs typeface="Arial" pitchFamily="34" charset="-120"/>
              </a:rPr>
              <a:t>المستوى «المتقدّم»</a:t>
            </a:r>
            <a:endParaRPr lang="ar-SA" sz="1500" dirty="0"/>
          </a:p>
        </p:txBody>
      </p:sp>
      <p:sp>
        <p:nvSpPr>
          <p:cNvPr id="4" name="Shape 2"/>
          <p:cNvSpPr/>
          <p:nvPr/>
        </p:nvSpPr>
        <p:spPr>
          <a:xfrm>
            <a:off x="8138160" y="1664208"/>
            <a:ext cx="3474720" cy="3337560"/>
          </a:xfrm>
          <a:prstGeom prst="roundRect">
            <a:avLst>
              <a:gd name="adj" fmla="val 3288"/>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5" name="Shape 3"/>
          <p:cNvSpPr/>
          <p:nvPr/>
        </p:nvSpPr>
        <p:spPr>
          <a:xfrm>
            <a:off x="11137392" y="1956816"/>
            <a:ext cx="201168" cy="201168"/>
          </a:xfrm>
          <a:prstGeom prst="ellipse">
            <a:avLst/>
          </a:prstGeom>
          <a:solidFill>
            <a:srgbClr val="9E3B4E"/>
          </a:solidFill>
          <a:ln w="12700">
            <a:solidFill>
              <a:srgbClr val="9E3B4E"/>
            </a:solidFill>
            <a:prstDash val="solid"/>
          </a:ln>
        </p:spPr>
      </p:sp>
      <p:sp>
        <p:nvSpPr>
          <p:cNvPr id="6" name="Text 4"/>
          <p:cNvSpPr/>
          <p:nvPr/>
        </p:nvSpPr>
        <p:spPr>
          <a:xfrm>
            <a:off x="8403336" y="1828800"/>
            <a:ext cx="2606040" cy="457200"/>
          </a:xfrm>
          <a:prstGeom prst="rect">
            <a:avLst/>
          </a:prstGeom>
          <a:noFill/>
          <a:ln/>
        </p:spPr>
        <p:txBody>
          <a:bodyPr wrap="square" lIns="0" tIns="0" rIns="0" bIns="0" rtlCol="0" anchor="ctr"/>
          <a:lstStyle/>
          <a:p>
            <a:pPr rtl="1" algn="r" indent="0" marL="0">
              <a:buNone/>
            </a:pPr>
            <a:r>
              <a:rPr lang="ar-SA" altLang="en-US" sz="1700" b="1" dirty="0">
                <a:solidFill>
                  <a:srgbClr val="0B3B3C"/>
                </a:solidFill>
                <a:latin typeface="Arial" pitchFamily="34" charset="0"/>
                <a:ea typeface="Arial" pitchFamily="34" charset="-122"/>
                <a:cs typeface="Arial" pitchFamily="34" charset="-120"/>
              </a:rPr>
              <a:t>الأهداف</a:t>
            </a:r>
            <a:endParaRPr lang="ar-SA" sz="1700" dirty="0"/>
          </a:p>
        </p:txBody>
      </p:sp>
      <p:sp>
        <p:nvSpPr>
          <p:cNvPr id="7" name="Text 5"/>
          <p:cNvSpPr/>
          <p:nvPr/>
        </p:nvSpPr>
        <p:spPr>
          <a:xfrm>
            <a:off x="8449056" y="2395728"/>
            <a:ext cx="2560320" cy="2514600"/>
          </a:xfrm>
          <a:prstGeom prst="rect">
            <a:avLst/>
          </a:prstGeom>
          <a:noFill/>
          <a:ln/>
        </p:spPr>
        <p:txBody>
          <a:bodyPr wrap="square" lIns="0" tIns="0" rIns="0" bIns="0" rtlCol="0" anchor="t"/>
          <a:lstStyle/>
          <a:p>
            <a:pPr rtl="1" algn="r" marL="342900" indent="-342900">
              <a:spcAft>
                <a:spcPts val="700"/>
              </a:spcAft>
              <a:buSzPct val="100000"/>
              <a:buChar char="●"/>
            </a:pPr>
            <a:r>
              <a:rPr lang="ar-SA" altLang="en-US" sz="1300" dirty="0">
                <a:solidFill>
                  <a:srgbClr val="24403F"/>
                </a:solidFill>
                <a:latin typeface="Arial" pitchFamily="34" charset="0"/>
                <a:ea typeface="Arial" pitchFamily="34" charset="-122"/>
                <a:cs typeface="Arial" pitchFamily="34" charset="-120"/>
              </a:rPr>
              <a:t>القرآن</a:t>
            </a:r>
            <a:endParaRPr lang="ar-SA" altLang="en-US" sz="1300" dirty="0"/>
          </a:p>
          <a:p>
            <a:pPr rtl="1" algn="r" lvl="1" marL="685800" indent="-342900">
              <a:spcAft>
                <a:spcPts val="300"/>
              </a:spcAft>
              <a:buSzPct val="100000"/>
              <a:buChar char="▪"/>
            </a:pPr>
            <a:r>
              <a:rPr lang="ar-SA" altLang="en-US" sz="1100" dirty="0">
                <a:solidFill>
                  <a:srgbClr val="5F7574"/>
                </a:solidFill>
                <a:latin typeface="Arial" pitchFamily="34" charset="0"/>
                <a:ea typeface="Arial" pitchFamily="34" charset="-122"/>
                <a:cs typeface="Arial" pitchFamily="34" charset="-120"/>
              </a:rPr>
              <a:t>تحقيق الهدف السنوي لبطاقة التسميع (حسب الرقم)</a:t>
            </a:r>
            <a:endParaRPr lang="ar-SA" altLang="en-US" sz="1300" dirty="0"/>
          </a:p>
          <a:p>
            <a:pPr rtl="1" algn="r" lvl="1" marL="685800" indent="-342900">
              <a:spcAft>
                <a:spcPts val="300"/>
              </a:spcAft>
              <a:buSzPct val="100000"/>
              <a:buChar char="▪"/>
            </a:pPr>
            <a:r>
              <a:rPr lang="ar-SA" altLang="en-US" sz="1100" dirty="0">
                <a:solidFill>
                  <a:srgbClr val="5F7574"/>
                </a:solidFill>
                <a:latin typeface="Arial" pitchFamily="34" charset="0"/>
                <a:ea typeface="Arial" pitchFamily="34" charset="-122"/>
                <a:cs typeface="Arial" pitchFamily="34" charset="-120"/>
              </a:rPr>
              <a:t>إتقان أحزاب السنوات السابقة</a:t>
            </a:r>
            <a:endParaRPr lang="ar-SA" altLang="en-US" sz="1300" dirty="0"/>
          </a:p>
          <a:p>
            <a:pPr rtl="1" algn="r" marL="342900" indent="-342900">
              <a:spcBef>
                <a:spcPts val="500"/>
              </a:spcBef>
              <a:spcAft>
                <a:spcPts val="700"/>
              </a:spcAft>
              <a:buSzPct val="100000"/>
              <a:buChar char="●"/>
            </a:pPr>
            <a:r>
              <a:rPr lang="ar-SA" altLang="en-US" sz="1300" dirty="0">
                <a:solidFill>
                  <a:srgbClr val="24403F"/>
                </a:solidFill>
                <a:latin typeface="Arial" pitchFamily="34" charset="0"/>
                <a:ea typeface="Arial" pitchFamily="34" charset="-122"/>
                <a:cs typeface="Arial" pitchFamily="34" charset="-120"/>
              </a:rPr>
              <a:t>المنهج</a:t>
            </a:r>
            <a:endParaRPr lang="ar-SA" altLang="en-US" sz="1300" dirty="0"/>
          </a:p>
          <a:p>
            <a:pPr rtl="1" algn="r" lvl="1" marL="685800" indent="-342900">
              <a:spcAft>
                <a:spcPts val="300"/>
              </a:spcAft>
              <a:buSzPct val="100000"/>
              <a:buChar char="▪"/>
            </a:pPr>
            <a:r>
              <a:rPr lang="ar-SA" altLang="en-US" sz="1100" dirty="0">
                <a:solidFill>
                  <a:srgbClr val="5F7574"/>
                </a:solidFill>
                <a:latin typeface="Arial" pitchFamily="34" charset="0"/>
                <a:ea typeface="Arial" pitchFamily="34" charset="-122"/>
                <a:cs typeface="Arial" pitchFamily="34" charset="-120"/>
              </a:rPr>
              <a:t>إتقان أحكام التجويد</a:t>
            </a:r>
            <a:endParaRPr lang="ar-SA" altLang="en-US" sz="1300" dirty="0"/>
          </a:p>
          <a:p>
            <a:pPr rtl="1" algn="r" lvl="1" marL="685800" indent="-342900">
              <a:spcAft>
                <a:spcPts val="300"/>
              </a:spcAft>
              <a:buSzPct val="100000"/>
              <a:buChar char="▪"/>
            </a:pPr>
            <a:r>
              <a:rPr lang="ar-SA" altLang="en-US" sz="1100" dirty="0">
                <a:solidFill>
                  <a:srgbClr val="5F7574"/>
                </a:solidFill>
                <a:latin typeface="Arial" pitchFamily="34" charset="0"/>
                <a:ea typeface="Arial" pitchFamily="34" charset="-122"/>
                <a:cs typeface="Arial" pitchFamily="34" charset="-120"/>
              </a:rPr>
              <a:t>الرفع من حجم الحفظ والمراجعة</a:t>
            </a:r>
            <a:endParaRPr lang="ar-SA" altLang="en-US" sz="1300" dirty="0"/>
          </a:p>
        </p:txBody>
      </p:sp>
      <p:sp>
        <p:nvSpPr>
          <p:cNvPr id="8" name="Shape 6"/>
          <p:cNvSpPr/>
          <p:nvPr/>
        </p:nvSpPr>
        <p:spPr>
          <a:xfrm>
            <a:off x="4352544" y="1664208"/>
            <a:ext cx="3474720" cy="3337560"/>
          </a:xfrm>
          <a:prstGeom prst="roundRect">
            <a:avLst>
              <a:gd name="adj" fmla="val 3288"/>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9" name="Shape 7"/>
          <p:cNvSpPr/>
          <p:nvPr/>
        </p:nvSpPr>
        <p:spPr>
          <a:xfrm>
            <a:off x="7351776" y="1956816"/>
            <a:ext cx="201168" cy="201168"/>
          </a:xfrm>
          <a:prstGeom prst="ellipse">
            <a:avLst/>
          </a:prstGeom>
          <a:solidFill>
            <a:srgbClr val="9E3B4E"/>
          </a:solidFill>
          <a:ln w="12700">
            <a:solidFill>
              <a:srgbClr val="9E3B4E"/>
            </a:solidFill>
            <a:prstDash val="solid"/>
          </a:ln>
        </p:spPr>
      </p:sp>
      <p:sp>
        <p:nvSpPr>
          <p:cNvPr id="10" name="Text 8"/>
          <p:cNvSpPr/>
          <p:nvPr/>
        </p:nvSpPr>
        <p:spPr>
          <a:xfrm>
            <a:off x="4617720" y="1828800"/>
            <a:ext cx="2606040" cy="457200"/>
          </a:xfrm>
          <a:prstGeom prst="rect">
            <a:avLst/>
          </a:prstGeom>
          <a:noFill/>
          <a:ln/>
        </p:spPr>
        <p:txBody>
          <a:bodyPr wrap="square" lIns="0" tIns="0" rIns="0" bIns="0" rtlCol="0" anchor="ctr"/>
          <a:lstStyle/>
          <a:p>
            <a:pPr rtl="1" algn="r" indent="0" marL="0">
              <a:buNone/>
            </a:pPr>
            <a:r>
              <a:rPr lang="ar-SA" altLang="en-US" sz="1700" b="1" dirty="0">
                <a:solidFill>
                  <a:srgbClr val="0B3B3C"/>
                </a:solidFill>
                <a:latin typeface="Arial" pitchFamily="34" charset="0"/>
                <a:ea typeface="Arial" pitchFamily="34" charset="-122"/>
                <a:cs typeface="Arial" pitchFamily="34" charset="-120"/>
              </a:rPr>
              <a:t>طريقة الحفظ</a:t>
            </a:r>
            <a:endParaRPr lang="ar-SA" sz="1700" dirty="0"/>
          </a:p>
        </p:txBody>
      </p:sp>
      <p:sp>
        <p:nvSpPr>
          <p:cNvPr id="11" name="Text 9"/>
          <p:cNvSpPr/>
          <p:nvPr/>
        </p:nvSpPr>
        <p:spPr>
          <a:xfrm>
            <a:off x="4663440" y="2395728"/>
            <a:ext cx="2560320" cy="2514600"/>
          </a:xfrm>
          <a:prstGeom prst="rect">
            <a:avLst/>
          </a:prstGeom>
          <a:noFill/>
          <a:ln/>
        </p:spPr>
        <p:txBody>
          <a:bodyPr wrap="square" lIns="0" tIns="0" rIns="0" bIns="0" rtlCol="0" anchor="t"/>
          <a:lstStyle/>
          <a:p>
            <a:pPr rtl="1" algn="r" marL="342900" indent="-342900">
              <a:spcAft>
                <a:spcPts val="700"/>
              </a:spcAft>
              <a:buSzPct val="100000"/>
              <a:buChar char="●"/>
            </a:pPr>
            <a:r>
              <a:rPr lang="ar-SA" altLang="en-US" sz="1300" dirty="0">
                <a:solidFill>
                  <a:srgbClr val="24403F"/>
                </a:solidFill>
                <a:latin typeface="Arial" pitchFamily="34" charset="0"/>
                <a:ea typeface="Arial" pitchFamily="34" charset="-122"/>
                <a:cs typeface="Arial" pitchFamily="34" charset="-120"/>
              </a:rPr>
              <a:t>بشكل مستقل في البيت</a:t>
            </a:r>
            <a:endParaRPr lang="ar-SA" altLang="en-US" sz="1300" dirty="0"/>
          </a:p>
          <a:p>
            <a:pPr rtl="1" algn="r" marL="342900" indent="-342900">
              <a:spcBef>
                <a:spcPts val="500"/>
              </a:spcBef>
              <a:spcAft>
                <a:spcPts val="700"/>
              </a:spcAft>
              <a:buSzPct val="100000"/>
              <a:buChar char="●"/>
            </a:pPr>
            <a:r>
              <a:rPr lang="ar-SA" altLang="en-US" sz="1300" dirty="0">
                <a:solidFill>
                  <a:srgbClr val="24403F"/>
                </a:solidFill>
                <a:latin typeface="Arial" pitchFamily="34" charset="0"/>
                <a:ea typeface="Arial" pitchFamily="34" charset="-122"/>
                <a:cs typeface="Arial" pitchFamily="34" charset="-120"/>
              </a:rPr>
              <a:t>المصحف</a:t>
            </a:r>
            <a:endParaRPr lang="ar-SA" altLang="en-US" sz="1300" dirty="0"/>
          </a:p>
          <a:p>
            <a:pPr rtl="1" algn="r" marL="342900" indent="-342900">
              <a:spcBef>
                <a:spcPts val="500"/>
              </a:spcBef>
              <a:spcAft>
                <a:spcPts val="700"/>
              </a:spcAft>
              <a:buSzPct val="100000"/>
              <a:buChar char="●"/>
            </a:pPr>
            <a:r>
              <a:rPr lang="ar-SA" altLang="en-US" sz="1300" dirty="0">
                <a:solidFill>
                  <a:srgbClr val="24403F"/>
                </a:solidFill>
                <a:latin typeface="Arial" pitchFamily="34" charset="0"/>
                <a:ea typeface="Arial" pitchFamily="34" charset="-122"/>
                <a:cs typeface="Arial" pitchFamily="34" charset="-120"/>
              </a:rPr>
              <a:t>الهدف الأسبوعي: من 15 إلى 20 سطرًا (نصف حزب في الشهر)</a:t>
            </a:r>
            <a:endParaRPr lang="ar-SA" altLang="en-US" sz="1300" dirty="0"/>
          </a:p>
        </p:txBody>
      </p:sp>
      <p:sp>
        <p:nvSpPr>
          <p:cNvPr id="12" name="Shape 10"/>
          <p:cNvSpPr/>
          <p:nvPr/>
        </p:nvSpPr>
        <p:spPr>
          <a:xfrm>
            <a:off x="566928" y="1664208"/>
            <a:ext cx="3474720" cy="3337560"/>
          </a:xfrm>
          <a:prstGeom prst="roundRect">
            <a:avLst>
              <a:gd name="adj" fmla="val 3288"/>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13" name="Shape 11"/>
          <p:cNvSpPr/>
          <p:nvPr/>
        </p:nvSpPr>
        <p:spPr>
          <a:xfrm>
            <a:off x="3566160" y="1956816"/>
            <a:ext cx="201168" cy="201168"/>
          </a:xfrm>
          <a:prstGeom prst="ellipse">
            <a:avLst/>
          </a:prstGeom>
          <a:solidFill>
            <a:srgbClr val="9E3B4E"/>
          </a:solidFill>
          <a:ln w="12700">
            <a:solidFill>
              <a:srgbClr val="9E3B4E"/>
            </a:solidFill>
            <a:prstDash val="solid"/>
          </a:ln>
        </p:spPr>
      </p:sp>
      <p:sp>
        <p:nvSpPr>
          <p:cNvPr id="14" name="Text 12"/>
          <p:cNvSpPr/>
          <p:nvPr/>
        </p:nvSpPr>
        <p:spPr>
          <a:xfrm>
            <a:off x="832104" y="1828800"/>
            <a:ext cx="2606040" cy="457200"/>
          </a:xfrm>
          <a:prstGeom prst="rect">
            <a:avLst/>
          </a:prstGeom>
          <a:noFill/>
          <a:ln/>
        </p:spPr>
        <p:txBody>
          <a:bodyPr wrap="square" lIns="0" tIns="0" rIns="0" bIns="0" rtlCol="0" anchor="ctr"/>
          <a:lstStyle/>
          <a:p>
            <a:pPr rtl="1" algn="r" indent="0" marL="0">
              <a:buNone/>
            </a:pPr>
            <a:r>
              <a:rPr lang="ar-SA" altLang="en-US" sz="1700" b="1" dirty="0">
                <a:solidFill>
                  <a:srgbClr val="0B3B3C"/>
                </a:solidFill>
                <a:latin typeface="Arial" pitchFamily="34" charset="0"/>
                <a:ea typeface="Arial" pitchFamily="34" charset="-122"/>
                <a:cs typeface="Arial" pitchFamily="34" charset="-120"/>
              </a:rPr>
              <a:t>المراجعة</a:t>
            </a:r>
            <a:endParaRPr lang="ar-SA" sz="1700" dirty="0"/>
          </a:p>
        </p:txBody>
      </p:sp>
      <p:sp>
        <p:nvSpPr>
          <p:cNvPr id="15" name="Text 13"/>
          <p:cNvSpPr/>
          <p:nvPr/>
        </p:nvSpPr>
        <p:spPr>
          <a:xfrm>
            <a:off x="877824" y="2395728"/>
            <a:ext cx="2560320" cy="2514600"/>
          </a:xfrm>
          <a:prstGeom prst="rect">
            <a:avLst/>
          </a:prstGeom>
          <a:noFill/>
          <a:ln/>
        </p:spPr>
        <p:txBody>
          <a:bodyPr wrap="square" lIns="0" tIns="0" rIns="0" bIns="0" rtlCol="0" anchor="t"/>
          <a:lstStyle/>
          <a:p>
            <a:pPr rtl="1" algn="r" marL="342900" indent="-342900">
              <a:spcAft>
                <a:spcPts val="700"/>
              </a:spcAft>
              <a:buSzPct val="100000"/>
              <a:buChar char="●"/>
            </a:pPr>
            <a:r>
              <a:rPr lang="ar-SA" altLang="en-US" sz="1300" dirty="0">
                <a:solidFill>
                  <a:srgbClr val="24403F"/>
                </a:solidFill>
                <a:latin typeface="Arial" pitchFamily="34" charset="0"/>
                <a:ea typeface="Arial" pitchFamily="34" charset="-122"/>
                <a:cs typeface="Arial" pitchFamily="34" charset="-120"/>
              </a:rPr>
              <a:t>في القسم</a:t>
            </a:r>
            <a:endParaRPr lang="ar-SA" altLang="en-US" sz="1300" dirty="0"/>
          </a:p>
          <a:p>
            <a:pPr rtl="1" algn="r" marL="342900" indent="-342900">
              <a:spcBef>
                <a:spcPts val="500"/>
              </a:spcBef>
              <a:spcAft>
                <a:spcPts val="700"/>
              </a:spcAft>
              <a:buSzPct val="100000"/>
              <a:buChar char="●"/>
            </a:pPr>
            <a:r>
              <a:rPr lang="ar-SA" altLang="en-US" sz="1300" dirty="0">
                <a:solidFill>
                  <a:srgbClr val="24403F"/>
                </a:solidFill>
                <a:latin typeface="Arial" pitchFamily="34" charset="0"/>
                <a:ea typeface="Arial" pitchFamily="34" charset="-122"/>
                <a:cs typeface="Arial" pitchFamily="34" charset="-120"/>
              </a:rPr>
              <a:t>فردي أو ثنائي أو جماعي</a:t>
            </a:r>
            <a:endParaRPr lang="ar-SA" altLang="en-US" sz="1300" dirty="0"/>
          </a:p>
        </p:txBody>
      </p:sp>
      <p:sp>
        <p:nvSpPr>
          <p:cNvPr id="16" name="Text 14"/>
          <p:cNvSpPr/>
          <p:nvPr/>
        </p:nvSpPr>
        <p:spPr>
          <a:xfrm>
            <a:off x="566928" y="6382512"/>
            <a:ext cx="7772400" cy="274320"/>
          </a:xfrm>
          <a:prstGeom prst="rect">
            <a:avLst/>
          </a:prstGeom>
          <a:noFill/>
          <a:ln/>
        </p:spPr>
        <p:txBody>
          <a:bodyPr wrap="square" lIns="0" tIns="0" rIns="0" bIns="0" rtlCol="0" anchor="ctr"/>
          <a:lstStyle/>
          <a:p>
            <a:pPr rtl="1" algn="r" indent="0" marL="0">
              <a:buNone/>
            </a:pPr>
            <a:r>
              <a:rPr lang="ar-SA" altLang="en-US" sz="1000" dirty="0">
                <a:solidFill>
                  <a:srgbClr val="5F7574"/>
                </a:solidFill>
                <a:latin typeface="Arial" pitchFamily="34" charset="0"/>
                <a:ea typeface="Arial" pitchFamily="34" charset="-122"/>
                <a:cs typeface="Arial" pitchFamily="34" charset="-120"/>
              </a:rPr>
              <a:t>عمل حرّ — غير قابل للاستغلال التجاري — bitaqat-hifd-quran.com</a:t>
            </a:r>
            <a:endParaRPr lang="ar-SA" sz="1000" dirty="0"/>
          </a:p>
        </p:txBody>
      </p:sp>
      <p:sp>
        <p:nvSpPr>
          <p:cNvPr id="17" name="Text 15"/>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Arial" pitchFamily="34" charset="0"/>
                <a:ea typeface="Arial" pitchFamily="34" charset="-122"/>
                <a:cs typeface="Arial" pitchFamily="34" charset="-120"/>
              </a:rPr>
              <a:t>12</a:t>
            </a:r>
            <a:endParaRPr lang="ar-SA" alt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rtl="1" algn="r" indent="0" marL="0">
              <a:buNone/>
            </a:pPr>
            <a:r>
              <a:rPr lang="ar-SA" altLang="en-US" sz="3200" b="1" dirty="0">
                <a:solidFill>
                  <a:srgbClr val="0B3B3C"/>
                </a:solidFill>
                <a:latin typeface="Arial" pitchFamily="34" charset="0"/>
                <a:ea typeface="Arial" pitchFamily="34" charset="-122"/>
                <a:cs typeface="Arial" pitchFamily="34" charset="-120"/>
              </a:rPr>
              <a:t>برنامج الدروس</a:t>
            </a:r>
            <a:endParaRPr lang="ar-SA"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1417320"/>
          <a:ext cx="11045952" cy="914400"/>
        </p:xfrm>
        <a:graphic>
          <a:graphicData uri="http://schemas.openxmlformats.org/drawingml/2006/table">
            <a:tbl>
              <a:tblPr/>
              <a:tblGrid>
                <a:gridCol w="1325880"/>
                <a:gridCol w="868680"/>
                <a:gridCol w="1234440"/>
                <a:gridCol w="1280160"/>
                <a:gridCol w="2148840"/>
                <a:gridCol w="2148840"/>
                <a:gridCol w="2039112"/>
              </a:tblGrid>
              <a:tr h="402336">
                <a:tc>
                  <a:txBody>
                    <a:bodyPr/>
                    <a:lstStyle/>
                    <a:p>
                      <a:pPr rtl="1" algn="ctr" indent="0" marL="0">
                        <a:buNone/>
                      </a:pPr>
                      <a:r>
                        <a:rPr lang="ar-SA" altLang="en-US" sz="1000" b="1" dirty="0">
                          <a:solidFill>
                            <a:srgbClr val="FFFFFF"/>
                          </a:solidFill>
                          <a:latin typeface="Arial" pitchFamily="34" charset="0"/>
                          <a:ea typeface="Arial" pitchFamily="34" charset="-122"/>
                          <a:cs typeface="Arial" pitchFamily="34" charset="-120"/>
                        </a:rPr>
                        <a:t>المستوى</a:t>
                      </a:r>
                      <a:endParaRPr lang="ar-SA" sz="100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0B3B3C"/>
                    </a:solidFill>
                  </a:tcPr>
                </a:tc>
                <a:tc>
                  <a:txBody>
                    <a:bodyPr/>
                    <a:lstStyle/>
                    <a:p>
                      <a:pPr rtl="1" algn="ctr" indent="0" marL="0">
                        <a:buNone/>
                      </a:pPr>
                      <a:r>
                        <a:rPr lang="ar-SA" altLang="en-US" sz="1000" b="1" dirty="0">
                          <a:solidFill>
                            <a:srgbClr val="FFFFFF"/>
                          </a:solidFill>
                          <a:latin typeface="Arial" pitchFamily="34" charset="0"/>
                          <a:ea typeface="Arial" pitchFamily="34" charset="-122"/>
                          <a:cs typeface="Arial" pitchFamily="34" charset="-120"/>
                        </a:rPr>
                        <a:t>رقم البطاقة</a:t>
                      </a:r>
                      <a:endParaRPr lang="ar-SA" sz="100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0B3B3C"/>
                    </a:solidFill>
                  </a:tcPr>
                </a:tc>
                <a:tc>
                  <a:txBody>
                    <a:bodyPr/>
                    <a:lstStyle/>
                    <a:p>
                      <a:pPr rtl="1" algn="ctr" indent="0" marL="0">
                        <a:buNone/>
                      </a:pPr>
                      <a:r>
                        <a:rPr lang="ar-SA" altLang="en-US" sz="1000" b="1" dirty="0">
                          <a:solidFill>
                            <a:srgbClr val="FFFFFF"/>
                          </a:solidFill>
                          <a:latin typeface="Arial" pitchFamily="34" charset="0"/>
                          <a:ea typeface="Arial" pitchFamily="34" charset="-122"/>
                          <a:cs typeface="Arial" pitchFamily="34" charset="-120"/>
                        </a:rPr>
                        <a:t>الحزب</a:t>
                      </a:r>
                      <a:endParaRPr lang="ar-SA" sz="100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0B3B3C"/>
                    </a:solidFill>
                  </a:tcPr>
                </a:tc>
                <a:tc>
                  <a:txBody>
                    <a:bodyPr/>
                    <a:lstStyle/>
                    <a:p>
                      <a:pPr rtl="1" algn="ctr" indent="0" marL="0">
                        <a:buNone/>
                      </a:pPr>
                      <a:r>
                        <a:rPr lang="ar-SA" altLang="en-US" sz="1000" b="1" dirty="0">
                          <a:solidFill>
                            <a:srgbClr val="FFFFFF"/>
                          </a:solidFill>
                          <a:latin typeface="Arial" pitchFamily="34" charset="0"/>
                          <a:ea typeface="Arial" pitchFamily="34" charset="-122"/>
                          <a:cs typeface="Arial" pitchFamily="34" charset="-120"/>
                        </a:rPr>
                        <a:t>الحفظ في الشهر</a:t>
                      </a:r>
                      <a:endParaRPr lang="ar-SA" sz="1000" dirty="0">
                        <a:latin typeface="Arial" charset="0"/>
                        <a:ea typeface="Arial" charset="0"/>
                        <a:cs typeface="Arial" charset="0"/>
                      </a:endParaRPr>
                    </a:p>
                    <a:p>
                      <a:pPr rtl="1" algn="ctr" indent="0" marL="0">
                        <a:buNone/>
                      </a:pPr>
                      <a:r>
                        <a:rPr lang="ar-SA" altLang="en-US" sz="1000" b="1" dirty="0">
                          <a:solidFill>
                            <a:srgbClr val="FFFFFF"/>
                          </a:solidFill>
                          <a:latin typeface="Arial" pitchFamily="34" charset="0"/>
                          <a:ea typeface="Arial" pitchFamily="34" charset="-122"/>
                          <a:cs typeface="Arial" pitchFamily="34" charset="-120"/>
                        </a:rPr>
                        <a:t>(حزب)</a:t>
                      </a:r>
                      <a:endParaRPr lang="ar-SA" sz="100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0B3B3C"/>
                    </a:solidFill>
                  </a:tcPr>
                </a:tc>
                <a:tc gridSpan="2">
                  <a:txBody>
                    <a:bodyPr/>
                    <a:lstStyle/>
                    <a:p>
                      <a:pPr rtl="1" algn="ctr" indent="0" marL="0">
                        <a:buNone/>
                      </a:pPr>
                      <a:r>
                        <a:rPr lang="ar-SA" altLang="en-US" sz="1000" b="1" dirty="0">
                          <a:solidFill>
                            <a:srgbClr val="FFFFFF"/>
                          </a:solidFill>
                          <a:latin typeface="Arial" pitchFamily="34" charset="0"/>
                          <a:ea typeface="Arial" pitchFamily="34" charset="-122"/>
                          <a:cs typeface="Arial" pitchFamily="34" charset="-120"/>
                        </a:rPr>
                        <a:t>الأربعاء</a:t>
                      </a:r>
                      <a:endParaRPr lang="ar-SA" sz="100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0B3B3C"/>
                    </a:solidFill>
                  </a:tcPr>
                </a:tc>
                <a:tc hMerge="1">
                  <a:tcPr/>
                </a:tc>
                <a:tc>
                  <a:txBody>
                    <a:bodyPr/>
                    <a:lstStyle/>
                    <a:p>
                      <a:pPr rtl="1" algn="ctr" indent="0" marL="0">
                        <a:buNone/>
                      </a:pPr>
                      <a:r>
                        <a:rPr lang="ar-SA" altLang="en-US" sz="1000" b="1" dirty="0">
                          <a:solidFill>
                            <a:srgbClr val="FFFFFF"/>
                          </a:solidFill>
                          <a:latin typeface="Arial" pitchFamily="34" charset="0"/>
                          <a:ea typeface="Arial" pitchFamily="34" charset="-122"/>
                          <a:cs typeface="Arial" pitchFamily="34" charset="-120"/>
                        </a:rPr>
                        <a:t>الأحد</a:t>
                      </a:r>
                      <a:endParaRPr lang="ar-SA" sz="100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0B3B3C"/>
                    </a:solidFill>
                  </a:tcPr>
                </a:tc>
              </a:tr>
              <a:tr h="329184">
                <a:tc rowSpan="2">
                  <a:txBody>
                    <a:bodyPr/>
                    <a:lstStyle/>
                    <a:p>
                      <a:pPr rtl="1" algn="ctr" indent="0" marL="0">
                        <a:buNone/>
                      </a:pPr>
                      <a:r>
                        <a:rPr lang="ar-SA" altLang="en-US" sz="1000" b="1" dirty="0">
                          <a:solidFill>
                            <a:srgbClr val="FFFFFF"/>
                          </a:solidFill>
                          <a:latin typeface="Arial" pitchFamily="34" charset="0"/>
                          <a:ea typeface="Arial" pitchFamily="34" charset="-122"/>
                          <a:cs typeface="Arial" pitchFamily="34" charset="-120"/>
                        </a:rPr>
                        <a:t>مبتدئ</a:t>
                      </a:r>
                      <a:endParaRPr lang="ar-SA" sz="100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D9982B"/>
                    </a:solidFill>
                  </a:tcPr>
                </a:tc>
                <a:tc rowSpan="2">
                  <a:txBody>
                    <a:bodyPr/>
                    <a:lstStyle/>
                    <a:p>
                      <a:pPr rtl="1" algn="ctr" indent="0" marL="0">
                        <a:buNone/>
                      </a:pPr>
                      <a:r>
                        <a:rPr lang="ar-SA" altLang="en-US" sz="950" b="1" dirty="0">
                          <a:solidFill>
                            <a:srgbClr val="0B3B3C"/>
                          </a:solidFill>
                          <a:latin typeface="Arial" pitchFamily="34" charset="0"/>
                          <a:ea typeface="Arial" pitchFamily="34" charset="-122"/>
                          <a:cs typeface="Arial" pitchFamily="34" charset="-120"/>
                        </a:rPr>
                        <a:t>1</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60</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1/8</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دعاء (5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مراجعة / حفظ + قراءة (ساعة و15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دعاء (5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329184">
                <a:tc vMerge="1">
                  <a:tcPr/>
                </a:tc>
                <a:tc vMerge="1">
                  <a:tcPr/>
                </a:tc>
                <a:tc vMerge="1">
                  <a:tcPr/>
                </a:tc>
                <a:tc vMerge="1">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تربية إسلامية (15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أسماء الله الحسنى (15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حفظ جماعي / تسميع (ساعتان)</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329184">
                <a:tc rowSpan="5">
                  <a:txBody>
                    <a:bodyPr/>
                    <a:lstStyle/>
                    <a:p>
                      <a:pPr rtl="1" algn="ctr" indent="0" marL="0">
                        <a:buNone/>
                      </a:pPr>
                      <a:r>
                        <a:rPr lang="ar-SA" altLang="en-US" sz="1000" b="1" dirty="0">
                          <a:solidFill>
                            <a:srgbClr val="FFFFFF"/>
                          </a:solidFill>
                          <a:latin typeface="Arial" pitchFamily="34" charset="0"/>
                          <a:ea typeface="Arial" pitchFamily="34" charset="-122"/>
                          <a:cs typeface="Arial" pitchFamily="34" charset="-120"/>
                        </a:rPr>
                        <a:t>متوسط</a:t>
                      </a:r>
                      <a:endParaRPr lang="ar-SA" sz="100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2E7BA6"/>
                    </a:solidFill>
                  </a:tcPr>
                </a:tc>
                <a:tc rowSpan="2">
                  <a:txBody>
                    <a:bodyPr/>
                    <a:lstStyle/>
                    <a:p>
                      <a:pPr rtl="1" algn="ctr" indent="0" marL="0">
                        <a:buNone/>
                      </a:pPr>
                      <a:r>
                        <a:rPr lang="ar-SA" altLang="en-US" sz="950" b="1" dirty="0">
                          <a:solidFill>
                            <a:srgbClr val="0B3B3C"/>
                          </a:solidFill>
                          <a:latin typeface="Arial" pitchFamily="34" charset="0"/>
                          <a:ea typeface="Arial" pitchFamily="34" charset="-122"/>
                          <a:cs typeface="Arial" pitchFamily="34" charset="-120"/>
                        </a:rPr>
                        <a:t>2</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59</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1/8</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دعاء (5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قراءة (45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دعاء (5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329184">
                <a:tc vMerge="1">
                  <a:tcPr/>
                </a:tc>
                <a:tc vMerge="1">
                  <a:tcPr/>
                </a:tc>
                <a:tc vMerge="1">
                  <a:tcPr/>
                </a:tc>
                <a:tc vMerge="1">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علوم القرآن (15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مراجعة (30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تسميع (ساعتان)</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274320">
                <a:tc vMerge="1">
                  <a:tcPr/>
                </a:tc>
                <a:tc gridSpan="6">
                  <a:txBody>
                    <a:bodyPr/>
                    <a:lstStyle/>
                    <a:p>
                      <a:pPr rtl="1" algn="ctr" indent="0" marL="0">
                        <a:buNone/>
                      </a:pPr>
                      <a:r>
                        <a:rPr lang="ar-SA" altLang="en-US" sz="950" b="1" i="1" dirty="0">
                          <a:solidFill>
                            <a:srgbClr val="0B3B3C"/>
                          </a:solidFill>
                          <a:latin typeface="Arial" pitchFamily="34" charset="0"/>
                          <a:ea typeface="Arial" pitchFamily="34" charset="-122"/>
                          <a:cs typeface="Arial" pitchFamily="34" charset="-120"/>
                        </a:rPr>
                        <a:t>إتقان القراءة + حفظ حزبين = الاستقلالية</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DF1DA"/>
                    </a:solidFill>
                  </a:tcPr>
                </a:tc>
                <a:tc hMerge="1">
                  <a:tcPr/>
                </a:tc>
                <a:tc hMerge="1">
                  <a:tcPr/>
                </a:tc>
                <a:tc hMerge="1">
                  <a:tcPr/>
                </a:tc>
                <a:tc hMerge="1">
                  <a:tcPr/>
                </a:tc>
                <a:tc hMerge="1">
                  <a:tcPr/>
                </a:tc>
              </a:tr>
              <a:tr h="329184">
                <a:tc vMerge="1">
                  <a:tcPr/>
                </a:tc>
                <a:tc rowSpan="2">
                  <a:txBody>
                    <a:bodyPr/>
                    <a:lstStyle/>
                    <a:p>
                      <a:pPr rtl="1" algn="ctr" indent="0" marL="0">
                        <a:buNone/>
                      </a:pPr>
                      <a:r>
                        <a:rPr lang="ar-SA" altLang="en-US" sz="950" b="1" dirty="0">
                          <a:solidFill>
                            <a:srgbClr val="0B3B3C"/>
                          </a:solidFill>
                          <a:latin typeface="Arial" pitchFamily="34" charset="0"/>
                          <a:ea typeface="Arial" pitchFamily="34" charset="-122"/>
                          <a:cs typeface="Arial" pitchFamily="34" charset="-120"/>
                        </a:rPr>
                        <a:t>3</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57-58</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1/4</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دعاء (5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تجويد (15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دعاء (5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329184">
                <a:tc vMerge="1">
                  <a:tcPr/>
                </a:tc>
                <a:tc vMerge="1">
                  <a:tcPr/>
                </a:tc>
                <a:tc vMerge="1">
                  <a:tcPr/>
                </a:tc>
                <a:tc vMerge="1">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علوم القرآن (15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مراجعة (ساعة)</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تسميع (ساعتان)</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329184">
                <a:tc rowSpan="6">
                  <a:txBody>
                    <a:bodyPr/>
                    <a:lstStyle/>
                    <a:p>
                      <a:pPr rtl="1" algn="ctr" indent="0" marL="0">
                        <a:buNone/>
                      </a:pPr>
                      <a:r>
                        <a:rPr lang="ar-SA" altLang="en-US" sz="1000" b="1" dirty="0">
                          <a:solidFill>
                            <a:srgbClr val="FFFFFF"/>
                          </a:solidFill>
                          <a:latin typeface="Arial" pitchFamily="34" charset="0"/>
                          <a:ea typeface="Arial" pitchFamily="34" charset="-122"/>
                          <a:cs typeface="Arial" pitchFamily="34" charset="-120"/>
                        </a:rPr>
                        <a:t>متقدّم</a:t>
                      </a:r>
                      <a:endParaRPr lang="ar-SA" sz="100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9E3B4E"/>
                    </a:solidFill>
                  </a:tcPr>
                </a:tc>
                <a:tc rowSpan="2">
                  <a:txBody>
                    <a:bodyPr/>
                    <a:lstStyle/>
                    <a:p>
                      <a:pPr rtl="1" algn="ctr" indent="0" marL="0">
                        <a:buNone/>
                      </a:pPr>
                      <a:r>
                        <a:rPr lang="ar-SA" altLang="en-US" sz="950" b="1" dirty="0">
                          <a:solidFill>
                            <a:srgbClr val="0B3B3C"/>
                          </a:solidFill>
                          <a:latin typeface="Arial" pitchFamily="34" charset="0"/>
                          <a:ea typeface="Arial" pitchFamily="34" charset="-122"/>
                          <a:cs typeface="Arial" pitchFamily="34" charset="-120"/>
                        </a:rPr>
                        <a:t>4</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53-54-55-56</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1/2</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دعاء (5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تجويد (15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دعاء (5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329184">
                <a:tc vMerge="1">
                  <a:tcPr/>
                </a:tc>
                <a:tc vMerge="1">
                  <a:tcPr/>
                </a:tc>
                <a:tc vMerge="1">
                  <a:tcPr/>
                </a:tc>
                <a:tc vMerge="1">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علوم القرآن (15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مراجعة (ساعة)</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تسميع (ساعتان)</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329184">
                <a:tc vMerge="1">
                  <a:tcPr/>
                </a:tc>
                <a:tc rowSpan="2">
                  <a:txBody>
                    <a:bodyPr/>
                    <a:lstStyle/>
                    <a:p>
                      <a:pPr rtl="1" algn="ctr" indent="0" marL="0">
                        <a:buNone/>
                      </a:pPr>
                      <a:r>
                        <a:rPr lang="ar-SA" altLang="en-US" sz="950" b="1" dirty="0">
                          <a:solidFill>
                            <a:srgbClr val="0B3B3C"/>
                          </a:solidFill>
                          <a:latin typeface="Arial" pitchFamily="34" charset="0"/>
                          <a:ea typeface="Arial" pitchFamily="34" charset="-122"/>
                          <a:cs typeface="Arial" pitchFamily="34" charset="-120"/>
                        </a:rPr>
                        <a:t>5</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49-50-51-52</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1/2</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دعاء (5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تجويد (15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دعاء (5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329184">
                <a:tc vMerge="1">
                  <a:tcPr/>
                </a:tc>
                <a:tc vMerge="1">
                  <a:tcPr/>
                </a:tc>
                <a:tc vMerge="1">
                  <a:tcPr/>
                </a:tc>
                <a:tc vMerge="1">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علوم القرآن (15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مراجعة (ساعة)</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تسميع (ساعتان)</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329184">
                <a:tc vMerge="1">
                  <a:tcPr/>
                </a:tc>
                <a:tc rowSpan="2">
                  <a:txBody>
                    <a:bodyPr/>
                    <a:lstStyle/>
                    <a:p>
                      <a:pPr rtl="1" algn="ctr" indent="0" marL="0">
                        <a:buNone/>
                      </a:pPr>
                      <a:r>
                        <a:rPr lang="ar-SA" altLang="en-US" sz="950" b="1" dirty="0">
                          <a:solidFill>
                            <a:srgbClr val="0B3B3C"/>
                          </a:solidFill>
                          <a:latin typeface="Arial" pitchFamily="34" charset="0"/>
                          <a:ea typeface="Arial" pitchFamily="34" charset="-122"/>
                          <a:cs typeface="Arial" pitchFamily="34" charset="-120"/>
                        </a:rPr>
                        <a:t>6</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45-46-47-48</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rowSpan="2">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1/2</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دعاء (5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تجويد (15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دعاء (5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r h="329184">
                <a:tc vMerge="1">
                  <a:tcPr/>
                </a:tc>
                <a:tc vMerge="1">
                  <a:tcPr/>
                </a:tc>
                <a:tc vMerge="1">
                  <a:tcPr/>
                </a:tc>
                <a:tc vMerge="1">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علوم القرآن (15 د)</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مراجعة (ساعة)</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c>
                  <a:txBody>
                    <a:bodyPr/>
                    <a:lstStyle/>
                    <a:p>
                      <a:pPr rtl="1" algn="ctr" indent="0" marL="0">
                        <a:buNone/>
                      </a:pPr>
                      <a:r>
                        <a:rPr lang="ar-SA" altLang="en-US" sz="950" dirty="0">
                          <a:solidFill>
                            <a:srgbClr val="24403F"/>
                          </a:solidFill>
                          <a:latin typeface="Arial" pitchFamily="34" charset="0"/>
                          <a:ea typeface="Arial" pitchFamily="34" charset="-122"/>
                          <a:cs typeface="Arial" pitchFamily="34" charset="-120"/>
                        </a:rPr>
                        <a:t>تسميع (ساعتان)</a:t>
                      </a:r>
                      <a:endParaRPr lang="ar-SA" sz="950" dirty="0">
                        <a:latin typeface="Arial" charset="0"/>
                        <a:ea typeface="Arial" charset="0"/>
                        <a:cs typeface="Arial" charset="0"/>
                      </a:endParaRPr>
                    </a:p>
                  </a:txBody>
                  <a:tcPr marL="27432" marR="27432" marT="27432" marB="27432" anchor="ctr">
                    <a:lnL w="12700" cap="flat" cmpd="sng" algn="ctr">
                      <a:solidFill>
                        <a:srgbClr val="D5E7E4"/>
                      </a:solidFill>
                      <a:prstDash val="solid"/>
                      <a:round/>
                      <a:headEnd type="none" w="med" len="med"/>
                      <a:tailEnd type="none" w="med" len="med"/>
                    </a:lnL>
                    <a:lnR w="12700" cap="flat" cmpd="sng" algn="ctr">
                      <a:solidFill>
                        <a:srgbClr val="D5E7E4"/>
                      </a:solidFill>
                      <a:prstDash val="solid"/>
                      <a:round/>
                      <a:headEnd type="none" w="med" len="med"/>
                      <a:tailEnd type="none" w="med" len="med"/>
                    </a:lnR>
                    <a:lnT w="12700" cap="flat" cmpd="sng" algn="ctr">
                      <a:solidFill>
                        <a:srgbClr val="D5E7E4"/>
                      </a:solidFill>
                      <a:prstDash val="solid"/>
                      <a:round/>
                      <a:headEnd type="none" w="med" len="med"/>
                      <a:tailEnd type="none" w="med" len="med"/>
                    </a:lnT>
                    <a:lnB w="12700" cap="flat" cmpd="sng" algn="ctr">
                      <a:solidFill>
                        <a:srgbClr val="D5E7E4"/>
                      </a:solidFill>
                      <a:prstDash val="solid"/>
                      <a:round/>
                      <a:headEnd type="none" w="med" len="med"/>
                      <a:tailEnd type="none" w="med" len="med"/>
                    </a:lnB>
                    <a:solidFill>
                      <a:srgbClr val="FFFFFF"/>
                    </a:solidFill>
                  </a:tcPr>
                </a:tc>
              </a:tr>
            </a:tbl>
          </a:graphicData>
        </a:graphic>
      </p:graphicFrame>
      <p:sp>
        <p:nvSpPr>
          <p:cNvPr id="4" name="Text 1"/>
          <p:cNvSpPr/>
          <p:nvPr/>
        </p:nvSpPr>
        <p:spPr>
          <a:xfrm>
            <a:off x="566928" y="6382512"/>
            <a:ext cx="7772400" cy="274320"/>
          </a:xfrm>
          <a:prstGeom prst="rect">
            <a:avLst/>
          </a:prstGeom>
          <a:noFill/>
          <a:ln/>
        </p:spPr>
        <p:txBody>
          <a:bodyPr wrap="square" lIns="0" tIns="0" rIns="0" bIns="0" rtlCol="0" anchor="ctr"/>
          <a:lstStyle/>
          <a:p>
            <a:pPr rtl="1" algn="r" indent="0" marL="0">
              <a:buNone/>
            </a:pPr>
            <a:r>
              <a:rPr lang="ar-SA" altLang="en-US" sz="1000" dirty="0">
                <a:solidFill>
                  <a:srgbClr val="5F7574"/>
                </a:solidFill>
                <a:latin typeface="Arial" pitchFamily="34" charset="0"/>
                <a:ea typeface="Arial" pitchFamily="34" charset="-122"/>
                <a:cs typeface="Arial" pitchFamily="34" charset="-120"/>
              </a:rPr>
              <a:t>عمل حرّ — غير قابل للاستغلال التجاري — bitaqat-hifd-quran.com</a:t>
            </a:r>
            <a:endParaRPr lang="ar-SA" sz="1000" dirty="0"/>
          </a:p>
        </p:txBody>
      </p:sp>
      <p:sp>
        <p:nvSpPr>
          <p:cNvPr id="5" name="Text 2"/>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Arial" pitchFamily="34" charset="0"/>
                <a:ea typeface="Arial" pitchFamily="34" charset="-122"/>
                <a:cs typeface="Arial" pitchFamily="34" charset="-120"/>
              </a:rPr>
              <a:t>13</a:t>
            </a:r>
            <a:endParaRPr lang="ar-SA" alt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3B3C"/>
        </a:solidFill>
      </p:bgPr>
    </p:bg>
    <p:spTree>
      <p:nvGrpSpPr>
        <p:cNvPr id="1" name=""/>
        <p:cNvGrpSpPr/>
        <p:nvPr/>
      </p:nvGrpSpPr>
      <p:grpSpPr>
        <a:xfrm>
          <a:off x="0" y="0"/>
          <a:ext cx="0" cy="0"/>
          <a:chOff x="0" y="0"/>
          <a:chExt cx="0" cy="0"/>
        </a:xfrm>
      </p:grpSpPr>
      <p:sp>
        <p:nvSpPr>
          <p:cNvPr id="2" name="Text 0"/>
          <p:cNvSpPr/>
          <p:nvPr/>
        </p:nvSpPr>
        <p:spPr>
          <a:xfrm>
            <a:off x="658368" y="502920"/>
            <a:ext cx="10881360" cy="685800"/>
          </a:xfrm>
          <a:prstGeom prst="rect">
            <a:avLst/>
          </a:prstGeom>
          <a:noFill/>
          <a:ln/>
        </p:spPr>
        <p:txBody>
          <a:bodyPr wrap="square" lIns="0" tIns="0" rIns="0" bIns="0" rtlCol="0" anchor="ctr"/>
          <a:lstStyle/>
          <a:p>
            <a:pPr rtl="1" algn="r" indent="0" marL="0">
              <a:buNone/>
            </a:pPr>
            <a:r>
              <a:rPr lang="ar-SA" altLang="en-US" sz="3600" b="1" dirty="0">
                <a:solidFill>
                  <a:srgbClr val="FFFFFF"/>
                </a:solidFill>
                <a:latin typeface="Arial" pitchFamily="34" charset="0"/>
                <a:ea typeface="Arial" pitchFamily="34" charset="-122"/>
                <a:cs typeface="Arial" pitchFamily="34" charset="-120"/>
              </a:rPr>
              <a:t>تذكير</a:t>
            </a:r>
            <a:endParaRPr lang="ar-SA" sz="3600" dirty="0"/>
          </a:p>
        </p:txBody>
      </p:sp>
      <p:sp>
        <p:nvSpPr>
          <p:cNvPr id="3" name="Shape 1"/>
          <p:cNvSpPr/>
          <p:nvPr/>
        </p:nvSpPr>
        <p:spPr>
          <a:xfrm>
            <a:off x="658368" y="1481328"/>
            <a:ext cx="10881360" cy="868680"/>
          </a:xfrm>
          <a:prstGeom prst="roundRect">
            <a:avLst>
              <a:gd name="adj" fmla="val 10526"/>
            </a:avLst>
          </a:prstGeom>
          <a:solidFill>
            <a:srgbClr val="12494A"/>
          </a:solidFill>
          <a:ln w="12700">
            <a:solidFill>
              <a:srgbClr val="1E6061"/>
            </a:solidFill>
            <a:prstDash val="solid"/>
          </a:ln>
        </p:spPr>
      </p:sp>
      <p:sp>
        <p:nvSpPr>
          <p:cNvPr id="4" name="Text 2"/>
          <p:cNvSpPr/>
          <p:nvPr/>
        </p:nvSpPr>
        <p:spPr>
          <a:xfrm>
            <a:off x="1051560" y="1481328"/>
            <a:ext cx="10058400" cy="868680"/>
          </a:xfrm>
          <a:prstGeom prst="rect">
            <a:avLst/>
          </a:prstGeom>
          <a:noFill/>
          <a:ln/>
        </p:spPr>
        <p:txBody>
          <a:bodyPr wrap="square" lIns="0" tIns="0" rIns="0" bIns="0" rtlCol="0" anchor="ctr"/>
          <a:lstStyle/>
          <a:p>
            <a:pPr rtl="1" algn="r" indent="0" marL="0">
              <a:buNone/>
            </a:pPr>
            <a:r>
              <a:rPr lang="ar-SA" altLang="en-US" sz="2000" b="1" dirty="0">
                <a:solidFill>
                  <a:srgbClr val="D9982B"/>
                </a:solidFill>
                <a:latin typeface="Arial" pitchFamily="34" charset="0"/>
                <a:ea typeface="Arial" pitchFamily="34" charset="-122"/>
                <a:cs typeface="Arial" pitchFamily="34" charset="-120"/>
              </a:rPr>
              <a:t>الحفظ في البيت / التسميع في القسم</a:t>
            </a:r>
            <a:endParaRPr lang="ar-SA" sz="2000" dirty="0"/>
          </a:p>
        </p:txBody>
      </p:sp>
      <p:sp>
        <p:nvSpPr>
          <p:cNvPr id="5" name="Text 3"/>
          <p:cNvSpPr/>
          <p:nvPr/>
        </p:nvSpPr>
        <p:spPr>
          <a:xfrm>
            <a:off x="658368" y="2697480"/>
            <a:ext cx="10881360" cy="457200"/>
          </a:xfrm>
          <a:prstGeom prst="rect">
            <a:avLst/>
          </a:prstGeom>
          <a:noFill/>
          <a:ln/>
        </p:spPr>
        <p:txBody>
          <a:bodyPr wrap="square" lIns="0" tIns="0" rIns="0" bIns="0" rtlCol="0" anchor="ctr"/>
          <a:lstStyle/>
          <a:p>
            <a:pPr rtl="1" algn="r" indent="0" marL="0">
              <a:buNone/>
            </a:pPr>
            <a:r>
              <a:rPr lang="ar-SA" altLang="en-US" sz="2200" b="1" dirty="0">
                <a:solidFill>
                  <a:srgbClr val="FFFFFF"/>
                </a:solidFill>
                <a:latin typeface="Arial" pitchFamily="34" charset="0"/>
                <a:ea typeface="Arial" pitchFamily="34" charset="-122"/>
                <a:cs typeface="Arial" pitchFamily="34" charset="-120"/>
              </a:rPr>
              <a:t>انخراط الأولياء</a:t>
            </a:r>
            <a:endParaRPr lang="ar-SA" sz="2200" dirty="0"/>
          </a:p>
        </p:txBody>
      </p:sp>
      <p:sp>
        <p:nvSpPr>
          <p:cNvPr id="6" name="Shape 4"/>
          <p:cNvSpPr/>
          <p:nvPr/>
        </p:nvSpPr>
        <p:spPr>
          <a:xfrm>
            <a:off x="8083296" y="3310128"/>
            <a:ext cx="3456432" cy="1691640"/>
          </a:xfrm>
          <a:prstGeom prst="roundRect">
            <a:avLst>
              <a:gd name="adj" fmla="val 6486"/>
            </a:avLst>
          </a:prstGeom>
          <a:solidFill>
            <a:srgbClr val="12494A"/>
          </a:solidFill>
          <a:ln w="12700">
            <a:solidFill>
              <a:srgbClr val="1E6061"/>
            </a:solidFill>
            <a:prstDash val="solid"/>
          </a:ln>
        </p:spPr>
      </p:sp>
      <p:sp>
        <p:nvSpPr>
          <p:cNvPr id="7" name="Shape 5"/>
          <p:cNvSpPr/>
          <p:nvPr/>
        </p:nvSpPr>
        <p:spPr>
          <a:xfrm>
            <a:off x="11009376" y="3611880"/>
            <a:ext cx="237744" cy="237744"/>
          </a:xfrm>
          <a:prstGeom prst="ellipse">
            <a:avLst/>
          </a:prstGeom>
          <a:solidFill>
            <a:srgbClr val="58BDB2"/>
          </a:solidFill>
          <a:ln w="12700">
            <a:solidFill>
              <a:srgbClr val="58BDB2"/>
            </a:solidFill>
            <a:prstDash val="solid"/>
          </a:ln>
        </p:spPr>
      </p:sp>
      <p:sp>
        <p:nvSpPr>
          <p:cNvPr id="8" name="Text 6"/>
          <p:cNvSpPr/>
          <p:nvPr/>
        </p:nvSpPr>
        <p:spPr>
          <a:xfrm>
            <a:off x="8357616" y="3502152"/>
            <a:ext cx="2542032" cy="457200"/>
          </a:xfrm>
          <a:prstGeom prst="rect">
            <a:avLst/>
          </a:prstGeom>
          <a:noFill/>
          <a:ln/>
        </p:spPr>
        <p:txBody>
          <a:bodyPr wrap="square" lIns="0" tIns="0" rIns="0" bIns="0" rtlCol="0" anchor="ctr"/>
          <a:lstStyle/>
          <a:p>
            <a:pPr rtl="1" algn="r" indent="0" marL="0">
              <a:buNone/>
            </a:pPr>
            <a:r>
              <a:rPr lang="ar-SA" altLang="en-US" sz="1700" b="1" dirty="0">
                <a:solidFill>
                  <a:srgbClr val="58BDB2"/>
                </a:solidFill>
                <a:latin typeface="Arial" pitchFamily="34" charset="0"/>
                <a:ea typeface="Arial" pitchFamily="34" charset="-122"/>
                <a:cs typeface="Arial" pitchFamily="34" charset="-120"/>
              </a:rPr>
              <a:t>المتابعة</a:t>
            </a:r>
            <a:endParaRPr lang="ar-SA" sz="1700" dirty="0"/>
          </a:p>
        </p:txBody>
      </p:sp>
      <p:sp>
        <p:nvSpPr>
          <p:cNvPr id="9" name="Text 7"/>
          <p:cNvSpPr/>
          <p:nvPr/>
        </p:nvSpPr>
        <p:spPr>
          <a:xfrm>
            <a:off x="8375904" y="4041648"/>
            <a:ext cx="2871216" cy="868680"/>
          </a:xfrm>
          <a:prstGeom prst="rect">
            <a:avLst/>
          </a:prstGeom>
          <a:noFill/>
          <a:ln/>
        </p:spPr>
        <p:txBody>
          <a:bodyPr wrap="square" lIns="0" tIns="0" rIns="0" bIns="0" rtlCol="0" anchor="t"/>
          <a:lstStyle/>
          <a:p>
            <a:pPr rtl="1" algn="r" indent="0" marL="0">
              <a:buNone/>
            </a:pPr>
            <a:r>
              <a:rPr lang="ar-SA" altLang="en-US" sz="1400" dirty="0">
                <a:solidFill>
                  <a:srgbClr val="C8DEDC"/>
                </a:solidFill>
                <a:latin typeface="Arial" pitchFamily="34" charset="0"/>
                <a:ea typeface="Arial" pitchFamily="34" charset="-122"/>
                <a:cs typeface="Arial" pitchFamily="34" charset="-120"/>
              </a:rPr>
              <a:t>بطاقة التسميع / كرّاس المراسلة</a:t>
            </a:r>
            <a:endParaRPr lang="ar-SA" sz="1400" dirty="0"/>
          </a:p>
        </p:txBody>
      </p:sp>
      <p:sp>
        <p:nvSpPr>
          <p:cNvPr id="10" name="Shape 8"/>
          <p:cNvSpPr/>
          <p:nvPr/>
        </p:nvSpPr>
        <p:spPr>
          <a:xfrm>
            <a:off x="4370832" y="3310128"/>
            <a:ext cx="3456432" cy="1691640"/>
          </a:xfrm>
          <a:prstGeom prst="roundRect">
            <a:avLst>
              <a:gd name="adj" fmla="val 6486"/>
            </a:avLst>
          </a:prstGeom>
          <a:solidFill>
            <a:srgbClr val="12494A"/>
          </a:solidFill>
          <a:ln w="12700">
            <a:solidFill>
              <a:srgbClr val="1E6061"/>
            </a:solidFill>
            <a:prstDash val="solid"/>
          </a:ln>
        </p:spPr>
      </p:sp>
      <p:sp>
        <p:nvSpPr>
          <p:cNvPr id="11" name="Shape 9"/>
          <p:cNvSpPr/>
          <p:nvPr/>
        </p:nvSpPr>
        <p:spPr>
          <a:xfrm>
            <a:off x="7296912" y="3611880"/>
            <a:ext cx="237744" cy="237744"/>
          </a:xfrm>
          <a:prstGeom prst="ellipse">
            <a:avLst/>
          </a:prstGeom>
          <a:solidFill>
            <a:srgbClr val="EDB349"/>
          </a:solidFill>
          <a:ln w="12700">
            <a:solidFill>
              <a:srgbClr val="EDB349"/>
            </a:solidFill>
            <a:prstDash val="solid"/>
          </a:ln>
        </p:spPr>
      </p:sp>
      <p:sp>
        <p:nvSpPr>
          <p:cNvPr id="12" name="Text 10"/>
          <p:cNvSpPr/>
          <p:nvPr/>
        </p:nvSpPr>
        <p:spPr>
          <a:xfrm>
            <a:off x="4645152" y="3502152"/>
            <a:ext cx="2542032" cy="457200"/>
          </a:xfrm>
          <a:prstGeom prst="rect">
            <a:avLst/>
          </a:prstGeom>
          <a:noFill/>
          <a:ln/>
        </p:spPr>
        <p:txBody>
          <a:bodyPr wrap="square" lIns="0" tIns="0" rIns="0" bIns="0" rtlCol="0" anchor="ctr"/>
          <a:lstStyle/>
          <a:p>
            <a:pPr rtl="1" algn="r" indent="0" marL="0">
              <a:buNone/>
            </a:pPr>
            <a:r>
              <a:rPr lang="ar-SA" altLang="en-US" sz="1700" b="1" dirty="0">
                <a:solidFill>
                  <a:srgbClr val="EDB349"/>
                </a:solidFill>
                <a:latin typeface="Arial" pitchFamily="34" charset="0"/>
                <a:ea typeface="Arial" pitchFamily="34" charset="-122"/>
                <a:cs typeface="Arial" pitchFamily="34" charset="-120"/>
              </a:rPr>
              <a:t>المساعدة</a:t>
            </a:r>
            <a:endParaRPr lang="ar-SA" sz="1700" dirty="0"/>
          </a:p>
        </p:txBody>
      </p:sp>
      <p:sp>
        <p:nvSpPr>
          <p:cNvPr id="13" name="Text 11"/>
          <p:cNvSpPr/>
          <p:nvPr/>
        </p:nvSpPr>
        <p:spPr>
          <a:xfrm>
            <a:off x="4663440" y="4041648"/>
            <a:ext cx="2871216" cy="868680"/>
          </a:xfrm>
          <a:prstGeom prst="rect">
            <a:avLst/>
          </a:prstGeom>
          <a:noFill/>
          <a:ln/>
        </p:spPr>
        <p:txBody>
          <a:bodyPr wrap="square" lIns="0" tIns="0" rIns="0" bIns="0" rtlCol="0" anchor="t"/>
          <a:lstStyle/>
          <a:p>
            <a:pPr rtl="1" algn="r" indent="0" marL="0">
              <a:buNone/>
            </a:pPr>
            <a:r>
              <a:rPr lang="ar-SA" altLang="en-US" sz="1400" dirty="0">
                <a:solidFill>
                  <a:srgbClr val="C8DEDC"/>
                </a:solidFill>
                <a:latin typeface="Arial" pitchFamily="34" charset="0"/>
                <a:ea typeface="Arial" pitchFamily="34" charset="-122"/>
                <a:cs typeface="Arial" pitchFamily="34" charset="-120"/>
              </a:rPr>
              <a:t>في البيت (للمبتدئين)، 15 دقيقة يوميًا دون إكراه</a:t>
            </a:r>
            <a:endParaRPr lang="ar-SA" sz="1400" dirty="0"/>
          </a:p>
        </p:txBody>
      </p:sp>
      <p:sp>
        <p:nvSpPr>
          <p:cNvPr id="14" name="Shape 12"/>
          <p:cNvSpPr/>
          <p:nvPr/>
        </p:nvSpPr>
        <p:spPr>
          <a:xfrm>
            <a:off x="658368" y="3310128"/>
            <a:ext cx="3456432" cy="1691640"/>
          </a:xfrm>
          <a:prstGeom prst="roundRect">
            <a:avLst>
              <a:gd name="adj" fmla="val 6486"/>
            </a:avLst>
          </a:prstGeom>
          <a:solidFill>
            <a:srgbClr val="12494A"/>
          </a:solidFill>
          <a:ln w="12700">
            <a:solidFill>
              <a:srgbClr val="1E6061"/>
            </a:solidFill>
            <a:prstDash val="solid"/>
          </a:ln>
        </p:spPr>
      </p:sp>
      <p:sp>
        <p:nvSpPr>
          <p:cNvPr id="15" name="Shape 13"/>
          <p:cNvSpPr/>
          <p:nvPr/>
        </p:nvSpPr>
        <p:spPr>
          <a:xfrm>
            <a:off x="3584448" y="3611880"/>
            <a:ext cx="237744" cy="237744"/>
          </a:xfrm>
          <a:prstGeom prst="ellipse">
            <a:avLst/>
          </a:prstGeom>
          <a:solidFill>
            <a:srgbClr val="8CC172"/>
          </a:solidFill>
          <a:ln w="12700">
            <a:solidFill>
              <a:srgbClr val="8CC172"/>
            </a:solidFill>
            <a:prstDash val="solid"/>
          </a:ln>
        </p:spPr>
      </p:sp>
      <p:sp>
        <p:nvSpPr>
          <p:cNvPr id="16" name="Text 14"/>
          <p:cNvSpPr/>
          <p:nvPr/>
        </p:nvSpPr>
        <p:spPr>
          <a:xfrm>
            <a:off x="932688" y="3502152"/>
            <a:ext cx="2542032" cy="457200"/>
          </a:xfrm>
          <a:prstGeom prst="rect">
            <a:avLst/>
          </a:prstGeom>
          <a:noFill/>
          <a:ln/>
        </p:spPr>
        <p:txBody>
          <a:bodyPr wrap="square" lIns="0" tIns="0" rIns="0" bIns="0" rtlCol="0" anchor="ctr"/>
          <a:lstStyle/>
          <a:p>
            <a:pPr rtl="1" algn="r" indent="0" marL="0">
              <a:buNone/>
            </a:pPr>
            <a:r>
              <a:rPr lang="ar-SA" altLang="en-US" sz="1700" b="1" dirty="0">
                <a:solidFill>
                  <a:srgbClr val="8CC172"/>
                </a:solidFill>
                <a:latin typeface="Arial" pitchFamily="34" charset="0"/>
                <a:ea typeface="Arial" pitchFamily="34" charset="-122"/>
                <a:cs typeface="Arial" pitchFamily="34" charset="-120"/>
              </a:rPr>
              <a:t>الانتظام</a:t>
            </a:r>
            <a:endParaRPr lang="ar-SA" sz="1700" dirty="0"/>
          </a:p>
        </p:txBody>
      </p:sp>
      <p:sp>
        <p:nvSpPr>
          <p:cNvPr id="17" name="Text 15"/>
          <p:cNvSpPr/>
          <p:nvPr/>
        </p:nvSpPr>
        <p:spPr>
          <a:xfrm>
            <a:off x="950976" y="4041648"/>
            <a:ext cx="2871216" cy="868680"/>
          </a:xfrm>
          <a:prstGeom prst="rect">
            <a:avLst/>
          </a:prstGeom>
          <a:noFill/>
          <a:ln/>
        </p:spPr>
        <p:txBody>
          <a:bodyPr wrap="square" lIns="0" tIns="0" rIns="0" bIns="0" rtlCol="0" anchor="t"/>
          <a:lstStyle/>
          <a:p>
            <a:pPr rtl="1" algn="r" indent="0" marL="0">
              <a:buNone/>
            </a:pPr>
            <a:r>
              <a:rPr lang="ar-SA" altLang="en-US" sz="1400" dirty="0">
                <a:solidFill>
                  <a:srgbClr val="C8DEDC"/>
                </a:solidFill>
                <a:latin typeface="Arial" pitchFamily="34" charset="0"/>
                <a:ea typeface="Arial" pitchFamily="34" charset="-122"/>
                <a:cs typeface="Arial" pitchFamily="34" charset="-120"/>
              </a:rPr>
              <a:t>التعوّد على واجبات يومية</a:t>
            </a:r>
            <a:endParaRPr lang="ar-SA" sz="1400" dirty="0"/>
          </a:p>
        </p:txBody>
      </p:sp>
      <p:sp>
        <p:nvSpPr>
          <p:cNvPr id="18" name="Text 16"/>
          <p:cNvSpPr/>
          <p:nvPr/>
        </p:nvSpPr>
        <p:spPr>
          <a:xfrm>
            <a:off x="566928" y="6382512"/>
            <a:ext cx="7772400" cy="274320"/>
          </a:xfrm>
          <a:prstGeom prst="rect">
            <a:avLst/>
          </a:prstGeom>
          <a:noFill/>
          <a:ln/>
        </p:spPr>
        <p:txBody>
          <a:bodyPr wrap="square" lIns="0" tIns="0" rIns="0" bIns="0" rtlCol="0" anchor="ctr"/>
          <a:lstStyle/>
          <a:p>
            <a:pPr rtl="1" algn="r" indent="0" marL="0">
              <a:buNone/>
            </a:pPr>
            <a:r>
              <a:rPr lang="ar-SA" altLang="en-US" sz="1000" dirty="0">
                <a:solidFill>
                  <a:srgbClr val="5F7574"/>
                </a:solidFill>
                <a:latin typeface="Arial" pitchFamily="34" charset="0"/>
                <a:ea typeface="Arial" pitchFamily="34" charset="-122"/>
                <a:cs typeface="Arial" pitchFamily="34" charset="-120"/>
              </a:rPr>
              <a:t>عمل حرّ — غير قابل للاستغلال التجاري — bitaqat-hifd-quran.com</a:t>
            </a:r>
            <a:endParaRPr lang="ar-SA" sz="1000" dirty="0"/>
          </a:p>
        </p:txBody>
      </p:sp>
      <p:sp>
        <p:nvSpPr>
          <p:cNvPr id="19" name="Text 17"/>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Arial" pitchFamily="34" charset="0"/>
                <a:ea typeface="Arial" pitchFamily="34" charset="-122"/>
                <a:cs typeface="Arial" pitchFamily="34" charset="-120"/>
              </a:rPr>
              <a:t>14</a:t>
            </a:r>
            <a:endParaRPr lang="ar-SA" alt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3B3C"/>
        </a:solidFill>
      </p:bgPr>
    </p:bg>
    <p:spTree>
      <p:nvGrpSpPr>
        <p:cNvPr id="1" name=""/>
        <p:cNvGrpSpPr/>
        <p:nvPr/>
      </p:nvGrpSpPr>
      <p:grpSpPr>
        <a:xfrm>
          <a:off x="0" y="0"/>
          <a:ext cx="0" cy="0"/>
          <a:chOff x="0" y="0"/>
          <a:chExt cx="0" cy="0"/>
        </a:xfrm>
      </p:grpSpPr>
      <p:sp>
        <p:nvSpPr>
          <p:cNvPr id="2" name="Text 0"/>
          <p:cNvSpPr/>
          <p:nvPr/>
        </p:nvSpPr>
        <p:spPr>
          <a:xfrm>
            <a:off x="1005840" y="1874520"/>
            <a:ext cx="10149840" cy="411480"/>
          </a:xfrm>
          <a:prstGeom prst="rect">
            <a:avLst/>
          </a:prstGeom>
          <a:noFill/>
          <a:ln/>
        </p:spPr>
        <p:txBody>
          <a:bodyPr wrap="square" lIns="0" tIns="0" rIns="0" bIns="0" rtlCol="0" anchor="ctr"/>
          <a:lstStyle/>
          <a:p>
            <a:pPr rtl="1" algn="ctr" indent="0" marL="0">
              <a:buNone/>
            </a:pPr>
            <a:r>
              <a:rPr lang="ar-SA" altLang="en-US" sz="1700" spc="200" kern="0" dirty="0">
                <a:solidFill>
                  <a:srgbClr val="9DC4C2"/>
                </a:solidFill>
                <a:latin typeface="Arial" pitchFamily="34" charset="0"/>
                <a:ea typeface="Arial" pitchFamily="34" charset="-122"/>
                <a:cs typeface="Arial" pitchFamily="34" charset="-120"/>
              </a:rPr>
              <a:t>بطاقات حفظ القرآن</a:t>
            </a:r>
            <a:endParaRPr lang="ar-SA" sz="1700" dirty="0"/>
          </a:p>
        </p:txBody>
      </p:sp>
      <p:sp>
        <p:nvSpPr>
          <p:cNvPr id="3" name="Text 1"/>
          <p:cNvSpPr/>
          <p:nvPr/>
        </p:nvSpPr>
        <p:spPr>
          <a:xfrm>
            <a:off x="1005840" y="2450592"/>
            <a:ext cx="10149840" cy="868680"/>
          </a:xfrm>
          <a:prstGeom prst="rect">
            <a:avLst/>
          </a:prstGeom>
          <a:noFill/>
          <a:ln/>
        </p:spPr>
        <p:txBody>
          <a:bodyPr wrap="square" lIns="0" tIns="0" rIns="0" bIns="0" rtlCol="0" anchor="ctr"/>
          <a:lstStyle/>
          <a:p>
            <a:pPr rtl="1" algn="ctr" indent="0" marL="0">
              <a:buNone/>
            </a:pPr>
            <a:r>
              <a:rPr lang="ar-SA" altLang="en-US" sz="4000" b="1" dirty="0">
                <a:solidFill>
                  <a:srgbClr val="FFFFFF"/>
                </a:solidFill>
                <a:latin typeface="Arial" pitchFamily="34" charset="0"/>
                <a:ea typeface="Arial" pitchFamily="34" charset="-122"/>
                <a:cs typeface="Arial" pitchFamily="34" charset="-120"/>
              </a:rPr>
              <a:t>أسئلة وأجوبة</a:t>
            </a:r>
            <a:endParaRPr lang="ar-SA" sz="4000" dirty="0"/>
          </a:p>
        </p:txBody>
      </p:sp>
      <p:sp>
        <p:nvSpPr>
          <p:cNvPr id="4" name="Text 2"/>
          <p:cNvSpPr/>
          <p:nvPr/>
        </p:nvSpPr>
        <p:spPr>
          <a:xfrm>
            <a:off x="1005840" y="3520440"/>
            <a:ext cx="10149840" cy="457200"/>
          </a:xfrm>
          <a:prstGeom prst="rect">
            <a:avLst/>
          </a:prstGeom>
          <a:noFill/>
          <a:ln/>
        </p:spPr>
        <p:txBody>
          <a:bodyPr wrap="square" lIns="0" tIns="0" rIns="0" bIns="0" rtlCol="0" anchor="ctr"/>
          <a:lstStyle/>
          <a:p>
            <a:pPr rtl="1" algn="ctr" indent="0" marL="0">
              <a:buNone/>
            </a:pPr>
            <a:r>
              <a:rPr lang="ar-SA" altLang="en-US" sz="2000" b="1" dirty="0">
                <a:solidFill>
                  <a:srgbClr val="D9982B"/>
                </a:solidFill>
                <a:latin typeface="Arial" pitchFamily="34" charset="0"/>
                <a:ea typeface="Arial" pitchFamily="34" charset="-122"/>
                <a:cs typeface="Arial" pitchFamily="34" charset="-120"/>
              </a:rPr>
              <a:t>نظام بطاقات التسميع</a:t>
            </a:r>
            <a:endParaRPr lang="ar-SA" sz="2000" dirty="0"/>
          </a:p>
        </p:txBody>
      </p:sp>
      <p:sp>
        <p:nvSpPr>
          <p:cNvPr id="5" name="Shape 3"/>
          <p:cNvSpPr/>
          <p:nvPr/>
        </p:nvSpPr>
        <p:spPr>
          <a:xfrm>
            <a:off x="7595464" y="4892040"/>
            <a:ext cx="384048" cy="384048"/>
          </a:xfrm>
          <a:prstGeom prst="ellipse">
            <a:avLst/>
          </a:prstGeom>
          <a:solidFill>
            <a:srgbClr val="3F4A4A"/>
          </a:solidFill>
          <a:ln w="12700">
            <a:solidFill>
              <a:srgbClr val="3F4A4A"/>
            </a:solidFill>
            <a:prstDash val="solid"/>
          </a:ln>
        </p:spPr>
      </p:sp>
      <p:sp>
        <p:nvSpPr>
          <p:cNvPr id="6" name="Text 4"/>
          <p:cNvSpPr/>
          <p:nvPr/>
        </p:nvSpPr>
        <p:spPr>
          <a:xfrm>
            <a:off x="7595464" y="489204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ar-SA" altLang="en-US" sz="1100" dirty="0"/>
          </a:p>
        </p:txBody>
      </p:sp>
      <p:sp>
        <p:nvSpPr>
          <p:cNvPr id="7" name="Shape 5"/>
          <p:cNvSpPr/>
          <p:nvPr/>
        </p:nvSpPr>
        <p:spPr>
          <a:xfrm>
            <a:off x="6918808" y="4892040"/>
            <a:ext cx="384048" cy="384048"/>
          </a:xfrm>
          <a:prstGeom prst="ellipse">
            <a:avLst/>
          </a:prstGeom>
          <a:solidFill>
            <a:srgbClr val="E8B62C"/>
          </a:solidFill>
          <a:ln w="12700">
            <a:solidFill>
              <a:srgbClr val="E8B62C"/>
            </a:solidFill>
            <a:prstDash val="solid"/>
          </a:ln>
        </p:spPr>
      </p:sp>
      <p:sp>
        <p:nvSpPr>
          <p:cNvPr id="8" name="Text 6"/>
          <p:cNvSpPr/>
          <p:nvPr/>
        </p:nvSpPr>
        <p:spPr>
          <a:xfrm>
            <a:off x="6918808" y="4892040"/>
            <a:ext cx="384048" cy="384048"/>
          </a:xfrm>
          <a:prstGeom prst="rect">
            <a:avLst/>
          </a:prstGeom>
          <a:noFill/>
          <a:ln/>
        </p:spPr>
        <p:txBody>
          <a:bodyPr wrap="square" lIns="0" tIns="0" rIns="0" bIns="0" rtlCol="0" anchor="ctr"/>
          <a:lstStyle/>
          <a:p>
            <a:pPr algn="ctr" indent="0" marL="0">
              <a:buNone/>
            </a:pPr>
            <a:r>
              <a:rPr lang="en-US" sz="1100" b="1" dirty="0">
                <a:solidFill>
                  <a:srgbClr val="0B3B3C"/>
                </a:solidFill>
                <a:latin typeface="Arial" pitchFamily="34" charset="0"/>
                <a:ea typeface="Arial" pitchFamily="34" charset="-122"/>
                <a:cs typeface="Arial" pitchFamily="34" charset="-120"/>
              </a:rPr>
              <a:t>2</a:t>
            </a:r>
            <a:endParaRPr lang="ar-SA" altLang="en-US" sz="1100" dirty="0"/>
          </a:p>
        </p:txBody>
      </p:sp>
      <p:sp>
        <p:nvSpPr>
          <p:cNvPr id="9" name="Shape 7"/>
          <p:cNvSpPr/>
          <p:nvPr/>
        </p:nvSpPr>
        <p:spPr>
          <a:xfrm>
            <a:off x="6242152" y="4892040"/>
            <a:ext cx="384048" cy="384048"/>
          </a:xfrm>
          <a:prstGeom prst="ellipse">
            <a:avLst/>
          </a:prstGeom>
          <a:solidFill>
            <a:srgbClr val="E07E38"/>
          </a:solidFill>
          <a:ln w="12700">
            <a:solidFill>
              <a:srgbClr val="E07E38"/>
            </a:solidFill>
            <a:prstDash val="solid"/>
          </a:ln>
        </p:spPr>
      </p:sp>
      <p:sp>
        <p:nvSpPr>
          <p:cNvPr id="10" name="Text 8"/>
          <p:cNvSpPr/>
          <p:nvPr/>
        </p:nvSpPr>
        <p:spPr>
          <a:xfrm>
            <a:off x="6242152" y="489204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ar-SA" altLang="en-US" sz="1100" dirty="0"/>
          </a:p>
        </p:txBody>
      </p:sp>
      <p:sp>
        <p:nvSpPr>
          <p:cNvPr id="11" name="Shape 9"/>
          <p:cNvSpPr/>
          <p:nvPr/>
        </p:nvSpPr>
        <p:spPr>
          <a:xfrm>
            <a:off x="5565496" y="4892040"/>
            <a:ext cx="384048" cy="384048"/>
          </a:xfrm>
          <a:prstGeom prst="ellipse">
            <a:avLst/>
          </a:prstGeom>
          <a:solidFill>
            <a:srgbClr val="6FA25A"/>
          </a:solidFill>
          <a:ln w="12700">
            <a:solidFill>
              <a:srgbClr val="6FA25A"/>
            </a:solidFill>
            <a:prstDash val="solid"/>
          </a:ln>
        </p:spPr>
      </p:sp>
      <p:sp>
        <p:nvSpPr>
          <p:cNvPr id="12" name="Text 10"/>
          <p:cNvSpPr/>
          <p:nvPr/>
        </p:nvSpPr>
        <p:spPr>
          <a:xfrm>
            <a:off x="5565496" y="489204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ar-SA" altLang="en-US" sz="1100" dirty="0"/>
          </a:p>
        </p:txBody>
      </p:sp>
      <p:sp>
        <p:nvSpPr>
          <p:cNvPr id="13" name="Shape 11"/>
          <p:cNvSpPr/>
          <p:nvPr/>
        </p:nvSpPr>
        <p:spPr>
          <a:xfrm>
            <a:off x="4888840" y="4892040"/>
            <a:ext cx="384048" cy="384048"/>
          </a:xfrm>
          <a:prstGeom prst="ellipse">
            <a:avLst/>
          </a:prstGeom>
          <a:solidFill>
            <a:srgbClr val="3E85BE"/>
          </a:solidFill>
          <a:ln w="12700">
            <a:solidFill>
              <a:srgbClr val="3E85BE"/>
            </a:solidFill>
            <a:prstDash val="solid"/>
          </a:ln>
        </p:spPr>
      </p:sp>
      <p:sp>
        <p:nvSpPr>
          <p:cNvPr id="14" name="Text 12"/>
          <p:cNvSpPr/>
          <p:nvPr/>
        </p:nvSpPr>
        <p:spPr>
          <a:xfrm>
            <a:off x="4888840" y="489204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5</a:t>
            </a:r>
            <a:endParaRPr lang="ar-SA" altLang="en-US" sz="1100" dirty="0"/>
          </a:p>
        </p:txBody>
      </p:sp>
      <p:sp>
        <p:nvSpPr>
          <p:cNvPr id="15" name="Shape 13"/>
          <p:cNvSpPr/>
          <p:nvPr/>
        </p:nvSpPr>
        <p:spPr>
          <a:xfrm>
            <a:off x="4212184" y="4892040"/>
            <a:ext cx="384048" cy="384048"/>
          </a:xfrm>
          <a:prstGeom prst="ellipse">
            <a:avLst/>
          </a:prstGeom>
          <a:solidFill>
            <a:srgbClr val="B5485C"/>
          </a:solidFill>
          <a:ln w="12700">
            <a:solidFill>
              <a:srgbClr val="B5485C"/>
            </a:solidFill>
            <a:prstDash val="solid"/>
          </a:ln>
        </p:spPr>
      </p:sp>
      <p:sp>
        <p:nvSpPr>
          <p:cNvPr id="16" name="Text 14"/>
          <p:cNvSpPr/>
          <p:nvPr/>
        </p:nvSpPr>
        <p:spPr>
          <a:xfrm>
            <a:off x="4212184" y="489204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6</a:t>
            </a:r>
            <a:endParaRPr lang="ar-SA" altLang="en-US" sz="1100" dirty="0"/>
          </a:p>
        </p:txBody>
      </p:sp>
      <p:sp>
        <p:nvSpPr>
          <p:cNvPr id="17" name="Text 15"/>
          <p:cNvSpPr/>
          <p:nvPr/>
        </p:nvSpPr>
        <p:spPr>
          <a:xfrm>
            <a:off x="566928" y="6382512"/>
            <a:ext cx="7772400" cy="274320"/>
          </a:xfrm>
          <a:prstGeom prst="rect">
            <a:avLst/>
          </a:prstGeom>
          <a:noFill/>
          <a:ln/>
        </p:spPr>
        <p:txBody>
          <a:bodyPr wrap="square" lIns="0" tIns="0" rIns="0" bIns="0" rtlCol="0" anchor="ctr"/>
          <a:lstStyle/>
          <a:p>
            <a:pPr rtl="1" algn="r" indent="0" marL="0">
              <a:buNone/>
            </a:pPr>
            <a:r>
              <a:rPr lang="ar-SA" altLang="en-US" sz="1000" dirty="0">
                <a:solidFill>
                  <a:srgbClr val="5F7574"/>
                </a:solidFill>
                <a:latin typeface="Arial" pitchFamily="34" charset="0"/>
                <a:ea typeface="Arial" pitchFamily="34" charset="-122"/>
                <a:cs typeface="Arial" pitchFamily="34" charset="-120"/>
              </a:rPr>
              <a:t>عمل حرّ — غير قابل للاستغلال التجاري — bitaqat-hifd-quran.com</a:t>
            </a:r>
            <a:endParaRPr lang="ar-SA" sz="1000" dirty="0"/>
          </a:p>
        </p:txBody>
      </p:sp>
      <p:sp>
        <p:nvSpPr>
          <p:cNvPr id="18" name="Text 16"/>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Arial" pitchFamily="34" charset="0"/>
                <a:ea typeface="Arial" pitchFamily="34" charset="-122"/>
                <a:cs typeface="Arial" pitchFamily="34" charset="-120"/>
              </a:rPr>
              <a:t>15</a:t>
            </a:r>
            <a:endParaRPr lang="ar-SA" alt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11045952" cy="566928"/>
          </a:xfrm>
          <a:prstGeom prst="rect">
            <a:avLst/>
          </a:prstGeom>
          <a:noFill/>
          <a:ln/>
        </p:spPr>
        <p:txBody>
          <a:bodyPr wrap="square" lIns="0" tIns="0" rIns="0" bIns="0" rtlCol="0" anchor="ctr"/>
          <a:lstStyle/>
          <a:p>
            <a:pPr rtl="1" algn="r" indent="0" marL="0">
              <a:buNone/>
            </a:pPr>
            <a:r>
              <a:rPr lang="ar-SA" altLang="en-US" sz="3200" b="1" dirty="0">
                <a:solidFill>
                  <a:srgbClr val="0B3B3C"/>
                </a:solidFill>
                <a:latin typeface="Arial" pitchFamily="34" charset="0"/>
                <a:ea typeface="Arial" pitchFamily="34" charset="-122"/>
                <a:cs typeface="Arial" pitchFamily="34" charset="-120"/>
              </a:rPr>
              <a:t>الرخصة</a:t>
            </a:r>
            <a:endParaRPr lang="ar-SA" sz="3200" dirty="0"/>
          </a:p>
        </p:txBody>
      </p:sp>
      <p:sp>
        <p:nvSpPr>
          <p:cNvPr id="3" name="Text 1"/>
          <p:cNvSpPr/>
          <p:nvPr/>
        </p:nvSpPr>
        <p:spPr>
          <a:xfrm>
            <a:off x="566928" y="914400"/>
            <a:ext cx="11045952" cy="329184"/>
          </a:xfrm>
          <a:prstGeom prst="rect">
            <a:avLst/>
          </a:prstGeom>
          <a:noFill/>
          <a:ln/>
        </p:spPr>
        <p:txBody>
          <a:bodyPr wrap="square" lIns="0" tIns="0" rIns="0" bIns="0" rtlCol="0" anchor="ctr"/>
          <a:lstStyle/>
          <a:p>
            <a:pPr rtl="1" algn="r" indent="0" marL="0">
              <a:buNone/>
            </a:pPr>
            <a:r>
              <a:rPr lang="ar-SA" altLang="en-US" sz="1500" dirty="0">
                <a:solidFill>
                  <a:srgbClr val="137A7F"/>
                </a:solidFill>
                <a:latin typeface="Arial" pitchFamily="34" charset="0"/>
                <a:ea typeface="Arial" pitchFamily="34" charset="-122"/>
                <a:cs typeface="Arial" pitchFamily="34" charset="-120"/>
              </a:rPr>
              <a:t>عمل حرّ — المشاع الإبداعي BY-NC 4.0</a:t>
            </a:r>
            <a:endParaRPr lang="ar-SA" sz="1500" dirty="0"/>
          </a:p>
        </p:txBody>
      </p:sp>
      <p:sp>
        <p:nvSpPr>
          <p:cNvPr id="4" name="Text 2"/>
          <p:cNvSpPr/>
          <p:nvPr/>
        </p:nvSpPr>
        <p:spPr>
          <a:xfrm>
            <a:off x="566928" y="1572768"/>
            <a:ext cx="11045952" cy="548640"/>
          </a:xfrm>
          <a:prstGeom prst="rect">
            <a:avLst/>
          </a:prstGeom>
          <a:noFill/>
          <a:ln/>
        </p:spPr>
        <p:txBody>
          <a:bodyPr wrap="square" lIns="0" tIns="0" rIns="0" bIns="0" rtlCol="0" anchor="t"/>
          <a:lstStyle/>
          <a:p>
            <a:pPr rtl="1" algn="r" indent="0" marL="0">
              <a:buNone/>
            </a:pPr>
            <a:r>
              <a:rPr lang="ar-SA" altLang="en-US" sz="1500" dirty="0">
                <a:solidFill>
                  <a:srgbClr val="24403F"/>
                </a:solidFill>
                <a:latin typeface="Arial" pitchFamily="34" charset="0"/>
                <a:ea typeface="Arial" pitchFamily="34" charset="-122"/>
                <a:cs typeface="Arial" pitchFamily="34" charset="-120"/>
              </a:rPr>
              <a:t>تشمل هذه الرخصة الموارد التربوية لمشروع «بطاقات حفظ القرآن»: بطاقات التسميع، وأدوات المتابعة، ووثائق المنهجية.</a:t>
            </a:r>
            <a:endParaRPr lang="ar-SA" sz="1500" dirty="0"/>
          </a:p>
        </p:txBody>
      </p:sp>
      <p:sp>
        <p:nvSpPr>
          <p:cNvPr id="5" name="Shape 3"/>
          <p:cNvSpPr/>
          <p:nvPr/>
        </p:nvSpPr>
        <p:spPr>
          <a:xfrm>
            <a:off x="6245352" y="2331720"/>
            <a:ext cx="5367528" cy="2331720"/>
          </a:xfrm>
          <a:prstGeom prst="roundRect">
            <a:avLst>
              <a:gd name="adj" fmla="val 4706"/>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6" name="Shape 4"/>
          <p:cNvSpPr/>
          <p:nvPr/>
        </p:nvSpPr>
        <p:spPr>
          <a:xfrm>
            <a:off x="11137392" y="2624328"/>
            <a:ext cx="201168" cy="201168"/>
          </a:xfrm>
          <a:prstGeom prst="ellipse">
            <a:avLst/>
          </a:prstGeom>
          <a:solidFill>
            <a:srgbClr val="137A7F"/>
          </a:solidFill>
          <a:ln w="12700">
            <a:solidFill>
              <a:srgbClr val="137A7F"/>
            </a:solidFill>
            <a:prstDash val="solid"/>
          </a:ln>
        </p:spPr>
      </p:sp>
      <p:sp>
        <p:nvSpPr>
          <p:cNvPr id="7" name="Text 5"/>
          <p:cNvSpPr/>
          <p:nvPr/>
        </p:nvSpPr>
        <p:spPr>
          <a:xfrm>
            <a:off x="6510528" y="2496312"/>
            <a:ext cx="4498848" cy="457200"/>
          </a:xfrm>
          <a:prstGeom prst="rect">
            <a:avLst/>
          </a:prstGeom>
          <a:noFill/>
          <a:ln/>
        </p:spPr>
        <p:txBody>
          <a:bodyPr wrap="square" lIns="0" tIns="0" rIns="0" bIns="0" rtlCol="0" anchor="ctr"/>
          <a:lstStyle/>
          <a:p>
            <a:pPr rtl="1" algn="r" indent="0" marL="0">
              <a:buNone/>
            </a:pPr>
            <a:r>
              <a:rPr lang="ar-SA" altLang="en-US" sz="1800" b="1" dirty="0">
                <a:solidFill>
                  <a:srgbClr val="0B3B3C"/>
                </a:solidFill>
                <a:latin typeface="Arial" pitchFamily="34" charset="0"/>
                <a:ea typeface="Arial" pitchFamily="34" charset="-122"/>
                <a:cs typeface="Arial" pitchFamily="34" charset="-120"/>
              </a:rPr>
              <a:t>لك الحرّية في</a:t>
            </a:r>
            <a:endParaRPr lang="ar-SA" sz="1800" dirty="0"/>
          </a:p>
        </p:txBody>
      </p:sp>
      <p:sp>
        <p:nvSpPr>
          <p:cNvPr id="8" name="Text 6"/>
          <p:cNvSpPr/>
          <p:nvPr/>
        </p:nvSpPr>
        <p:spPr>
          <a:xfrm>
            <a:off x="6556248" y="3054096"/>
            <a:ext cx="4453128" cy="1463040"/>
          </a:xfrm>
          <a:prstGeom prst="rect">
            <a:avLst/>
          </a:prstGeom>
          <a:noFill/>
          <a:ln/>
        </p:spPr>
        <p:txBody>
          <a:bodyPr wrap="square" lIns="0" tIns="0" rIns="0" bIns="0" rtlCol="0" anchor="t"/>
          <a:lstStyle/>
          <a:p>
            <a:pPr rtl="1" algn="r" marL="342900" indent="-342900">
              <a:spcAft>
                <a:spcPts val="1000"/>
              </a:spcAft>
              <a:buSzPct val="100000"/>
              <a:buChar char="▪"/>
            </a:pPr>
            <a:r>
              <a:rPr lang="ar-SA" altLang="en-US" sz="1350" dirty="0">
                <a:solidFill>
                  <a:srgbClr val="24403F"/>
                </a:solidFill>
                <a:latin typeface="Arial" pitchFamily="34" charset="0"/>
                <a:ea typeface="Arial" pitchFamily="34" charset="-122"/>
                <a:cs typeface="Arial" pitchFamily="34" charset="-120"/>
              </a:rPr>
              <a:t>المشاركة — نسخ المحتوى وتوزيعه بأيّ وسيلة وبأيّ صيغة</a:t>
            </a:r>
            <a:endParaRPr lang="ar-SA" altLang="en-US" sz="1350" dirty="0"/>
          </a:p>
          <a:p>
            <a:pPr rtl="1" algn="r" marL="342900" indent="-342900">
              <a:spcAft>
                <a:spcPts val="1000"/>
              </a:spcAft>
              <a:buSzPct val="100000"/>
              <a:buChar char="▪"/>
            </a:pPr>
            <a:r>
              <a:rPr lang="ar-SA" altLang="en-US" sz="1350" dirty="0">
                <a:solidFill>
                  <a:srgbClr val="24403F"/>
                </a:solidFill>
                <a:latin typeface="Arial" pitchFamily="34" charset="0"/>
                <a:ea typeface="Arial" pitchFamily="34" charset="-122"/>
                <a:cs typeface="Arial" pitchFamily="34" charset="-120"/>
              </a:rPr>
              <a:t>التعديل — إعادة تركيب المحتوى وتحويله والبناء عليه</a:t>
            </a:r>
            <a:endParaRPr lang="ar-SA" altLang="en-US" sz="1350" dirty="0"/>
          </a:p>
        </p:txBody>
      </p:sp>
      <p:sp>
        <p:nvSpPr>
          <p:cNvPr id="9" name="Shape 7"/>
          <p:cNvSpPr/>
          <p:nvPr/>
        </p:nvSpPr>
        <p:spPr>
          <a:xfrm>
            <a:off x="566928" y="2331720"/>
            <a:ext cx="5367528" cy="2331720"/>
          </a:xfrm>
          <a:prstGeom prst="roundRect">
            <a:avLst>
              <a:gd name="adj" fmla="val 4706"/>
            </a:avLst>
          </a:prstGeom>
          <a:solidFill>
            <a:srgbClr val="F5FAF9"/>
          </a:solidFill>
          <a:ln w="12700">
            <a:solidFill>
              <a:srgbClr val="D5E7E4"/>
            </a:solidFill>
            <a:prstDash val="solid"/>
          </a:ln>
          <a:effectLst>
            <a:outerShdw sx="100000" sy="100000" kx="0" ky="0" algn="bl" rotWithShape="0" blurRad="101600" dist="25400" dir="5400000">
              <a:srgbClr val="0B3B3C">
                <a:alpha val="10000"/>
              </a:srgbClr>
            </a:outerShdw>
          </a:effectLst>
        </p:spPr>
      </p:sp>
      <p:sp>
        <p:nvSpPr>
          <p:cNvPr id="10" name="Shape 8"/>
          <p:cNvSpPr/>
          <p:nvPr/>
        </p:nvSpPr>
        <p:spPr>
          <a:xfrm>
            <a:off x="5458968" y="2624328"/>
            <a:ext cx="201168" cy="201168"/>
          </a:xfrm>
          <a:prstGeom prst="ellipse">
            <a:avLst/>
          </a:prstGeom>
          <a:solidFill>
            <a:srgbClr val="D9982B"/>
          </a:solidFill>
          <a:ln w="12700">
            <a:solidFill>
              <a:srgbClr val="D9982B"/>
            </a:solidFill>
            <a:prstDash val="solid"/>
          </a:ln>
        </p:spPr>
      </p:sp>
      <p:sp>
        <p:nvSpPr>
          <p:cNvPr id="11" name="Text 9"/>
          <p:cNvSpPr/>
          <p:nvPr/>
        </p:nvSpPr>
        <p:spPr>
          <a:xfrm>
            <a:off x="832104" y="2496312"/>
            <a:ext cx="4498848" cy="457200"/>
          </a:xfrm>
          <a:prstGeom prst="rect">
            <a:avLst/>
          </a:prstGeom>
          <a:noFill/>
          <a:ln/>
        </p:spPr>
        <p:txBody>
          <a:bodyPr wrap="square" lIns="0" tIns="0" rIns="0" bIns="0" rtlCol="0" anchor="ctr"/>
          <a:lstStyle/>
          <a:p>
            <a:pPr rtl="1" algn="r" indent="0" marL="0">
              <a:buNone/>
            </a:pPr>
            <a:r>
              <a:rPr lang="ar-SA" altLang="en-US" sz="1800" b="1" dirty="0">
                <a:solidFill>
                  <a:srgbClr val="0B3B3C"/>
                </a:solidFill>
                <a:latin typeface="Arial" pitchFamily="34" charset="0"/>
                <a:ea typeface="Arial" pitchFamily="34" charset="-122"/>
                <a:cs typeface="Arial" pitchFamily="34" charset="-120"/>
              </a:rPr>
              <a:t>بشرط أن</a:t>
            </a:r>
            <a:endParaRPr lang="ar-SA" sz="1800" dirty="0"/>
          </a:p>
        </p:txBody>
      </p:sp>
      <p:sp>
        <p:nvSpPr>
          <p:cNvPr id="12" name="Text 10"/>
          <p:cNvSpPr/>
          <p:nvPr/>
        </p:nvSpPr>
        <p:spPr>
          <a:xfrm>
            <a:off x="877824" y="3054096"/>
            <a:ext cx="4453128" cy="1463040"/>
          </a:xfrm>
          <a:prstGeom prst="rect">
            <a:avLst/>
          </a:prstGeom>
          <a:noFill/>
          <a:ln/>
        </p:spPr>
        <p:txBody>
          <a:bodyPr wrap="square" lIns="0" tIns="0" rIns="0" bIns="0" rtlCol="0" anchor="t"/>
          <a:lstStyle/>
          <a:p>
            <a:pPr rtl="1" algn="r" marL="342900" indent="-342900">
              <a:spcAft>
                <a:spcPts val="1000"/>
              </a:spcAft>
              <a:buSzPct val="100000"/>
              <a:buChar char="▪"/>
            </a:pPr>
            <a:r>
              <a:rPr lang="ar-SA" altLang="en-US" sz="1350" dirty="0">
                <a:solidFill>
                  <a:srgbClr val="24403F"/>
                </a:solidFill>
                <a:latin typeface="Arial" pitchFamily="34" charset="0"/>
                <a:ea typeface="Arial" pitchFamily="34" charset="-122"/>
                <a:cs typeface="Arial" pitchFamily="34" charset="-120"/>
              </a:rPr>
              <a:t>تنسب العمل إلى «بطاقات حفظ القرآن — bitaqat-hifd-quran.com» وتشير إلى ما أدخلته من تغييرات</a:t>
            </a:r>
            <a:endParaRPr lang="ar-SA" altLang="en-US" sz="1350" dirty="0"/>
          </a:p>
          <a:p>
            <a:pPr rtl="1" algn="r" marL="342900" indent="-342900">
              <a:spcAft>
                <a:spcPts val="1000"/>
              </a:spcAft>
              <a:buSzPct val="100000"/>
              <a:buChar char="▪"/>
            </a:pPr>
            <a:r>
              <a:rPr lang="ar-SA" altLang="en-US" sz="1350" dirty="0">
                <a:solidFill>
                  <a:srgbClr val="24403F"/>
                </a:solidFill>
                <a:latin typeface="Arial" pitchFamily="34" charset="0"/>
                <a:ea typeface="Arial" pitchFamily="34" charset="-122"/>
                <a:cs typeface="Arial" pitchFamily="34" charset="-120"/>
              </a:rPr>
              <a:t>ألّا تستعمله لأغراض تجارية، وألّا تبيعه بأيّ صورة كانت</a:t>
            </a:r>
            <a:endParaRPr lang="ar-SA" altLang="en-US" sz="1350" dirty="0"/>
          </a:p>
        </p:txBody>
      </p:sp>
      <p:sp>
        <p:nvSpPr>
          <p:cNvPr id="13" name="Text 11"/>
          <p:cNvSpPr/>
          <p:nvPr/>
        </p:nvSpPr>
        <p:spPr>
          <a:xfrm>
            <a:off x="566928" y="4937760"/>
            <a:ext cx="11045952" cy="365760"/>
          </a:xfrm>
          <a:prstGeom prst="rect">
            <a:avLst/>
          </a:prstGeom>
          <a:noFill/>
          <a:ln/>
        </p:spPr>
        <p:txBody>
          <a:bodyPr wrap="square" lIns="0" tIns="0" rIns="0" bIns="0" rtlCol="0" anchor="ctr"/>
          <a:lstStyle/>
          <a:p>
            <a:pPr rtl="1" algn="r" indent="0" marL="0">
              <a:buNone/>
            </a:pPr>
            <a:r>
              <a:rPr lang="ar-SA" altLang="en-US" sz="1200" i="1" dirty="0">
                <a:solidFill>
                  <a:srgbClr val="5F7574"/>
                </a:solidFill>
                <a:latin typeface="Arial" pitchFamily="34" charset="0"/>
                <a:ea typeface="Arial" pitchFamily="34" charset="-122"/>
                <a:cs typeface="Arial" pitchFamily="34" charset="-120"/>
              </a:rPr>
              <a:t>النصّ الكامل: creativecommons.org/licenses/by-nc/4.0/legalcode</a:t>
            </a:r>
            <a:endParaRPr lang="ar-SA" sz="1200" dirty="0"/>
          </a:p>
        </p:txBody>
      </p:sp>
      <p:sp>
        <p:nvSpPr>
          <p:cNvPr id="14" name="Text 12"/>
          <p:cNvSpPr/>
          <p:nvPr/>
        </p:nvSpPr>
        <p:spPr>
          <a:xfrm>
            <a:off x="566928" y="6382512"/>
            <a:ext cx="7772400" cy="274320"/>
          </a:xfrm>
          <a:prstGeom prst="rect">
            <a:avLst/>
          </a:prstGeom>
          <a:noFill/>
          <a:ln/>
        </p:spPr>
        <p:txBody>
          <a:bodyPr wrap="square" lIns="0" tIns="0" rIns="0" bIns="0" rtlCol="0" anchor="ctr"/>
          <a:lstStyle/>
          <a:p>
            <a:pPr rtl="1" algn="r" indent="0" marL="0">
              <a:buNone/>
            </a:pPr>
            <a:r>
              <a:rPr lang="ar-SA" altLang="en-US" sz="1000" dirty="0">
                <a:solidFill>
                  <a:srgbClr val="5F7574"/>
                </a:solidFill>
                <a:latin typeface="Arial" pitchFamily="34" charset="0"/>
                <a:ea typeface="Arial" pitchFamily="34" charset="-122"/>
                <a:cs typeface="Arial" pitchFamily="34" charset="-120"/>
              </a:rPr>
              <a:t>عمل حرّ — غير قابل للاستغلال التجاري — bitaqat-hifd-quran.com</a:t>
            </a:r>
            <a:endParaRPr lang="ar-SA" sz="1000" dirty="0"/>
          </a:p>
        </p:txBody>
      </p:sp>
      <p:sp>
        <p:nvSpPr>
          <p:cNvPr id="15" name="Text 13"/>
          <p:cNvSpPr/>
          <p:nvPr/>
        </p:nvSpPr>
        <p:spPr>
          <a:xfrm>
            <a:off x="11414455" y="6382512"/>
            <a:ext cx="457200" cy="274320"/>
          </a:xfrm>
          <a:prstGeom prst="rect">
            <a:avLst/>
          </a:prstGeom>
          <a:noFill/>
          <a:ln/>
        </p:spPr>
        <p:txBody>
          <a:bodyPr wrap="square" rtlCol="0" anchor="ctr"/>
          <a:lstStyle/>
          <a:p>
            <a:pPr algn="r" indent="0" marL="0">
              <a:buNone/>
            </a:pPr>
            <a:r>
              <a:rPr lang="en-US" sz="1000" dirty="0">
                <a:solidFill>
                  <a:srgbClr val="5F7574"/>
                </a:solidFill>
                <a:latin typeface="Arial" pitchFamily="34" charset="0"/>
                <a:ea typeface="Arial" pitchFamily="34" charset="-122"/>
                <a:cs typeface="Arial" pitchFamily="34" charset="-120"/>
              </a:rPr>
              <a:t>16</a:t>
            </a:r>
            <a:endParaRPr lang="ar-SA" alt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بطاقات حفظ القرآن</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تعلّم القرآن خطوة بخطوة</dc:title>
  <dc:subject>نظام بطاقات التسميع</dc:subject>
  <dc:creator>بطاقات حفظ القرآن</dc:creator>
  <cp:lastModifiedBy>بطاقات حفظ القرآن</cp:lastModifiedBy>
  <cp:revision>1</cp:revision>
  <dcterms:created xsi:type="dcterms:W3CDTF">2026-07-26T11:22:21Z</dcterms:created>
  <dcterms:modified xsi:type="dcterms:W3CDTF">2026-07-26T11:22:21Z</dcterms:modified>
</cp:coreProperties>
</file>